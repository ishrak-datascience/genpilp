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C4BF"/>
          </a:solidFill>
          <a:ln/>
        </p:spPr>
      </p:sp>
      <p:sp>
        <p:nvSpPr>
          <p:cNvPr id="3" name="Shape 1"/>
          <p:cNvSpPr/>
          <p:nvPr/>
        </p:nvSpPr>
        <p:spPr>
          <a:xfrm>
            <a:off x="6035040" y="64008"/>
            <a:ext cx="3108960" cy="5079492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" name="Shape 2"/>
          <p:cNvSpPr/>
          <p:nvPr/>
        </p:nvSpPr>
        <p:spPr>
          <a:xfrm>
            <a:off x="6428232" y="7132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7205472" y="713232"/>
            <a:ext cx="219456" cy="219456"/>
          </a:xfrm>
          <a:prstGeom prst="ellipse">
            <a:avLst/>
          </a:prstGeom>
          <a:solidFill>
            <a:srgbClr val="0BC4BF"/>
          </a:solidFill>
          <a:ln/>
        </p:spPr>
      </p:sp>
      <p:sp>
        <p:nvSpPr>
          <p:cNvPr id="6" name="Shape 4"/>
          <p:cNvSpPr/>
          <p:nvPr/>
        </p:nvSpPr>
        <p:spPr>
          <a:xfrm>
            <a:off x="7982712" y="71323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6428232" y="15361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Shape 6"/>
          <p:cNvSpPr/>
          <p:nvPr/>
        </p:nvSpPr>
        <p:spPr>
          <a:xfrm>
            <a:off x="7205472" y="1536192"/>
            <a:ext cx="219456" cy="219456"/>
          </a:xfrm>
          <a:prstGeom prst="ellipse">
            <a:avLst/>
          </a:prstGeom>
          <a:solidFill>
            <a:srgbClr val="0BC4BF"/>
          </a:solidFill>
          <a:ln/>
        </p:spPr>
      </p:sp>
      <p:sp>
        <p:nvSpPr>
          <p:cNvPr id="9" name="Shape 7"/>
          <p:cNvSpPr/>
          <p:nvPr/>
        </p:nvSpPr>
        <p:spPr>
          <a:xfrm>
            <a:off x="7982712" y="153619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6428232" y="235915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7205472" y="2359152"/>
            <a:ext cx="219456" cy="219456"/>
          </a:xfrm>
          <a:prstGeom prst="ellipse">
            <a:avLst/>
          </a:prstGeom>
          <a:solidFill>
            <a:srgbClr val="0BC4BF"/>
          </a:solidFill>
          <a:ln/>
        </p:spPr>
      </p:sp>
      <p:sp>
        <p:nvSpPr>
          <p:cNvPr id="12" name="Shape 10"/>
          <p:cNvSpPr/>
          <p:nvPr/>
        </p:nvSpPr>
        <p:spPr>
          <a:xfrm>
            <a:off x="7982712" y="235915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6428232" y="318211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Shape 12"/>
          <p:cNvSpPr/>
          <p:nvPr/>
        </p:nvSpPr>
        <p:spPr>
          <a:xfrm>
            <a:off x="7205472" y="3182112"/>
            <a:ext cx="219456" cy="219456"/>
          </a:xfrm>
          <a:prstGeom prst="ellipse">
            <a:avLst/>
          </a:prstGeom>
          <a:solidFill>
            <a:srgbClr val="0BC4BF"/>
          </a:solidFill>
          <a:ln/>
        </p:spPr>
      </p:sp>
      <p:sp>
        <p:nvSpPr>
          <p:cNvPr id="15" name="Shape 13"/>
          <p:cNvSpPr/>
          <p:nvPr/>
        </p:nvSpPr>
        <p:spPr>
          <a:xfrm>
            <a:off x="7982712" y="318211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7688" y="82296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4928" y="82296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164592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4928" y="164592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47688" y="246888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24928" y="246888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47688" y="329184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4928" y="3291840"/>
            <a:ext cx="557784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37960" y="93268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175564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257860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15200" y="93268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175564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257860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93268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92440" y="175564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92440" y="2578608"/>
            <a:ext cx="0" cy="603504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840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C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2 – 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777240"/>
            <a:ext cx="5394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Molecule Generation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Similarity Comparison</a:t>
            </a:r>
            <a:endParaRPr lang="en-US" sz="3400" dirty="0"/>
          </a:p>
        </p:txBody>
      </p:sp>
      <p:sp>
        <p:nvSpPr>
          <p:cNvPr id="35" name="Shape 33"/>
          <p:cNvSpPr/>
          <p:nvPr/>
        </p:nvSpPr>
        <p:spPr>
          <a:xfrm>
            <a:off x="457200" y="2788920"/>
            <a:ext cx="3840480" cy="0"/>
          </a:xfrm>
          <a:prstGeom prst="line">
            <a:avLst/>
          </a:prstGeom>
          <a:noFill/>
          <a:ln w="19050">
            <a:solidFill>
              <a:srgbClr val="0BC4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292608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 · Interaction-Aware Masking · Tanimoto Similarity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 Reference Set · ChEMBL BRD4 Actives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3977640"/>
            <a:ext cx="11430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1719072" y="3977640"/>
            <a:ext cx="11430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0" name="Text 38"/>
          <p:cNvSpPr/>
          <p:nvPr/>
        </p:nvSpPr>
        <p:spPr>
          <a:xfrm>
            <a:off x="1719072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FP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980944" y="3977640"/>
            <a:ext cx="114300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42" name="Text 40"/>
          <p:cNvSpPr/>
          <p:nvPr/>
        </p:nvSpPr>
        <p:spPr>
          <a:xfrm>
            <a:off x="2980944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 CSV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42816" y="3977640"/>
            <a:ext cx="1143000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4" name="Text 42"/>
          <p:cNvSpPr/>
          <p:nvPr/>
        </p:nvSpPr>
        <p:spPr>
          <a:xfrm>
            <a:off x="4242816" y="39776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9011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BRD4-GenAI Pipeline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These Stages Cover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192024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9144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914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1208" y="157276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Molecule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21208" y="23317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 MLM infilling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mask_count 1→N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vs Random strategies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368296" y="2514600"/>
            <a:ext cx="219456" cy="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9736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24328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24328" y="914400"/>
            <a:ext cx="192024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2697480" y="9144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72968" y="914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34056" y="157276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34056" y="23317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Tanimoto histogram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vs-Original Tanimoto histogram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 structure grid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81144" y="2514600"/>
            <a:ext cx="219456" cy="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72584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37176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37176" y="914400"/>
            <a:ext cx="1920240" cy="594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4910328" y="9144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85816" y="914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46904" y="157276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BR4 Reference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46904" y="23317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neighbour in BR4 CSV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decision (threshold T)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bar chart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93992" y="2514600"/>
            <a:ext cx="219456" cy="0"/>
          </a:xfrm>
          <a:prstGeom prst="line">
            <a:avLst/>
          </a:prstGeom>
          <a:noFill/>
          <a:ln w="22860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2432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050024" y="914400"/>
            <a:ext cx="19202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050024" y="914400"/>
            <a:ext cx="1920240" cy="594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7123176" y="914400"/>
            <a:ext cx="4754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598664" y="9144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59752" y="157276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ChEMBL BRD4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59752" y="2331720"/>
            <a:ext cx="173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ChEMBL BRD4 active set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pChEMBL ≥ threshold filter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for fast re-runs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11480" y="434340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stages read from config.py — one variable controls every output path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ChemBERTa — The Generative Model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3474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ChemBERTa?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 (Chithrananda et al., 2020) is a transformer encoder pre-trained on 77 million SMILES strings from the ZINC database using a 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Language Model (MLM) objective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identical in architecture to BERT.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2697480"/>
            <a:ext cx="347472" cy="310896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6928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50976" y="2697480"/>
            <a:ext cx="347472" cy="310896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50976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35024" y="2697480"/>
            <a:ext cx="347472" cy="310896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35024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719072" y="2697480"/>
            <a:ext cx="347472" cy="310896"/>
          </a:xfrm>
          <a:prstGeom prst="rect">
            <a:avLst/>
          </a:prstGeom>
          <a:solidFill>
            <a:srgbClr val="0BC4B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719072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[MASK]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103120" y="2697480"/>
            <a:ext cx="347472" cy="310896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487168" y="2697480"/>
            <a:ext cx="347472" cy="310896"/>
          </a:xfrm>
          <a:prstGeom prst="rect">
            <a:avLst/>
          </a:prstGeom>
          <a:solidFill>
            <a:srgbClr val="0BC4B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87168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[MASK]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871216" y="2697480"/>
            <a:ext cx="347472" cy="310896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871216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55264" y="2697480"/>
            <a:ext cx="347472" cy="310896"/>
          </a:xfrm>
          <a:prstGeom prst="rect">
            <a:avLst/>
          </a:prstGeom>
          <a:solidFill>
            <a:srgbClr val="E4F0F8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55264" y="2697480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SMILES tokens  (masked positions shown in teal)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94360" y="34015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 seyonec/ChemBERTa-zinc-base-v1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526280" y="914400"/>
            <a:ext cx="420624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26280" y="914400"/>
            <a:ext cx="64008" cy="34747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MLM for Molecular Generation?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508760"/>
            <a:ext cx="54864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perturbation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specific atoms in a known scaffold rather than generating from scratch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2057400"/>
            <a:ext cx="54864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057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Structure-guided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 positions are chosen by protein–ligand interaction data (PLIP)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606040"/>
            <a:ext cx="54864" cy="3474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4846320" y="26060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chemistry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Pre-training on 77 M SMILES encodes chemical validity implicitly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709160" y="3154680"/>
            <a:ext cx="54864" cy="3474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3154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Controllable diversity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and top-k sampling tune exploration vs. exploitation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09160" y="3730752"/>
            <a:ext cx="3840480" cy="502920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3749040"/>
            <a:ext cx="365760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parameters:   top_k = 10   ·   temperature = 1.0   ·   samples per cell = 200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— Incremental Masking Strategy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402336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3566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Parallel Strategies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81328"/>
            <a:ext cx="3566160" cy="126187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8" name="Shape 6"/>
          <p:cNvSpPr/>
          <p:nvPr/>
        </p:nvSpPr>
        <p:spPr>
          <a:xfrm>
            <a:off x="594360" y="1481328"/>
            <a:ext cx="64008" cy="126187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5361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Interaction-Aware (IA)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810512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 indices from PLIP — only atoms that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 in protein–ligand interactions.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.meta.json provides the ordered list.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834640"/>
            <a:ext cx="3566160" cy="1261872"/>
          </a:xfrm>
          <a:prstGeom prst="rect">
            <a:avLst/>
          </a:prstGeom>
          <a:solidFill>
            <a:srgbClr val="EAF4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834640"/>
            <a:ext cx="64008" cy="126187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88950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Baseline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9808" y="3163824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 of atom indices, sampled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uniformly at random (seeded, Stage 1.5).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arm for direct comparison.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914400"/>
            <a:ext cx="411480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14400"/>
            <a:ext cx="64008" cy="35661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1005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Loop: mask_count = 1 → 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48132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413248" y="14813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masked SMILES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068312" y="1481328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masked SMILES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00600" y="1993392"/>
            <a:ext cx="3840480" cy="475488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199339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13248" y="19933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ia_indices[:1]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068312" y="199339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rand_indices[:1]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800600" y="2542032"/>
            <a:ext cx="3840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54203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13248" y="25420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ia_indices[:2]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68312" y="254203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rand_indices[:2]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3840480" cy="475488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09067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13248" y="3090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068312" y="309067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3639312"/>
            <a:ext cx="384048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639312"/>
            <a:ext cx="548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13248" y="36393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ia_indices[:N]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068312" y="3639312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rand_indices[:N]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4169664"/>
            <a:ext cx="3840480" cy="0"/>
          </a:xfrm>
          <a:prstGeom prst="line">
            <a:avLst/>
          </a:prstGeom>
          <a:noFill/>
          <a:ln w="19050">
            <a:solidFill>
              <a:srgbClr val="0BC4B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ChemBERTa generates 200 samples per cell → unique valid SMILES counted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number of interaction-aware atom indices from Stage 1  ·  Both strategy lists always have the same length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— Sequential Mask Infilling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397764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3520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ChemBERTa Fills Each Mask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63040"/>
            <a:ext cx="237744" cy="2377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630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14400" y="144475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Tokenise 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10512" y="144475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SMILES → token IDs; locate all [MASK] positions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1956816"/>
            <a:ext cx="237744" cy="2377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9568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0" y="193852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pass 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10512" y="1938528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ChemBERTa on current sequence; get logits at first [MASK]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450592"/>
            <a:ext cx="237744" cy="2377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505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14400" y="2432304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10512" y="2432304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temperature; take top-k; sample one token via multinomial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2944368"/>
            <a:ext cx="237744" cy="23774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44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292608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 &amp; repeat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10512" y="2926080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[MASK] with sampled token; move to next mask position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43814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4381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41985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Decode 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810512" y="3419856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filled token IDs → candidate SMILES string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" y="393192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9319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3913632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10512" y="3913632"/>
            <a:ext cx="23957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MolFromSmiles() — keep only chemically valid structures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53712" y="914400"/>
            <a:ext cx="4178808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53712" y="914400"/>
            <a:ext cx="64008" cy="3520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4736592" y="100584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Structure per Cell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736592" y="1444752"/>
            <a:ext cx="3813048" cy="237744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5" name="Text 33"/>
          <p:cNvSpPr/>
          <p:nvPr/>
        </p:nvSpPr>
        <p:spPr>
          <a:xfrm>
            <a:off x="4800600" y="1508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predictions_txt/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00600" y="175564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JQ1-A-201/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200253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ia_mask001.txt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00600" y="22494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rand_mask001.txt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00600" y="249631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ia_mask002.txt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00600" y="2743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rand_mask002.txt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800600" y="2990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⋮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800600" y="323697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ia_mask0N.txt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00600" y="348386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├─ rand_mask0N.txt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736592" y="3931920"/>
            <a:ext cx="38130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.txt file contains one unique valid SMILES per line.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are appended only when ChemBERTa produces a molecule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can parse — invalid strings are discarded.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ChemBERTa samples × 2 strategies × N mask counts = up to 400 × N model calls per ligand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 — Incremental Masking Plot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36576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35204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Plot Answers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ligand group, one PNG is saved showing: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X-axis 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masks applied (1 → N)
</a:t>
            </a:r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Y-axis 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valid SMILES generated
</a:t>
            </a:r>
            <a:pPr indent="0" marL="0">
              <a:buNone/>
            </a:pPr>
            <a:r>
              <a:rPr lang="en-US" sz="1050" b="1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line 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Interaction-Aware strategy
</a:t>
            </a:r>
            <a:pPr indent="0" marL="0">
              <a:buNone/>
            </a:pPr>
            <a:r>
              <a:rPr lang="en-US" sz="1050" b="1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line  </a:t>
            </a:r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baseline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97680" y="960120"/>
            <a:ext cx="4572000" cy="3520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10515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Incremental Masking — JQ1-A-201  (schematic)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0" cy="2743200"/>
          </a:xfrm>
          <a:prstGeom prst="line">
            <a:avLst/>
          </a:prstGeom>
          <a:noFill/>
          <a:ln w="10160">
            <a:solidFill>
              <a:srgbClr val="5B708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3977640"/>
            <a:ext cx="3886200" cy="0"/>
          </a:xfrm>
          <a:prstGeom prst="line">
            <a:avLst/>
          </a:prstGeom>
          <a:noFill/>
          <a:ln w="10160">
            <a:solidFill>
              <a:srgbClr val="5B708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 rot="16200000">
            <a:off x="4315968" y="1463040"/>
            <a:ext cx="411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Valid SMILES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800600" y="414223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Masks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800600" y="3429000"/>
            <a:ext cx="38862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800600" y="2743200"/>
            <a:ext cx="38862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800600" y="2057400"/>
            <a:ext cx="3886200" cy="0"/>
          </a:xfrm>
          <a:prstGeom prst="line">
            <a:avLst/>
          </a:prstGeom>
          <a:noFill/>
          <a:ln w="6350">
            <a:solidFill>
              <a:srgbClr val="D0DCE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800600" y="3840480"/>
            <a:ext cx="555171" cy="-356616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55771" y="3483864"/>
            <a:ext cx="555171" cy="-329184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10943" y="3154680"/>
            <a:ext cx="555171" cy="-219456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66114" y="2935224"/>
            <a:ext cx="555171" cy="-27432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21286" y="2660904"/>
            <a:ext cx="555171" cy="-164592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76457" y="2496312"/>
            <a:ext cx="555171" cy="-164592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31629" y="2331720"/>
            <a:ext cx="555171" cy="-13716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36592" y="37764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91763" y="341985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46935" y="30906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2106" y="287121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57278" y="259689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12449" y="243230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67621" y="22677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22792" y="213055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77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867912"/>
            <a:ext cx="555171" cy="-164592"/>
          </a:xfrm>
          <a:prstGeom prst="line">
            <a:avLst/>
          </a:prstGeom>
          <a:noFill/>
          <a:ln w="27940">
            <a:solidFill>
              <a:srgbClr val="FF7F0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355771" y="3703320"/>
            <a:ext cx="555171" cy="-219456"/>
          </a:xfrm>
          <a:prstGeom prst="line">
            <a:avLst/>
          </a:prstGeom>
          <a:noFill/>
          <a:ln w="27940">
            <a:solidFill>
              <a:srgbClr val="FF7F0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10943" y="3483864"/>
            <a:ext cx="555171" cy="-164592"/>
          </a:xfrm>
          <a:prstGeom prst="line">
            <a:avLst/>
          </a:prstGeom>
          <a:noFill/>
          <a:ln w="27940">
            <a:solidFill>
              <a:srgbClr val="FF7F0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6114" y="3319272"/>
            <a:ext cx="555171" cy="-164592"/>
          </a:xfrm>
          <a:prstGeom prst="line">
            <a:avLst/>
          </a:prstGeom>
          <a:noFill/>
          <a:ln w="27940">
            <a:solidFill>
              <a:srgbClr val="FF7F0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21286" y="3154680"/>
            <a:ext cx="555171" cy="-109728"/>
          </a:xfrm>
          <a:prstGeom prst="line">
            <a:avLst/>
          </a:prstGeom>
          <a:noFill/>
          <a:ln w="27940">
            <a:solidFill>
              <a:srgbClr val="FF7F0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76457" y="3044952"/>
            <a:ext cx="555171" cy="-109728"/>
          </a:xfrm>
          <a:prstGeom prst="line">
            <a:avLst/>
          </a:prstGeom>
          <a:noFill/>
          <a:ln w="27940">
            <a:solidFill>
              <a:srgbClr val="FF7F0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1629" y="2935224"/>
            <a:ext cx="555171" cy="-82296"/>
          </a:xfrm>
          <a:prstGeom prst="line">
            <a:avLst/>
          </a:prstGeom>
          <a:noFill/>
          <a:ln w="27940">
            <a:solidFill>
              <a:srgbClr val="FF7F0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36592" y="380390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291763" y="363931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46935" y="341985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2106" y="32552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957278" y="309067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12449" y="298094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67621" y="2871216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22792" y="2788920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7F0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29400" y="1399032"/>
            <a:ext cx="320040" cy="0"/>
          </a:xfrm>
          <a:prstGeom prst="line">
            <a:avLst/>
          </a:prstGeom>
          <a:noFill/>
          <a:ln w="27940">
            <a:solidFill>
              <a:srgbClr val="1F77B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5160" y="13350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F7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Interaction-Aware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629400" y="1655064"/>
            <a:ext cx="320040" cy="0"/>
          </a:xfrm>
          <a:prstGeom prst="line">
            <a:avLst/>
          </a:prstGeom>
          <a:noFill/>
          <a:ln w="27940">
            <a:solidFill>
              <a:srgbClr val="FF7F0E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6995160" y="159105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7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11480" y="464515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plot per ligand group — saved to Output/plots/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Chemical Similarity Analysis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402336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19202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Pairwise Tanimoto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9888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unique pairs within the generated pool.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answers: are generated molecules diverse,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does ChemBERTa collapse to one solution?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≥ 2 molecules  ·  O(N²) pairs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914400"/>
            <a:ext cx="64008" cy="19202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9875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vs-Original Tanimoto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3898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generated molecule vs the parent ligand SMILES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(from Stage-1 .meta.json).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Answers: how much did generation change the scaffold?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2377440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SMILES from Stage-1  ·  One score per generated molecule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926080"/>
            <a:ext cx="40233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926080"/>
            <a:ext cx="64008" cy="173736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99923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 Method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(circular) fingerprints  </a:t>
            </a:r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[Rogers &amp; Hahn, 2010]
</a:t>
            </a:r>
            <a:pPr indent="0" marL="0">
              <a:buNone/>
            </a:pPr>
            <a:r>
              <a:rPr lang="en-US" sz="10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= 2   ·   nBits = 2048   ·   Tanimoto coefficient
</a:t>
            </a:r>
            <a:pPr indent="0" marL="0">
              <a:buNone/>
            </a:pPr>
            <a:r>
              <a:rPr lang="en-US" sz="10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standard QSAR and virtual screening practice.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0690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26080"/>
            <a:ext cx="64008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99923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Files per Group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0156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▪ 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40156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molecule_grid.png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36027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RDKit MolsToGridImage — all generated structures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37947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▪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0" y="37947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histogram_pairwise.png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399592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Within-set similarity distribution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418795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7293"/>
                </a:solidFill>
              </a:rPr>
              <a:t>▪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0" y="418795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histogram_vs_original.png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438912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vs parent similarity distribution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3 — Grouping &amp; Aggregation Levels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1371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Aggregated Level  (always produced)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mask counts pooled together for one ligand group.  IA + Random SMILES deduplicated by canonical SMILES string.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molecule grid + two histograms per ligand.  Answers the overall generation quality question.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423160"/>
            <a:ext cx="8321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423160"/>
            <a:ext cx="64008" cy="1371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9631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Per-Mask-Count Level  (optional, asked at runtime)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analysis per mask_count step (1, 2, … N).  Same three output files each step.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how similarity distributions evolve as more atoms are masked.  N × 3 extra images per ligand.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931920"/>
            <a:ext cx="83210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3931920"/>
            <a:ext cx="64008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400507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stage3_analysis/  JQ1_A_201/  aggregated/molecule_grid.png  ·  histogram_pairwise.png  ·  histogram_vs_original.png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4360" y="43434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    mask_001/molecule_grid.png  ·  …   (if per-mask-count enabled)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 — BR4 Reference Matching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39776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36576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05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Nearest-Neighbour Method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490472"/>
            <a:ext cx="246888" cy="2468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90472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932688" y="146304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29968" y="1463040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BR4_PDB_Data.csv — deduplicate by canonical SMILES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(display label = first Ligand Code per SMILES)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112264"/>
            <a:ext cx="246888" cy="2468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112264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32688" y="208483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029968" y="2084832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molecules with &lt; min_heavy_atoms heavy atoms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 7 — excludes solvents, water, fragments)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2734056"/>
            <a:ext cx="246888" cy="2468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734056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932688" y="270662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Fingerprint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29968" y="2706624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Morgan r=2, 2048 bits for each BR4 ligand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(pre-computed once before the search loop)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355848"/>
            <a:ext cx="246888" cy="2468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355848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" y="3328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3328416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generated SMILES → find single nearest BR4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neighbour by highest Tanimoto score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94360" y="3977640"/>
            <a:ext cx="246888" cy="246888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97764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32688" y="3950208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029968" y="395020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fraction of pool with similarity ≥ threshold 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dominant BR4 ligand match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53712" y="914400"/>
            <a:ext cx="417880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53712" y="914400"/>
            <a:ext cx="64008" cy="18288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4736592" y="1005840"/>
            <a:ext cx="3813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Output Files per Group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736592" y="1463040"/>
            <a:ext cx="54864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4882896" y="142646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similarity_score_histogram.png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82896" y="16642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x=Tanimoto to nearest BR4, y=count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36592" y="1883664"/>
            <a:ext cx="54864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184708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nearest_neighbour_frequency.png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82896" y="208483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x=BR4 ligand code, y=count (stacked above/below T)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36592" y="2304288"/>
            <a:ext cx="54864" cy="25603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4882896" y="2267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closeness_summary.txt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882896" y="25054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decision statement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53712" y="2834640"/>
            <a:ext cx="4178808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553712" y="2834640"/>
            <a:ext cx="64008" cy="17373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2907792"/>
            <a:ext cx="3813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 Closeness Summary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36592" y="3291840"/>
            <a:ext cx="3813048" cy="11887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3" name="Text 41"/>
          <p:cNvSpPr/>
          <p:nvPr/>
        </p:nvSpPr>
        <p:spPr>
          <a:xfrm>
            <a:off x="4809744" y="33375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BC4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ligand  : EAM-A-1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809744" y="35204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 mols : 12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809744" y="37033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Threshold T    : 0.40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809744" y="3886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809744" y="40690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9/12 (75%) most similar to 'JQ1'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09744" y="4251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median similarity = 0.61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prompts: pool choice (ia/rand/both) · min heavy atoms · threshold 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5 — ChEMBL BRD4 Matching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11480" y="758952"/>
            <a:ext cx="832104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14400"/>
            <a:ext cx="832104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914400"/>
            <a:ext cx="64008" cy="960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987552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4  vs  Stage 5 — Same Analysis, Larger Reference 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3441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uses BR4_PDB_Data.csv (~tens of ligands).  Stage 5 fetches the full ChEMBL BRD4 active compound set — target CHEMBL1163125, pChEMBL ≥ threshold — potentially thousands of unique molecules.  All analysis functions are imported from Stage 4 unchanged.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1480" y="2011680"/>
            <a:ext cx="39776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2011680"/>
            <a:ext cx="64008" cy="20116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0848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ChEMBL Fetch Method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551176"/>
            <a:ext cx="64008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249631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Library 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72768" y="24963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chembl_webresource_client (official Python package)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2916936"/>
            <a:ext cx="64008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49808" y="286207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72768" y="286207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CHEMBL1163125 — BRD4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" y="3282696"/>
            <a:ext cx="64008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322783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72768" y="32278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pChEMBL ≥ threshold (default 5.0 = IC₅₀ ≤ 10 µM)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94360" y="3648456"/>
            <a:ext cx="64008" cy="2286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593592"/>
            <a:ext cx="777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Dedup 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72768" y="359359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70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SMILES; keep highest pChEMBL per molecule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0" y="2011680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2011680"/>
            <a:ext cx="64008" cy="2011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08483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 Mechanism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2496312"/>
            <a:ext cx="1325880" cy="457200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49631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exists?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80760" y="2724912"/>
            <a:ext cx="457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0760" y="257860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37960" y="2496312"/>
            <a:ext cx="1645920" cy="45720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24963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CSV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422392" y="2953512"/>
            <a:ext cx="0" cy="347472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2971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3300984"/>
            <a:ext cx="132588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3300984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from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 API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3529584"/>
            <a:ext cx="457200" cy="0"/>
          </a:xfrm>
          <a:prstGeom prst="line">
            <a:avLst/>
          </a:prstGeom>
          <a:noFill/>
          <a:ln w="15240">
            <a:solidFill>
              <a:srgbClr val="8FA8B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80760" y="3401568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537960" y="3300984"/>
            <a:ext cx="1645920" cy="457200"/>
          </a:xfrm>
          <a:prstGeom prst="rect">
            <a:avLst/>
          </a:prstGeom>
          <a:solidFill>
            <a:srgbClr val="E4F0F8"/>
          </a:solidFill>
          <a:ln/>
        </p:spPr>
      </p:sp>
      <p:sp>
        <p:nvSpPr>
          <p:cNvPr id="39" name="Text 37"/>
          <p:cNvSpPr/>
          <p:nvPr/>
        </p:nvSpPr>
        <p:spPr>
          <a:xfrm>
            <a:off x="6537960" y="33009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chembl_brd4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_cache.csv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388620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'Use cached data? [Y/n]'  ·  Default YES  ·  Cache survives Colab session restarts (saved to Drive)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11480" y="4114800"/>
            <a:ext cx="83210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11480" y="4114800"/>
            <a:ext cx="64008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169664"/>
            <a:ext cx="7955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outputs to Stage 4:  </a:t>
            </a:r>
            <a:pPr indent="0" marL="0">
              <a:buNone/>
            </a:pPr>
            <a:r>
              <a:rPr lang="en-US" sz="1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similarity_score_histogram.png  ·  nearest_neighbour_frequency.png  ·  closeness_summary.txt  per ligand group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4360" y="453542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label = molecule_chembl_id (e.g. CHEMBL1234)  ·  Same Tanimoto + Morgan FP method as Stage 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BC4B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1524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60120"/>
            <a:ext cx="64008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Shape 4"/>
          <p:cNvSpPr/>
          <p:nvPr/>
        </p:nvSpPr>
        <p:spPr>
          <a:xfrm>
            <a:off x="612648" y="960120"/>
            <a:ext cx="8046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612648" y="9601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960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Molecule Generation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12648" y="12893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 fills masked SMILES tokens sequentially.  Two strategies (IA, Random) × incremental mask counts 1→N.  200 samples per cell → unique valid SMILES logged per step.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64008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Shape 9"/>
          <p:cNvSpPr/>
          <p:nvPr/>
        </p:nvSpPr>
        <p:spPr>
          <a:xfrm>
            <a:off x="612648" y="1874520"/>
            <a:ext cx="804672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2648" y="18745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81328" y="1874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Similarity Analysis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" y="22037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Tanimoto (diversity) and vs-original Tanimoto (scaffold drift) computed using Morgan r=2 fingerprints.  Molecule grid + two histograms per group at aggregated and per-step levels.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788920"/>
            <a:ext cx="64008" cy="7498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" y="2788920"/>
            <a:ext cx="804672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" y="27889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81328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BR4 Reference Matching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2648" y="31181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BR4 CSV neighbour per generated molecule.  Closeness decision: fraction ≥ T reporting dominant BR4 ligand.  Similarity histogram + frequency bar chart per group.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64008" cy="74980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Shape 19"/>
          <p:cNvSpPr/>
          <p:nvPr/>
        </p:nvSpPr>
        <p:spPr>
          <a:xfrm>
            <a:off x="612648" y="3703320"/>
            <a:ext cx="804672" cy="2743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" y="370332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ChEMBL BRD4 Matching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2648" y="403250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C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analysis as Stage 4 on full ChEMBL BRD4 active set (pChEMBL ≥ 5.0, ~thousands of molecules).  One-time API fetch cached to Drive; all Stage-4 functions reused unchanged.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9011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ChemBERTa · PLIP · RDKit Morgan FP · ChEMBL · Tanimoto Similarity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Molecule Generation &amp; Similarity Comparison</dc:title>
  <dc:subject>PptxGenJS Presentation</dc:subject>
  <dc:creator>BRD4-GenAI</dc:creator>
  <cp:lastModifiedBy>BRD4-GenAI</cp:lastModifiedBy>
  <cp:revision>1</cp:revision>
  <dcterms:created xsi:type="dcterms:W3CDTF">2026-03-21T14:56:00Z</dcterms:created>
  <dcterms:modified xsi:type="dcterms:W3CDTF">2026-03-21T14:56:00Z</dcterms:modified>
</cp:coreProperties>
</file>