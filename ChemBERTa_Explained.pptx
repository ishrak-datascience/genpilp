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ChemBERTa — Background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96112"/>
            <a:ext cx="4023360" cy="274320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23544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9304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3444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Origin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234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ChemBERTa is a chemical language model released by Seyone Chithrananda (2020). Built by adapting RoBERTa — itself an optimised version of BERT — to chemistry.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02536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4767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Training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19476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Pre-trained on 77 million SMILES strings from the ZINC database (drug-like small molecules), using the HuggingFace Transformers framework.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15768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66090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66090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Learn a general-purpose chemical representation. A model that 'reads' SMILES the way BERT reads English — understanding chemical context, not just syntax.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896112"/>
            <a:ext cx="4251960" cy="2743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92354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234440"/>
            <a:ext cx="4251960" cy="34747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280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Base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2801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RoBERTa  (encoder-only Transformer)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581912"/>
            <a:ext cx="4251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6276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6276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12 Transformer encoder layers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929384"/>
            <a:ext cx="4251960" cy="34747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197510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Attention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19751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12 self-attention heads per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276856"/>
            <a:ext cx="4251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3225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Hidden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3225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768 dimensions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624328"/>
            <a:ext cx="4251960" cy="34747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Parameters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670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~84 million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971800"/>
            <a:ext cx="4251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017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017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SMILES string tokenised into sub-atoms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319272"/>
            <a:ext cx="4251960" cy="34747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3649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364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Contextual embedding per token + MLM logits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666744"/>
            <a:ext cx="4251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37124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HF model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37124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seyonec/ChemBERTa-zinc-base-v1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BCC"/>
                </a:solidFill>
                <a:latin typeface="Calibri"/>
              </a:rPr>
              <a:t>ChemBERTa  |  Slide 1 of 4  |  Chithrananda et al. 2020  ·  seyonec/ChemBERTa-zinc-base-v1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Tokenisation &amp; Masked Language Modelling (MLM)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96112"/>
            <a:ext cx="4023360" cy="274320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23544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How SMILES is Tokenised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9304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3444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Byte-Pair Encoding (BPE)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12344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The tokeniser uses BPE, the same algorithm as GPT. It learns a vocabulary of frequent sub-sequences directly from SMILES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39112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84248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Chemical-aware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198424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Common chemical fragments — ring closures, element symbols, bond types — become single tokens. e.g.  C(=O),  c1ccccc1,  [NH2+]  each map to one token.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88920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73405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Special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1" y="273405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[CLS] prepended, [SEP] appended, [PAD] for batching, &lt;mask&gt; replaces tokens during training and generation.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538728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483864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348386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CC(=O)Oc1ccccc1C(=O)O  →  [CLS] CC (=O) Oc 1c cccc 1C (=O)O [SEP]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896112"/>
            <a:ext cx="4251960" cy="2743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92354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Masked Language Modelling (MLM)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261872"/>
            <a:ext cx="548640" cy="420624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133502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48656" y="1261872"/>
            <a:ext cx="548640" cy="420624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133502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(=O)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33872" y="1261872"/>
            <a:ext cx="548640" cy="42062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133502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&lt;mask&gt;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19088" y="1261872"/>
            <a:ext cx="548640" cy="420624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133502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cccc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4304" y="1261872"/>
            <a:ext cx="548640" cy="42062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133502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&lt;mask&gt;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1261872"/>
            <a:ext cx="548640" cy="420624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7808" y="133502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(=O)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4736" y="1261872"/>
            <a:ext cx="548640" cy="420624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3024" y="133502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1737360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Input to model (15% of tokens masked during training)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139695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27448" y="2084831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A4A"/>
                </a:solidFill>
                <a:latin typeface="Calibri"/>
              </a:rPr>
              <a:t>Training objective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0488" y="208483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15% of tokens are randomly replaced with &lt;mask&gt;. The model must predict the original token from context alone — forcing it to learn chemical rules.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798063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27448" y="274319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A4A"/>
                </a:solidFill>
                <a:latin typeface="Calibri"/>
              </a:rPr>
              <a:t>Self-supervised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0488" y="274319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No labels needed. The SMILES string itself is the supervision signal. Scales to millions of molecules cheaply.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456431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27448" y="3401567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A4A"/>
                </a:solidFill>
                <a:latin typeface="Calibri"/>
              </a:rPr>
              <a:t>What the model learns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0488" y="3401567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Which atoms are likely neighbours. Ring patterns, functional group rules, valence constraints — all encoded implicitly in the attention weights.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114799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27448" y="4059935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A4A"/>
                </a:solidFill>
                <a:latin typeface="Calibri"/>
              </a:rPr>
              <a:t>At inference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0488" y="405993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Given a &lt;mask&gt; in a SMILES, the model outputs a probability distribution over all vocabulary tokens. We sample from the top-K to fill the mask.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BCC"/>
                </a:solidFill>
                <a:latin typeface="Calibri"/>
              </a:rPr>
              <a:t>ChemBERTa  |  Slide 2 of 4  |  BPE tokenisation + Masked Language Modelling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2C39A"/>
                </a:solidFill>
                <a:latin typeface="Calibri"/>
              </a:rPr>
              <a:t>How ChemBERTa was built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2743200" cy="324612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743200" cy="384048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389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801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8013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77M drug-like SMILES from ZINC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423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Filtering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42316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Canonical SMILES only; duplicates removed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30449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304495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Train / validation drawn from ZINC subsets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36667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66674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~3.5B tokens total after BPE tokenisation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325880"/>
            <a:ext cx="2743200" cy="324612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325880"/>
            <a:ext cx="2743200" cy="38404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389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Pre-training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1801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18013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Masked Language Modelling (MLM)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2423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Mask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242316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15% of tokens per 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6" y="30449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Optimiser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304495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Adam  (RoBERTa schedule)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8416" y="36667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366674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GPU cluster; multiple epochs over ZINC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1325880"/>
            <a:ext cx="2743200" cy="324612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1325880"/>
            <a:ext cx="2743200" cy="384048"/>
          </a:xfrm>
          <a:prstGeom prst="rect">
            <a:avLst/>
          </a:prstGeom>
          <a:solidFill>
            <a:srgbClr val="0A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1389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1801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Loss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18013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Cross-entropy on masked token prediction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8776" y="2423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Embedding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242316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768-d chemical context vectors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8776" y="30449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Property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1192" y="304495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Fine-tuned → HIV, BBBP, ESOL tasks (MoleculeNet)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8776" y="36667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CCE8"/>
                </a:solidFill>
                <a:latin typeface="Calibri"/>
              </a:rPr>
              <a:t>Release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1192" y="366674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HuggingFace Hub, Apache 2.0 licence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617720"/>
            <a:ext cx="8503920" cy="219456"/>
          </a:xfrm>
          <a:prstGeom prst="rect">
            <a:avLst/>
          </a:prstGeom>
          <a:solidFill>
            <a:srgbClr val="1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636008"/>
            <a:ext cx="8321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C39A"/>
                </a:solidFill>
                <a:latin typeface="Calibri"/>
              </a:rPr>
              <a:t>Key insight: ChemBERTa never sees explicit chemistry rules. Valence, aromaticity and pharmacophore patterns emerge from the data alone.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BCC"/>
                </a:solidFill>
                <a:latin typeface="Calibri"/>
              </a:rPr>
              <a:t>ChemBERTa  |  Slide 3 of 4  |  Pre-training on ZINC  ·  77M molecules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A4A"/>
                </a:solidFill>
                <a:latin typeface="Calibri"/>
              </a:rPr>
              <a:t>ChemBERTa in GenPLIP — How It Is Used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86968"/>
            <a:ext cx="1078992" cy="713232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418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1
PLIP XML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" y="1088136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399032" y="886968"/>
            <a:ext cx="1078992" cy="713232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4752" y="9418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Mask
interaction
atoms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088136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9464" y="886968"/>
            <a:ext cx="1078992" cy="713232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5184" y="9418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Masked
SMILES
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088136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39896" y="886968"/>
            <a:ext cx="1078992" cy="71323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9418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ChemBERTa
MLM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1088136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0328" y="886968"/>
            <a:ext cx="1078992" cy="71323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9418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Sample
top-K
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1088136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886968"/>
            <a:ext cx="1078992" cy="713232"/>
          </a:xfrm>
          <a:prstGeom prst="rect">
            <a:avLst/>
          </a:prstGeom>
          <a:solidFill>
            <a:srgbClr val="0A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9418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Valid
SMILES
candidates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088136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1192" y="886968"/>
            <a:ext cx="1078992" cy="71323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94183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3
Similarity
Scoring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755648"/>
            <a:ext cx="4023360" cy="2743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783080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Is Different vs. Standard MLM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57984"/>
            <a:ext cx="54864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1031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Targeted masking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0512" y="2103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Standard MLM masks 15% randomly. Here, masks are placed only on atoms identified by PLIP as involved in protein-ligand interactions — a biologically-directed edit.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980944"/>
            <a:ext cx="54864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29260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Incremental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0512" y="2926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Masks are added one at a time (mask_count = 1, 2, … N). Each step reveals how diversity grows as more interaction sites are freed up for ChemBERTa to redesign.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803904"/>
            <a:ext cx="54864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7490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Sequential left-to-right fill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0512" y="37490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Multiple masks are filled one position at a time, left-to-right. Each filled token is fed back into the model before the next mask is predicted — maintaining chemical coherence across the SMILES string.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1755648"/>
            <a:ext cx="4251960" cy="274320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178308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Key Configuration in This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03120"/>
            <a:ext cx="4251960" cy="338328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2148840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214884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seyonec/ChemBERTa-zinc-base-v1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2441448"/>
            <a:ext cx="4251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2487168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Task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248716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Fill &lt;mask&gt; tokens in partial SMILES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2779776"/>
            <a:ext cx="4251960" cy="338328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2825496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TEMPERATURE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282549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1.0  — neutral logit scaling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3118104"/>
            <a:ext cx="4251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3163824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TOP_K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316382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10  — sample from top-10 probable tokens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3456432"/>
            <a:ext cx="4251960" cy="338328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3502152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NUM_SAMPLES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350215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200  — attempts per (ligand × mask × strategy)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3794760"/>
            <a:ext cx="4251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3440" y="3840480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Validity filter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384048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RDKit Chem.MolFromSmiles() — non-None only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4133088"/>
            <a:ext cx="4251960" cy="338328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0" y="4178808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Deduplication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417880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Python set — unique SMILES only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4471416"/>
            <a:ext cx="4251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517136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990"/>
                </a:solidFill>
                <a:latin typeface="Calibri"/>
              </a:rPr>
              <a:t>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80760" y="451713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Sorted .txt files → Stage 3 Tanimoto analysis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BCC"/>
                </a:solidFill>
                <a:latin typeface="Calibri"/>
              </a:rPr>
              <a:t>ChemBERTa  |  Slide 4 of 4  |  Stage 2: generate_smiles_sequential()  — stage2_molecule_generation.py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