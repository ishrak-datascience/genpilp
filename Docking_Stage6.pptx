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Stage 6 — Molecular Docking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2C39A"/>
                </a:solidFill>
                <a:latin typeface="Calibri"/>
              </a:rPr>
              <a:t>Validating generated molecules by docking into the BRD4 binding pocket with GNINA v1.0.3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417320"/>
            <a:ext cx="1298448" cy="777240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1463040"/>
            <a:ext cx="1207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BCC"/>
                </a:solidFill>
                <a:latin typeface="Calibri"/>
              </a:rP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69164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ABA"/>
                </a:solidFill>
                <a:latin typeface="Calibri"/>
              </a:rPr>
              <a:t>PLIP Mask
Calc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67335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591056" y="1417320"/>
            <a:ext cx="1298448" cy="777240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5064" y="1463040"/>
            <a:ext cx="1207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BCC"/>
                </a:solidFill>
                <a:latin typeface="Calibri"/>
              </a:rPr>
              <a:t>Stage 1.5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064" y="169164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ABA"/>
                </a:solidFill>
                <a:latin typeface="Calibri"/>
              </a:rPr>
              <a:t>Random
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167335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3512" y="1417320"/>
            <a:ext cx="1298448" cy="777240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463040"/>
            <a:ext cx="1207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BCC"/>
                </a:solidFill>
                <a:latin typeface="Calibri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69164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ABA"/>
                </a:solidFill>
                <a:latin typeface="Calibri"/>
              </a:rPr>
              <a:t>ChemBERTa
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167335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1417320"/>
            <a:ext cx="1298448" cy="777240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463040"/>
            <a:ext cx="1207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BCC"/>
                </a:solidFill>
                <a:latin typeface="Calibri"/>
              </a:rP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169164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ABA"/>
                </a:solidFill>
                <a:latin typeface="Calibri"/>
              </a:rPr>
              <a:t>Tanimoto
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67335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78424" y="1417320"/>
            <a:ext cx="1298448" cy="777240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432" y="1463040"/>
            <a:ext cx="1207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BCC"/>
                </a:solidFill>
                <a:latin typeface="Calibri"/>
              </a:rPr>
              <a:t>Stage 4-5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169164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ABA"/>
                </a:solidFill>
                <a:latin typeface="Calibri"/>
              </a:rPr>
              <a:t>BR4/ChEMBL
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167335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1417320"/>
            <a:ext cx="1298448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8" y="1463040"/>
            <a:ext cx="1207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Stage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169164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GNINA
Docking 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359152"/>
            <a:ext cx="4160520" cy="221284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2359152"/>
            <a:ext cx="4160520" cy="310896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240487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Inputs to Stage 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" y="2816352"/>
            <a:ext cx="64008" cy="64008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27432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Stage-2 SMILES .txt files  (IA + random, deduplicated)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" y="3255264"/>
            <a:ext cx="64008" cy="64008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1821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Stage-1 .meta.json files  (PDB path, resname, chain, resseq)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" y="3694176"/>
            <a:ext cx="64008" cy="64008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6210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BRD4 crystal structure PDB  (receptor + original ligand coords)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2336" y="4133088"/>
            <a:ext cx="64008" cy="64008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0599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GNINA v1.0.3 binary  (auto-downloaded ~500 MB on first run)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2359152"/>
            <a:ext cx="4160520" cy="221284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54880" y="2359152"/>
            <a:ext cx="4160520" cy="3108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64608" y="240487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Outputs from Stage 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82896" y="2816352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10912" y="27432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docking_summary.csv  — one row per (molecule, pose)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82896" y="3255264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10912" y="31821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complex_pose001.pdb  — receptor + best-pose docked ligand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82896" y="3694176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10912" y="36210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docked_poses.sdf  — all GNINA pose geometries per molecule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82896" y="4133088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10912" y="40599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Bar charts: CNNaffinity, Vinardo, CNNscore ranked per molecule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BCC"/>
                </a:solidFill>
                <a:latin typeface="Calibri"/>
              </a:rPr>
              <a:t>GenPLIP  |  Stage 6: Molecular Docking  |  GNINA v1.0.3  | 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GNINA — The Docking Engine &amp; Molecular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4160520" cy="274320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32104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 is GNINA?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97864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13385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1133856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Open-source CNN-based docking tool. Wraps AutoDock Vina geometry search with a deep CNN trained on PDBbind crystal structures to rescore poses. More accurate than Vina alone for drug-like molecules.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02536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93852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Autobox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193852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Binding pocket defined automatically via --autobox_ligand (orig.pdb). GNINA places a 3D search box around the original crystallographic ligand — no manual grid coordinates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07208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743200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Pose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27432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Generates up to 9 candidate poses per molecule (--num_modes 9). All poses scored; only the best N written as complex PDB files. Score CSV always contains all poses.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11880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54787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Colab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54787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Linux x86_64 only. Binary auto-downloaded from GitHub (~500 MB). Copied from Google Drive to /content/gnina before execution to bypass FUSE filesystem permission errors.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804672"/>
            <a:ext cx="4160520" cy="27432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832104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4-Step Preparation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133856"/>
            <a:ext cx="347472" cy="347472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152144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1152144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990"/>
                </a:solidFill>
                <a:latin typeface="Calibri"/>
              </a:rPr>
              <a:t>SMILES → 3D SDF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1389888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RDKit ETKDG v3 generates 3D coordinates; UFF minimises geometry. Molecules where embedding fails are skipped with a warning.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975104"/>
            <a:ext cx="347472" cy="34747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1993392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1993392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4A"/>
                </a:solidFill>
                <a:latin typeface="Calibri"/>
              </a:rPr>
              <a:t>Receptor → rec.pdb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2231136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ATOM records extracted from BRD4 PDB. HETATM lines removed to produce a clean protein-only file for GNINA.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816352"/>
            <a:ext cx="347472" cy="34747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283464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2834640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  <a:latin typeface="Calibri"/>
              </a:rPr>
              <a:t>Autobox → orig.pdb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3072384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HETATM records for the original crystallographic ligand (matched by resname + chain + resseq) define the docking search space.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3657600"/>
            <a:ext cx="347472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67588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352" y="3675888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Run GNINA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2" y="3913632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gnina -r rec.pdb -l ligand.sdf --autobox_ligand orig.pdb --out docked_poses.sdf --num_modes 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BCC"/>
                </a:solidFill>
                <a:latin typeface="Calibri"/>
              </a:rPr>
              <a:t>GenPLIP  |  Stage 6  |  GNINA v1.0.3 + RDKit ETKDG v3 + UFF  |  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GNINA Scoring Metrics — Three Scores &amp; How They Rank Molecules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85800"/>
            <a:ext cx="26974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685800"/>
            <a:ext cx="2697480" cy="3657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731520"/>
            <a:ext cx="2532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CNNaffinity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2697480" cy="219456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698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A4A"/>
                </a:solidFill>
                <a:latin typeface="Calibri"/>
              </a:rPr>
              <a:t>▲  Higher = Better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289304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Primary ranking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50876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A4A"/>
                </a:solidFill>
                <a:latin typeface="Calibri"/>
              </a:rP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1508760"/>
            <a:ext cx="1837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CNN-predicted binding affinity as −log(Kd/Ki). Analogous to pIC50.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221992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A4A"/>
                </a:solidFill>
                <a:latin typeface="Calibri"/>
              </a:rPr>
              <a:t>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221992"/>
            <a:ext cx="1837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Typically 4–12. Values &gt;8 indicate strong predicted binding.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935224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A4A"/>
                </a:solidFill>
                <a:latin typeface="Calibri"/>
              </a:rP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2935224"/>
            <a:ext cx="1837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Deep CNN trained on PDBbind crystal structures. More reliable than physics scoring.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648456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A4A"/>
                </a:solidFill>
                <a:latin typeface="Calibri"/>
              </a:rPr>
              <a:t>In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3648456"/>
            <a:ext cx="1837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Primary sort key. df sorted by CNNaffinity descending → rank 1 = best binder.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685800"/>
            <a:ext cx="26974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08960" y="685800"/>
            <a:ext cx="2697480" cy="3657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8688" y="731520"/>
            <a:ext cx="2532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minimizedAffinity (Vinardo)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1051560"/>
            <a:ext cx="2697480" cy="219456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10698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alibri"/>
              </a:rPr>
              <a:t>▼  More Negative = Better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1289304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Tiebreak metric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688" y="150876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alibri"/>
              </a:rPr>
              <a:t>What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95344" y="1508760"/>
            <a:ext cx="1837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Vinardo physics-based score (kcal/mol) after pose minimisation.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8688" y="2221992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alibri"/>
              </a:rPr>
              <a:t>Range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5344" y="2221992"/>
            <a:ext cx="1837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Typically −10 to −4 kcal/mol. More negative = more favourable.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8" y="2935224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alibri"/>
              </a:rPr>
              <a:t>Method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95344" y="2935224"/>
            <a:ext cx="1837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Re-parametrisation of AutoDock Vina empirical force field.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8688" y="3648456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alibri"/>
              </a:rPr>
              <a:t>In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95344" y="3648456"/>
            <a:ext cx="1837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Tiebreak when CNNaffinity values are equal. Ascending sort (lower = better).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685800"/>
            <a:ext cx="26974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9320" y="685800"/>
            <a:ext cx="2697480" cy="365760"/>
          </a:xfrm>
          <a:prstGeom prst="rect">
            <a:avLst/>
          </a:prstGeom>
          <a:solidFill>
            <a:srgbClr val="06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8" y="731520"/>
            <a:ext cx="2532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CNNscore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1051560"/>
            <a:ext cx="2697480" cy="219456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10698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6A47"/>
                </a:solidFill>
                <a:latin typeface="Calibri"/>
              </a:rPr>
              <a:t>▲  Higher = Better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1289304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Pose quality indicator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9048" y="150876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6A47"/>
                </a:solidFill>
                <a:latin typeface="Calibri"/>
              </a:rPr>
              <a:t>What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75704" y="1508760"/>
            <a:ext cx="1837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CNN-predicted probability that the pose resembles a crystallographic binding mode.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9048" y="2221992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6A47"/>
                </a:solidFill>
                <a:latin typeface="Calibri"/>
              </a:rPr>
              <a:t>Range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5704" y="2221992"/>
            <a:ext cx="1837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0.0 (non-native) to 1.0 (native-like). Values &gt;0.5 are good poses.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9048" y="2935224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6A47"/>
                </a:solidFill>
                <a:latin typeface="Calibri"/>
              </a:rPr>
              <a:t>Method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75704" y="2935224"/>
            <a:ext cx="1837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Same CNN architecture as CNNaffinity but trained on pose quality labels.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9048" y="3648456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6A47"/>
                </a:solidFill>
                <a:latin typeface="Calibri"/>
              </a:rPr>
              <a:t>In code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75704" y="3648456"/>
            <a:ext cx="1837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Displayed as third bar chart panel. Not used in primary ranking logic.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736592"/>
            <a:ext cx="9144000" cy="12801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754880"/>
            <a:ext cx="8503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2A4A"/>
                </a:solidFill>
                <a:latin typeface="Calibri"/>
              </a:rPr>
              <a:t>Ranking: best pose per molecule · sort by CNNaffinity ↓ (tiebreak: Vinardo ↑) · Top 3 highlighted Gold / Silver / Bronze in visualisation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BCC"/>
                </a:solidFill>
                <a:latin typeface="Calibri"/>
              </a:rPr>
              <a:t>GenPLIP  |  Stage 6  |  Scores from GNINA output SDF: CNNscore, CNNaffinity, minimizedAffinity  |  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Outputs, File Structure &amp; Visualisation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4160520" cy="27432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32104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Output File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3385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A4A"/>
                </a:solidFill>
                <a:latin typeface="Consolas"/>
              </a:rPr>
              <a:t>stage6_docking/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40817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onsolas"/>
              </a:rPr>
              <a:t>  docking_summary.csv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68249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onsolas"/>
              </a:rPr>
              <a:t>  &lt;ligand_group&gt;/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5681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    rec.pdb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3113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    orig.pdb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0545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8990"/>
                </a:solidFill>
                <a:latin typeface="Consolas"/>
              </a:rPr>
              <a:t>    mol_0001/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7977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      ligand.sdf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05409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      docked_poses.sdf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32841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6A47"/>
                </a:solidFill>
                <a:latin typeface="Consolas"/>
              </a:rPr>
              <a:t>      complex_pose001.pdb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60273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      docking.log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87705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    mol_0002/ … mol_NNNN/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06240"/>
            <a:ext cx="4160520" cy="274320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33672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docking_summary.csv — Columns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17136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onsolas"/>
              </a:rPr>
              <a:t>ligand_group  ·  mol_idx  ·  smiles  ·  pose
CNNscore  ·  CNNaffinity  ·  minimizedAffinity  ·  complex_pdb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804672"/>
            <a:ext cx="4251960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83210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Visualisation (Cells 3–5)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133856"/>
            <a:ext cx="64008" cy="6858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7448" y="1152144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4A"/>
                </a:solidFill>
                <a:latin typeface="Calibri"/>
              </a:rPr>
              <a:t>Bar Chart — Top 10 Molecules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138988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Three horizontal bar panels: CNNaffinity (blue), Vinardo (red), CNNscore (green). Bars ranked by molecule. Gold/silver/bronze for top 3. Exact score printed at end of each bar. Saved at 180 dpi.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938528"/>
            <a:ext cx="64008" cy="6858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1956816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  <a:latin typeface="Calibri"/>
              </a:rPr>
              <a:t>Bar Chart — All Molecules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21945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Same three-panel layout for all docked molecules. Row height auto-scales for large datasets. Supplementary figure showing the full docking run.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743200"/>
            <a:ext cx="64008" cy="685800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27448" y="2761488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990"/>
                </a:solidFill>
                <a:latin typeface="Calibri"/>
              </a:rPr>
              <a:t>Summary 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29992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Rank, SMILES (truncated), and all three scores per molecule. Alternating row shading. Top-3 rows colour-tinted and bold. Displayed as fourth panel to the right of the bar charts.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3547872"/>
            <a:ext cx="64008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27448" y="356616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Colour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7448" y="380390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Legend strip pinned below all panels. Shows gold/silver/bronze for ranks 1–3 and panel colours for remaining molecules.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315968"/>
            <a:ext cx="4251960" cy="256032"/>
          </a:xfrm>
          <a:prstGeom prst="rect">
            <a:avLst/>
          </a:prstGeom>
          <a:solidFill>
            <a:srgbClr val="F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63440" y="4361688"/>
            <a:ext cx="146304" cy="14630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4361688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  <a:latin typeface="Calibri"/>
              </a:rPr>
              <a:t>Rank 1 (Gold)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05855" y="4361688"/>
            <a:ext cx="146304" cy="146304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88735" y="4361688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  <a:latin typeface="Calibri"/>
              </a:rPr>
              <a:t>Rank 2 (Silver)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48270" y="4361688"/>
            <a:ext cx="146304" cy="146304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31150" y="4361688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  <a:latin typeface="Calibri"/>
              </a:rPr>
              <a:t>Rank 3 (Bronze)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90685" y="4361688"/>
            <a:ext cx="146304" cy="146304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5" y="4361688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  <a:latin typeface="Calibri"/>
              </a:rPr>
              <a:t>Other (panel col.)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BCC"/>
                </a:solidFill>
                <a:latin typeface="Calibri"/>
              </a:rPr>
              <a:t>GenPLIP  |  Stage 6  |  make_barchart_figure() + draw_table()  |  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