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891" r:id="rId1"/>
    <p:sldMasterId id="2147483920" r:id="rId2"/>
  </p:sldMasterIdLst>
  <p:notesMasterIdLst>
    <p:notesMasterId r:id="rId22"/>
  </p:notesMasterIdLst>
  <p:handoutMasterIdLst>
    <p:handoutMasterId r:id="rId23"/>
  </p:handoutMasterIdLst>
  <p:sldIdLst>
    <p:sldId id="296" r:id="rId3"/>
    <p:sldId id="390" r:id="rId4"/>
    <p:sldId id="408" r:id="rId5"/>
    <p:sldId id="409" r:id="rId6"/>
    <p:sldId id="411" r:id="rId7"/>
    <p:sldId id="410" r:id="rId8"/>
    <p:sldId id="412" r:id="rId9"/>
    <p:sldId id="413" r:id="rId10"/>
    <p:sldId id="414" r:id="rId11"/>
    <p:sldId id="415" r:id="rId12"/>
    <p:sldId id="417" r:id="rId13"/>
    <p:sldId id="418" r:id="rId14"/>
    <p:sldId id="402" r:id="rId15"/>
    <p:sldId id="403" r:id="rId16"/>
    <p:sldId id="405" r:id="rId17"/>
    <p:sldId id="404" r:id="rId18"/>
    <p:sldId id="420" r:id="rId19"/>
    <p:sldId id="406" r:id="rId20"/>
    <p:sldId id="419" r:id="rId21"/>
  </p:sldIdLst>
  <p:sldSz cx="12192000" cy="6858000"/>
  <p:notesSz cx="6858000" cy="9144000"/>
  <p:embeddedFontLst>
    <p:embeddedFont>
      <p:font typeface="Cambria Math" panose="02040503050406030204" pitchFamily="18" charset="0"/>
      <p:regular r:id="rId24"/>
    </p:embeddedFont>
    <p:embeddedFont>
      <p:font typeface="Open Sans" panose="020B0606030504020204" pitchFamily="34" charset="0"/>
      <p:regular r:id="rId25"/>
      <p:bold r:id="rId26"/>
      <p:italic r:id="rId27"/>
      <p:boldItalic r:id="rId28"/>
    </p:embeddedFont>
  </p:embeddedFontLst>
  <p:defaultTextStyle>
    <a:defPPr>
      <a:defRPr lang="de-DE"/>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defaultTextStyle>
  <p:extLst>
    <p:ext uri="{521415D9-36F7-43E2-AB2F-B90AF26B5E84}">
      <p14:sectionLst xmlns:p14="http://schemas.microsoft.com/office/powerpoint/2010/main">
        <p14:section name="Your presentation starts here" id="{D91D452A-E3E0-4344-8040-7987665A8477}">
          <p14:sldIdLst/>
        </p14:section>
        <p14:section name="Title variants to copy" id="{2939B5E8-EF71-43FF-B7B6-C3DB42F2B419}">
          <p14:sldIdLst>
            <p14:sldId id="296"/>
            <p14:sldId id="390"/>
            <p14:sldId id="408"/>
            <p14:sldId id="409"/>
            <p14:sldId id="411"/>
            <p14:sldId id="410"/>
            <p14:sldId id="412"/>
            <p14:sldId id="413"/>
            <p14:sldId id="414"/>
            <p14:sldId id="415"/>
            <p14:sldId id="417"/>
            <p14:sldId id="418"/>
            <p14:sldId id="402"/>
            <p14:sldId id="403"/>
            <p14:sldId id="405"/>
            <p14:sldId id="404"/>
            <p14:sldId id="420"/>
            <p14:sldId id="406"/>
            <p14:sldId id="41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nöfel,Anja" initials="K" lastIdx="10" clrIdx="0">
    <p:extLst>
      <p:ext uri="{19B8F6BF-5375-455C-9EA6-DF929625EA0E}">
        <p15:presenceInfo xmlns:p15="http://schemas.microsoft.com/office/powerpoint/2012/main" userId="S-1-5-21-1982228756-150042506-1537001085-188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618C"/>
    <a:srgbClr val="CD1719"/>
    <a:srgbClr val="DE2526"/>
    <a:srgbClr val="951B81"/>
    <a:srgbClr val="59358C"/>
    <a:srgbClr val="FFFFFF"/>
    <a:srgbClr val="0069B4"/>
    <a:srgbClr val="F2F2F2"/>
    <a:srgbClr val="000000"/>
    <a:srgbClr val="13A9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05C935-4EB1-342D-9D3A-42DC69EDAEBC}" v="37" dt="2024-12-29T15:47:46.048"/>
    <p1510:client id="{2CD14A52-DB43-ABA3-3541-221283ABB17D}" v="37" dt="2024-12-28T08:57:34.757"/>
    <p1510:client id="{347D6CFB-599E-37AC-A653-C7D0CF7689A9}" v="4" dt="2024-12-28T09:32:14.755"/>
    <p1510:client id="{3697A064-F986-48A2-EB91-635E6EDA716E}" v="42" dt="2024-12-28T09:30:56.860"/>
    <p1510:client id="{8F46A4B0-5A2B-79CB-E855-682B703EE953}" v="65" dt="2024-12-28T09:23:55.520"/>
    <p1510:client id="{9AC182D1-471A-2807-D35E-E587BFB5A3C0}" v="2" dt="2024-12-28T09:00:56.622"/>
    <p1510:client id="{A499466D-8183-F0D1-A759-C479154E1AA1}" v="2" dt="2024-12-28T10:53:02.199"/>
    <p1510:client id="{A6E8415E-B405-4815-1130-76EA37A5D4CB}" v="27" dt="2024-12-28T15:46:45.624"/>
    <p1510:client id="{C6FBF3B7-DEF2-3ED5-2F87-C1D4B8DDAD08}" v="104" dt="2024-12-28T16:51:26.890"/>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113A9D2-9D6B-4929-AA2D-F23B5EE8CBE7}" styleName="Designformatvorlage 2 - Akz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5556" autoAdjust="0"/>
  </p:normalViewPr>
  <p:slideViewPr>
    <p:cSldViewPr snapToGrid="0">
      <p:cViewPr>
        <p:scale>
          <a:sx n="62" d="100"/>
          <a:sy n="62" d="100"/>
        </p:scale>
        <p:origin x="1459" y="58"/>
      </p:cViewPr>
      <p:guideLst/>
    </p:cSldViewPr>
  </p:slideViewPr>
  <p:outlineViewPr>
    <p:cViewPr>
      <p:scale>
        <a:sx n="33" d="100"/>
        <a:sy n="33" d="100"/>
      </p:scale>
      <p:origin x="0" y="-1560"/>
    </p:cViewPr>
  </p:outlineViewPr>
  <p:notesTextViewPr>
    <p:cViewPr>
      <p:scale>
        <a:sx n="1" d="1"/>
        <a:sy n="1" d="1"/>
      </p:scale>
      <p:origin x="0" y="0"/>
    </p:cViewPr>
  </p:notesTextViewPr>
  <p:notesViewPr>
    <p:cSldViewPr snapToGrid="0">
      <p:cViewPr>
        <p:scale>
          <a:sx n="1" d="2"/>
          <a:sy n="1" d="2"/>
        </p:scale>
        <p:origin x="3480" y="41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AC6211-610F-44E5-BF19-D3CDF6EDD281}" type="datetimeFigureOut">
              <a:rPr lang="de-DE" smtClean="0"/>
              <a:t>08.01.2026</a:t>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D61AA8-FB04-42D1-9939-D1A1356F8086}" type="slidenum">
              <a:rPr lang="de-DE" smtClean="0"/>
              <a:t>‹#›</a:t>
            </a:fld>
            <a:endParaRPr lang="de-DE"/>
          </a:p>
        </p:txBody>
      </p:sp>
    </p:spTree>
    <p:extLst>
      <p:ext uri="{BB962C8B-B14F-4D97-AF65-F5344CB8AC3E}">
        <p14:creationId xmlns:p14="http://schemas.microsoft.com/office/powerpoint/2010/main" val="11431560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7435D3-23A6-45D3-8DFA-7317DC1E7A64}" type="datetimeFigureOut">
              <a:rPr lang="de-DE" smtClean="0"/>
              <a:t>08.01.2026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69AC09-DF60-43F4-96BF-67D4D9A74094}" type="slidenum">
              <a:rPr lang="de-DE" smtClean="0"/>
              <a:t>‹#›</a:t>
            </a:fld>
            <a:endParaRPr lang="de-DE"/>
          </a:p>
        </p:txBody>
      </p:sp>
    </p:spTree>
    <p:extLst>
      <p:ext uri="{BB962C8B-B14F-4D97-AF65-F5344CB8AC3E}">
        <p14:creationId xmlns:p14="http://schemas.microsoft.com/office/powerpoint/2010/main" val="383318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B0DB2-5FD5-4B43-0F3A-B0AE006C882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FEC4CB9-35D7-4321-ECED-45D7E94058F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E637618-EDC3-22FF-6933-020BADA8AB3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The Auto-Inhibitory Segment (</a:t>
            </a:r>
            <a:r>
              <a:rPr lang="en-US" sz="1200" b="0" i="1" kern="1200" dirty="0">
                <a:solidFill>
                  <a:schemeClr val="tx1"/>
                </a:solidFill>
                <a:effectLst/>
                <a:latin typeface="+mn-lt"/>
                <a:ea typeface="+mn-ea"/>
                <a:cs typeface="+mn-cs"/>
              </a:rPr>
              <a:t>APC</a:t>
            </a:r>
            <a:r>
              <a:rPr lang="en-US" sz="1200" b="0" i="0" kern="1200" dirty="0">
                <a:solidFill>
                  <a:schemeClr val="tx1"/>
                </a:solidFill>
                <a:effectLst/>
                <a:latin typeface="+mn-lt"/>
                <a:ea typeface="+mn-ea"/>
                <a:cs typeface="+mn-cs"/>
              </a:rPr>
              <a:t>1</a:t>
            </a:r>
            <a:r>
              <a:rPr lang="en-US" sz="1200" b="0" i="1" kern="1200" dirty="0">
                <a:solidFill>
                  <a:schemeClr val="tx1"/>
                </a:solidFill>
                <a:effectLst/>
                <a:latin typeface="+mn-lt"/>
                <a:ea typeface="+mn-ea"/>
                <a:cs typeface="+mn-cs"/>
              </a:rPr>
              <a:t>AI</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In the </a:t>
            </a:r>
            <a:r>
              <a:rPr lang="en-US" sz="1200" b="1" i="0" kern="1200" dirty="0">
                <a:solidFill>
                  <a:schemeClr val="tx1"/>
                </a:solidFill>
                <a:effectLst/>
                <a:latin typeface="+mn-lt"/>
                <a:ea typeface="+mn-ea"/>
                <a:cs typeface="+mn-cs"/>
              </a:rPr>
              <a:t>unphosphorylated apo-state</a:t>
            </a:r>
            <a:r>
              <a:rPr lang="en-US" sz="1200" b="0" i="0" kern="1200" dirty="0">
                <a:solidFill>
                  <a:schemeClr val="tx1"/>
                </a:solidFill>
                <a:effectLst/>
                <a:latin typeface="+mn-lt"/>
                <a:ea typeface="+mn-ea"/>
                <a:cs typeface="+mn-cs"/>
              </a:rPr>
              <a:t>, a specific part of the APC1 subunit called the auto-inhibitory segment binds to the "C-box receptor" site on APC8. This physically </a:t>
            </a:r>
            <a:r>
              <a:rPr lang="en-US" sz="1200" b="1" i="0" kern="1200" dirty="0">
                <a:solidFill>
                  <a:schemeClr val="tx1"/>
                </a:solidFill>
                <a:effectLst/>
                <a:latin typeface="+mn-lt"/>
                <a:ea typeface="+mn-ea"/>
                <a:cs typeface="+mn-cs"/>
              </a:rPr>
              <a:t>blocks coactivators</a:t>
            </a:r>
            <a:r>
              <a:rPr lang="en-US" sz="1200" b="0" i="0" kern="1200" dirty="0">
                <a:solidFill>
                  <a:schemeClr val="tx1"/>
                </a:solidFill>
                <a:effectLst/>
                <a:latin typeface="+mn-lt"/>
                <a:ea typeface="+mn-ea"/>
                <a:cs typeface="+mn-cs"/>
              </a:rPr>
              <a:t> (like CDC20 or CDH1) from binding. In the active or bound states, this segment must be displaced</a:t>
            </a:r>
          </a:p>
          <a:p>
            <a:endParaRPr lang="en-US" sz="1200" b="0" i="0" kern="1200" dirty="0">
              <a:solidFill>
                <a:schemeClr val="tx1"/>
              </a:solidFill>
              <a:effectLst/>
              <a:latin typeface="+mn-lt"/>
              <a:ea typeface="+mn-ea"/>
              <a:cs typeface="+mn-cs"/>
            </a:endParaRPr>
          </a:p>
          <a:p>
            <a:pPr marL="342900" indent="-342900">
              <a:buAutoNum type="arabicPeriod"/>
            </a:pPr>
            <a:r>
              <a:rPr lang="en-US" sz="1200" b="1" dirty="0"/>
              <a:t>APC11</a:t>
            </a:r>
            <a:r>
              <a:rPr lang="en-US" sz="1200" dirty="0"/>
              <a:t> provides the primary recruitment surface for the E2 enzymes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200" b="1" dirty="0"/>
              <a:t>APC11</a:t>
            </a:r>
            <a:r>
              <a:rPr lang="en-US" sz="1200" dirty="0"/>
              <a:t> provides the primary recruitment surface for the E2 enzymes </a:t>
            </a:r>
          </a:p>
          <a:p>
            <a:pPr marL="0" indent="0">
              <a:buNone/>
            </a:pPr>
            <a:endParaRPr lang="en-US" sz="1200" dirty="0"/>
          </a:p>
          <a:p>
            <a:pPr marL="342900" indent="-342900">
              <a:buAutoNum type="arabicPeriod"/>
            </a:pPr>
            <a:r>
              <a:rPr lang="en-US" sz="1200" b="1" dirty="0"/>
              <a:t>APC2:</a:t>
            </a:r>
            <a:r>
              <a:rPr lang="en-US" sz="1200" dirty="0"/>
              <a:t> The </a:t>
            </a:r>
            <a:r>
              <a:rPr lang="en-US" sz="1200" b="1" dirty="0"/>
              <a:t>C-terminal domain (</a:t>
            </a:r>
            <a:r>
              <a:rPr lang="en-US" sz="1200" i="1" dirty="0"/>
              <a:t>APC</a:t>
            </a:r>
            <a:r>
              <a:rPr lang="en-US" sz="1200" dirty="0"/>
              <a:t>2</a:t>
            </a:r>
            <a:r>
              <a:rPr lang="en-US" sz="1200" i="1" dirty="0"/>
              <a:t>CTD</a:t>
            </a:r>
            <a:r>
              <a:rPr lang="en-US" sz="1200" b="1" dirty="0"/>
              <a:t>)</a:t>
            </a:r>
            <a:r>
              <a:rPr lang="en-US" sz="1200" dirty="0"/>
              <a:t> contains a specialized </a:t>
            </a:r>
            <a:r>
              <a:rPr lang="en-US" sz="1200" b="1" dirty="0"/>
              <a:t>LRRL-binding site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200" dirty="0"/>
              <a:t>It creates </a:t>
            </a:r>
            <a:r>
              <a:rPr lang="en-US" sz="1200" b="1" dirty="0"/>
              <a:t>steric hindrance</a:t>
            </a:r>
            <a:r>
              <a:rPr lang="en-US" sz="1200" dirty="0"/>
              <a:t> that prevents </a:t>
            </a:r>
            <a:r>
              <a:rPr lang="en-US" sz="1200" b="1" dirty="0"/>
              <a:t>UBCH10 f</a:t>
            </a:r>
            <a:r>
              <a:rPr lang="en-US" sz="1200" dirty="0"/>
              <a:t>rom reaching the </a:t>
            </a:r>
            <a:r>
              <a:rPr lang="en-US" sz="1200" b="1" dirty="0"/>
              <a:t>RING domain of APC11 during S and G2 </a:t>
            </a:r>
            <a:r>
              <a:rPr lang="en-US" sz="1200" dirty="0"/>
              <a:t>phrase allowing cell to divide and commit to DNA replication</a:t>
            </a:r>
          </a:p>
          <a:p>
            <a:pPr marL="342900" indent="-342900">
              <a:buAutoNum type="arabicPeriod"/>
            </a:pPr>
            <a:endParaRPr lang="en-US" sz="1200" b="1" dirty="0"/>
          </a:p>
          <a:p>
            <a:endParaRPr lang="en-US" dirty="0"/>
          </a:p>
        </p:txBody>
      </p:sp>
      <p:sp>
        <p:nvSpPr>
          <p:cNvPr id="4" name="Foliennummernplatzhalter 3">
            <a:extLst>
              <a:ext uri="{FF2B5EF4-FFF2-40B4-BE49-F238E27FC236}">
                <a16:creationId xmlns:a16="http://schemas.microsoft.com/office/drawing/2014/main" id="{268C1C72-9B5C-F02C-0A50-9F1DBE5ED254}"/>
              </a:ext>
            </a:extLst>
          </p:cNvPr>
          <p:cNvSpPr>
            <a:spLocks noGrp="1"/>
          </p:cNvSpPr>
          <p:nvPr>
            <p:ph type="sldNum" sz="quarter" idx="5"/>
          </p:nvPr>
        </p:nvSpPr>
        <p:spPr/>
        <p:txBody>
          <a:bodyPr/>
          <a:lstStyle/>
          <a:p>
            <a:fld id="{2969AC09-DF60-43F4-96BF-67D4D9A74094}" type="slidenum">
              <a:rPr lang="de-DE" smtClean="0"/>
              <a:t>2</a:t>
            </a:fld>
            <a:endParaRPr lang="de-DE"/>
          </a:p>
        </p:txBody>
      </p:sp>
    </p:spTree>
    <p:extLst>
      <p:ext uri="{BB962C8B-B14F-4D97-AF65-F5344CB8AC3E}">
        <p14:creationId xmlns:p14="http://schemas.microsoft.com/office/powerpoint/2010/main" val="2341141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APC2</a:t>
            </a:r>
            <a:r>
              <a:rPr lang="en-US" sz="1200" b="0" i="0" kern="1200" dirty="0">
                <a:solidFill>
                  <a:schemeClr val="tx1"/>
                </a:solidFill>
                <a:effectLst/>
                <a:latin typeface="+mn-lt"/>
                <a:ea typeface="+mn-ea"/>
                <a:cs typeface="+mn-cs"/>
              </a:rPr>
              <a:t> is a core </a:t>
            </a:r>
            <a:r>
              <a:rPr lang="en-US" sz="1200" b="1" i="0" kern="1200" dirty="0" err="1">
                <a:solidFill>
                  <a:schemeClr val="tx1"/>
                </a:solidFill>
                <a:effectLst/>
                <a:latin typeface="+mn-lt"/>
                <a:ea typeface="+mn-ea"/>
                <a:cs typeface="+mn-cs"/>
              </a:rPr>
              <a:t>cullin</a:t>
            </a:r>
            <a:r>
              <a:rPr lang="en-US" sz="1200" b="1" i="0" kern="1200" dirty="0">
                <a:solidFill>
                  <a:schemeClr val="tx1"/>
                </a:solidFill>
                <a:effectLst/>
                <a:latin typeface="+mn-lt"/>
                <a:ea typeface="+mn-ea"/>
                <a:cs typeface="+mn-cs"/>
              </a:rPr>
              <a:t>-domain subunit </a:t>
            </a:r>
            <a:endParaRPr lang="en-US" dirty="0"/>
          </a:p>
        </p:txBody>
      </p:sp>
      <p:sp>
        <p:nvSpPr>
          <p:cNvPr id="4" name="Slide Number Placeholder 3"/>
          <p:cNvSpPr>
            <a:spLocks noGrp="1"/>
          </p:cNvSpPr>
          <p:nvPr>
            <p:ph type="sldNum" sz="quarter" idx="5"/>
          </p:nvPr>
        </p:nvSpPr>
        <p:spPr/>
        <p:txBody>
          <a:bodyPr/>
          <a:lstStyle/>
          <a:p>
            <a:fld id="{2969AC09-DF60-43F4-96BF-67D4D9A74094}" type="slidenum">
              <a:rPr lang="de-DE" smtClean="0"/>
              <a:t>3</a:t>
            </a:fld>
            <a:endParaRPr lang="de-DE"/>
          </a:p>
        </p:txBody>
      </p:sp>
    </p:spTree>
    <p:extLst>
      <p:ext uri="{BB962C8B-B14F-4D97-AF65-F5344CB8AC3E}">
        <p14:creationId xmlns:p14="http://schemas.microsoft.com/office/powerpoint/2010/main" val="3628619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Particle subtraction allows for the </a:t>
            </a:r>
            <a:r>
              <a:rPr lang="en-US" sz="1200" b="1" i="0" kern="1200" dirty="0">
                <a:solidFill>
                  <a:schemeClr val="tx1"/>
                </a:solidFill>
                <a:effectLst/>
                <a:latin typeface="+mn-lt"/>
                <a:ea typeface="+mn-ea"/>
                <a:cs typeface="+mn-cs"/>
              </a:rPr>
              <a:t>segmentation of flexible large complexes into rigid body domains</a:t>
            </a:r>
            <a:r>
              <a:rPr lang="en-US" sz="1200" b="0" i="0" kern="1200" dirty="0">
                <a:solidFill>
                  <a:schemeClr val="tx1"/>
                </a:solidFill>
                <a:effectLst/>
                <a:latin typeface="+mn-lt"/>
                <a:ea typeface="+mn-ea"/>
                <a:cs typeface="+mn-cs"/>
              </a:rPr>
              <a:t>. Because the APC/C is a massive multi-subunit assembly, different parts of it can move independently. If the whole complex is refined at once, these moving parts become blurred. Subtraction mathematically removes the "signal" (the electron density) of the unwanted parts of the complex from the raw experimental images, leaving only the region of interest for independent alignment and refinement</a:t>
            </a:r>
          </a:p>
          <a:p>
            <a:r>
              <a:rPr lang="en-US" b="1" dirty="0">
                <a:effectLst/>
              </a:rPr>
              <a:t>2. Application to the Ternary Complex</a:t>
            </a:r>
            <a:endParaRPr lang="en-US" dirty="0">
              <a:effectLst/>
            </a:endParaRPr>
          </a:p>
          <a:p>
            <a:r>
              <a:rPr lang="en-US" dirty="0">
                <a:effectLst/>
              </a:rPr>
              <a:t>The researchers divided the ternary </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EMI</a:t>
            </a:r>
            <a:r>
              <a:rPr lang="en-US" sz="1200" kern="1200" dirty="0">
                <a:solidFill>
                  <a:schemeClr val="tx1"/>
                </a:solidFill>
                <a:effectLst/>
                <a:latin typeface="+mn-lt"/>
                <a:ea typeface="+mn-ea"/>
                <a:cs typeface="+mn-cs"/>
              </a:rPr>
              <a:t>1</a:t>
            </a:r>
            <a:r>
              <a:rPr lang="en-US" dirty="0">
                <a:effectLst/>
              </a:rPr>
              <a:t> map into three specific masks to handle this flexibility:</a:t>
            </a:r>
          </a:p>
          <a:p>
            <a:r>
              <a:rPr lang="en-US" dirty="0">
                <a:effectLst/>
              </a:rPr>
              <a:t>• </a:t>
            </a:r>
            <a:r>
              <a:rPr lang="en-US" b="1" dirty="0">
                <a:effectLst/>
              </a:rPr>
              <a:t>Mask 1 (Catalytic Domain):</a:t>
            </a:r>
            <a:r>
              <a:rPr lang="en-US" dirty="0">
                <a:effectLst/>
              </a:rPr>
              <a:t> Particle subtraction was performed prior to local refinement to better resolve the catalytic module.</a:t>
            </a:r>
          </a:p>
          <a:p>
            <a:r>
              <a:rPr lang="en-US" dirty="0">
                <a:effectLst/>
              </a:rPr>
              <a:t>• </a:t>
            </a:r>
            <a:r>
              <a:rPr lang="en-US" b="1" dirty="0">
                <a:effectLst/>
              </a:rPr>
              <a:t>Mask 2 (TPR Lobe):</a:t>
            </a:r>
            <a:r>
              <a:rPr lang="en-US" dirty="0">
                <a:effectLst/>
              </a:rPr>
              <a:t> Used for focused 3D refinement of the structural core.</a:t>
            </a:r>
          </a:p>
          <a:p>
            <a:r>
              <a:rPr lang="en-US" dirty="0">
                <a:effectLst/>
              </a:rPr>
              <a:t>• </a:t>
            </a:r>
            <a:r>
              <a:rPr lang="en-US" b="1" dirty="0">
                <a:effectLst/>
              </a:rPr>
              <a:t>Mask 3 (CDH1):</a:t>
            </a:r>
            <a:r>
              <a:rPr lang="en-US" dirty="0">
                <a:effectLst/>
              </a:rPr>
              <a:t> Particle subtraction was used here to "further improve the density of CDH1 and the KEN box of EMI1".</a:t>
            </a:r>
          </a:p>
          <a:p>
            <a:r>
              <a:rPr lang="en-US" b="1" dirty="0">
                <a:effectLst/>
              </a:rPr>
              <a:t>3. The Workflow</a:t>
            </a:r>
            <a:endParaRPr lang="en-US" dirty="0">
              <a:effectLst/>
            </a:endParaRPr>
          </a:p>
          <a:p>
            <a:r>
              <a:rPr lang="en-US" dirty="0">
                <a:effectLst/>
              </a:rPr>
              <a:t>The sources describe a specific sequence for this operation:</a:t>
            </a:r>
          </a:p>
          <a:p>
            <a:r>
              <a:rPr lang="en-US" dirty="0">
                <a:effectLst/>
              </a:rPr>
              <a:t>1. </a:t>
            </a:r>
            <a:r>
              <a:rPr lang="en-US" b="1" dirty="0">
                <a:effectLst/>
              </a:rPr>
              <a:t>Masking:</a:t>
            </a:r>
            <a:r>
              <a:rPr lang="en-US" dirty="0">
                <a:effectLst/>
              </a:rPr>
              <a:t> A "soft mask" is applied to the region of interest (e.g., the catalytic module or the CDH1 subunit).</a:t>
            </a:r>
          </a:p>
          <a:p>
            <a:r>
              <a:rPr lang="en-US" dirty="0">
                <a:effectLst/>
              </a:rPr>
              <a:t>2. </a:t>
            </a:r>
            <a:r>
              <a:rPr lang="en-US" b="1" dirty="0">
                <a:effectLst/>
              </a:rPr>
              <a:t>Subtraction:</a:t>
            </a:r>
            <a:r>
              <a:rPr lang="en-US" dirty="0">
                <a:effectLst/>
              </a:rPr>
              <a:t> The software (RELION or </a:t>
            </a:r>
            <a:r>
              <a:rPr lang="en-US" dirty="0" err="1">
                <a:effectLst/>
              </a:rPr>
              <a:t>cryoSPARC</a:t>
            </a:r>
            <a:r>
              <a:rPr lang="en-US" dirty="0">
                <a:effectLst/>
              </a:rPr>
              <a:t>) subtracts the density of everything outside that mask from the original particle images.</a:t>
            </a:r>
          </a:p>
          <a:p>
            <a:r>
              <a:rPr lang="en-US" dirty="0">
                <a:effectLst/>
              </a:rPr>
              <a:t>3. </a:t>
            </a:r>
            <a:r>
              <a:rPr lang="en-US" b="1" dirty="0">
                <a:effectLst/>
              </a:rPr>
              <a:t>Focused Refinement:</a:t>
            </a:r>
            <a:r>
              <a:rPr lang="en-US" dirty="0">
                <a:effectLst/>
              </a:rPr>
              <a:t> The resulting "subtracted particles" are then subjected to another round of </a:t>
            </a:r>
            <a:r>
              <a:rPr lang="en-US" b="1" dirty="0">
                <a:effectLst/>
              </a:rPr>
              <a:t>3D classification and local refinement</a:t>
            </a:r>
            <a:r>
              <a:rPr lang="en-US" dirty="0">
                <a:effectLst/>
              </a:rPr>
              <a:t>. This allowed the team to reach high resolutions, such as </a:t>
            </a:r>
            <a:r>
              <a:rPr lang="en-US" b="1" dirty="0">
                <a:effectLst/>
              </a:rPr>
              <a:t>2.85 Å</a:t>
            </a:r>
            <a:r>
              <a:rPr lang="en-US" dirty="0">
                <a:effectLst/>
              </a:rPr>
              <a:t> for the TPR lobe and </a:t>
            </a:r>
            <a:r>
              <a:rPr lang="en-US" b="1" dirty="0">
                <a:effectLst/>
              </a:rPr>
              <a:t>3.05 Å</a:t>
            </a:r>
            <a:r>
              <a:rPr lang="en-US" dirty="0">
                <a:effectLst/>
              </a:rPr>
              <a:t> for the CDH1 subunit.</a:t>
            </a:r>
          </a:p>
          <a:p>
            <a:endParaRPr lang="en-US" dirty="0"/>
          </a:p>
        </p:txBody>
      </p:sp>
      <p:sp>
        <p:nvSpPr>
          <p:cNvPr id="4" name="Slide Number Placeholder 3"/>
          <p:cNvSpPr>
            <a:spLocks noGrp="1"/>
          </p:cNvSpPr>
          <p:nvPr>
            <p:ph type="sldNum" sz="quarter" idx="5"/>
          </p:nvPr>
        </p:nvSpPr>
        <p:spPr/>
        <p:txBody>
          <a:bodyPr/>
          <a:lstStyle/>
          <a:p>
            <a:fld id="{2969AC09-DF60-43F4-96BF-67D4D9A74094}" type="slidenum">
              <a:rPr lang="de-DE" smtClean="0"/>
              <a:t>6</a:t>
            </a:fld>
            <a:endParaRPr lang="de-DE"/>
          </a:p>
        </p:txBody>
      </p:sp>
    </p:spTree>
    <p:extLst>
      <p:ext uri="{BB962C8B-B14F-4D97-AF65-F5344CB8AC3E}">
        <p14:creationId xmlns:p14="http://schemas.microsoft.com/office/powerpoint/2010/main" val="179517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Its robust interactions explain why </a:t>
            </a:r>
            <a:r>
              <a:rPr lang="en-US" dirty="0"/>
              <a:t>CDH1 has a significantly higher affinity</a:t>
            </a:r>
            <a:r>
              <a:rPr lang="en-US" b="0" dirty="0"/>
              <a:t> for unphosphorylated APC/C than the coactivator </a:t>
            </a:r>
            <a:r>
              <a:rPr lang="en-US" dirty="0"/>
              <a:t>CDC20</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Their current  density does not fit APC1 sequence but N terminus of CDH1 N terminus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Secondary structure prediction with AlphaFold from Human CDH1 sequence confirms to form a helix </a:t>
            </a:r>
          </a:p>
          <a:p>
            <a:endParaRPr lang="en-US" dirty="0"/>
          </a:p>
        </p:txBody>
      </p:sp>
      <p:sp>
        <p:nvSpPr>
          <p:cNvPr id="4" name="Slide Number Placeholder 3"/>
          <p:cNvSpPr>
            <a:spLocks noGrp="1"/>
          </p:cNvSpPr>
          <p:nvPr>
            <p:ph type="sldNum" sz="quarter" idx="5"/>
          </p:nvPr>
        </p:nvSpPr>
        <p:spPr/>
        <p:txBody>
          <a:bodyPr/>
          <a:lstStyle/>
          <a:p>
            <a:fld id="{2969AC09-DF60-43F4-96BF-67D4D9A74094}" type="slidenum">
              <a:rPr lang="de-DE" smtClean="0"/>
              <a:t>7</a:t>
            </a:fld>
            <a:endParaRPr lang="de-DE"/>
          </a:p>
        </p:txBody>
      </p:sp>
    </p:spTree>
    <p:extLst>
      <p:ext uri="{BB962C8B-B14F-4D97-AF65-F5344CB8AC3E}">
        <p14:creationId xmlns:p14="http://schemas.microsoft.com/office/powerpoint/2010/main" val="3023411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 </a:t>
            </a:r>
            <a:r>
              <a:rPr lang="en-US" b="1" dirty="0">
                <a:effectLst/>
              </a:rPr>
              <a:t>Figure 2a:</a:t>
            </a:r>
            <a:r>
              <a:rPr lang="en-US" dirty="0">
                <a:effectLst/>
              </a:rPr>
              <a:t> This provides an </a:t>
            </a:r>
            <a:r>
              <a:rPr lang="en-US" b="1" dirty="0">
                <a:effectLst/>
              </a:rPr>
              <a:t>overview of the </a:t>
            </a:r>
            <a:r>
              <a:rPr lang="en-US" sz="1200" i="1" kern="1200" dirty="0">
                <a:solidFill>
                  <a:schemeClr val="tx1"/>
                </a:solidFill>
                <a:effectLst/>
                <a:latin typeface="+mn-lt"/>
                <a:ea typeface="+mn-ea"/>
                <a:cs typeface="+mn-cs"/>
              </a:rPr>
              <a:t>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α</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WD</a:t>
            </a:r>
            <a:r>
              <a:rPr lang="en-US" sz="1200" kern="1200" dirty="0">
                <a:solidFill>
                  <a:schemeClr val="tx1"/>
                </a:solidFill>
                <a:effectLst/>
                <a:latin typeface="+mn-lt"/>
                <a:ea typeface="+mn-ea"/>
                <a:cs typeface="+mn-cs"/>
              </a:rPr>
              <a:t>40</a:t>
            </a:r>
            <a:r>
              <a:rPr lang="en-US" b="1" dirty="0">
                <a:effectLst/>
              </a:rPr>
              <a:t> interactions</a:t>
            </a:r>
            <a:r>
              <a:rPr lang="en-US" dirty="0">
                <a:effectLst/>
              </a:rPr>
              <a:t>, showing how the CDH1 polypeptide chain "threads through a fenestra" at the interface of APC1 and APC8.</a:t>
            </a:r>
          </a:p>
          <a:p>
            <a:r>
              <a:rPr lang="en-US" dirty="0">
                <a:effectLst/>
              </a:rPr>
              <a:t>• </a:t>
            </a:r>
            <a:r>
              <a:rPr lang="en-US" b="1" dirty="0">
                <a:effectLst/>
              </a:rPr>
              <a:t>Figure 2b:</a:t>
            </a:r>
            <a:r>
              <a:rPr lang="en-US" dirty="0">
                <a:effectLst/>
              </a:rPr>
              <a:t> This offers a </a:t>
            </a:r>
            <a:r>
              <a:rPr lang="en-US" b="1" dirty="0">
                <a:effectLst/>
              </a:rPr>
              <a:t>detailed view</a:t>
            </a:r>
            <a:r>
              <a:rPr lang="en-US" dirty="0">
                <a:effectLst/>
              </a:rPr>
              <a:t> of the </a:t>
            </a:r>
            <a:r>
              <a:rPr lang="en-US" sz="1200" i="1" kern="1200" dirty="0">
                <a:solidFill>
                  <a:schemeClr val="tx1"/>
                </a:solidFill>
                <a:effectLst/>
                <a:latin typeface="+mn-lt"/>
                <a:ea typeface="+mn-ea"/>
                <a:cs typeface="+mn-cs"/>
              </a:rPr>
              <a:t>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α</a:t>
            </a:r>
            <a:r>
              <a:rPr lang="en-US" sz="1200" kern="1200" dirty="0">
                <a:solidFill>
                  <a:schemeClr val="tx1"/>
                </a:solidFill>
                <a:effectLst/>
                <a:latin typeface="+mn-lt"/>
                <a:ea typeface="+mn-ea"/>
                <a:cs typeface="+mn-cs"/>
              </a:rPr>
              <a:t>1</a:t>
            </a:r>
            <a:r>
              <a:rPr lang="en-US" dirty="0">
                <a:effectLst/>
              </a:rPr>
              <a:t> helix interacting with the </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WD</a:t>
            </a:r>
            <a:r>
              <a:rPr lang="en-US" sz="1200" kern="1200" dirty="0">
                <a:solidFill>
                  <a:schemeClr val="tx1"/>
                </a:solidFill>
                <a:effectLst/>
                <a:latin typeface="+mn-lt"/>
                <a:ea typeface="+mn-ea"/>
                <a:cs typeface="+mn-cs"/>
              </a:rPr>
              <a:t>40</a:t>
            </a:r>
            <a:r>
              <a:rPr lang="en-US" dirty="0">
                <a:effectLst/>
              </a:rPr>
              <a:t> domain.</a:t>
            </a:r>
          </a:p>
          <a:p>
            <a:r>
              <a:rPr lang="en-US" dirty="0">
                <a:effectLst/>
              </a:rPr>
              <a:t>• </a:t>
            </a:r>
            <a:r>
              <a:rPr lang="en-US" b="1" dirty="0">
                <a:effectLst/>
              </a:rPr>
              <a:t>Figure 2c:</a:t>
            </a:r>
            <a:r>
              <a:rPr lang="en-US" dirty="0">
                <a:effectLst/>
              </a:rPr>
              <a:t> This is the </a:t>
            </a:r>
            <a:r>
              <a:rPr lang="en-US" b="1" dirty="0">
                <a:effectLst/>
              </a:rPr>
              <a:t>actual cryo-EM density map</a:t>
            </a:r>
            <a:r>
              <a:rPr lang="en-US" dirty="0">
                <a:effectLst/>
              </a:rPr>
              <a:t> for the </a:t>
            </a:r>
            <a:r>
              <a:rPr lang="en-US" sz="1200" i="1" kern="1200" dirty="0">
                <a:solidFill>
                  <a:schemeClr val="tx1"/>
                </a:solidFill>
                <a:effectLst/>
                <a:latin typeface="+mn-lt"/>
                <a:ea typeface="+mn-ea"/>
                <a:cs typeface="+mn-cs"/>
              </a:rPr>
              <a:t>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α</a:t>
            </a:r>
            <a:r>
              <a:rPr lang="en-US" sz="1200" kern="1200" dirty="0">
                <a:solidFill>
                  <a:schemeClr val="tx1"/>
                </a:solidFill>
                <a:effectLst/>
                <a:latin typeface="+mn-lt"/>
                <a:ea typeface="+mn-ea"/>
                <a:cs typeface="+mn-cs"/>
              </a:rPr>
              <a:t>1</a:t>
            </a:r>
            <a:r>
              <a:rPr lang="en-US" dirty="0">
                <a:effectLst/>
              </a:rPr>
              <a:t> helix, which provided the high-resolution evidence needed to match the density to the N-terminal sequence of CDH1 (residues 1–19) rather than APC1.</a:t>
            </a:r>
          </a:p>
          <a:p>
            <a:r>
              <a:rPr lang="en-US" dirty="0">
                <a:effectLst/>
              </a:rPr>
              <a:t>• </a:t>
            </a:r>
            <a:r>
              <a:rPr lang="en-US" b="1" dirty="0">
                <a:effectLst/>
              </a:rPr>
              <a:t>Figure 2e:</a:t>
            </a:r>
            <a:r>
              <a:rPr lang="en-US" dirty="0">
                <a:effectLst/>
              </a:rPr>
              <a:t> This shows a </a:t>
            </a:r>
            <a:r>
              <a:rPr lang="en-US" b="1" dirty="0">
                <a:effectLst/>
              </a:rPr>
              <a:t>superimposition</a:t>
            </a:r>
            <a:r>
              <a:rPr lang="en-US" dirty="0">
                <a:effectLst/>
              </a:rPr>
              <a:t> of the </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EMI</a:t>
            </a:r>
            <a:r>
              <a:rPr lang="en-US" sz="1200" kern="1200" dirty="0">
                <a:solidFill>
                  <a:schemeClr val="tx1"/>
                </a:solidFill>
                <a:effectLst/>
                <a:latin typeface="+mn-lt"/>
                <a:ea typeface="+mn-ea"/>
                <a:cs typeface="+mn-cs"/>
              </a:rPr>
              <a:t>1</a:t>
            </a:r>
            <a:r>
              <a:rPr lang="en-US" dirty="0">
                <a:effectLst/>
              </a:rPr>
              <a:t> complex onto the apo-APC/C structure, illustrating how the </a:t>
            </a:r>
            <a:r>
              <a:rPr lang="en-US" sz="1200" i="1" kern="1200" dirty="0">
                <a:solidFill>
                  <a:schemeClr val="tx1"/>
                </a:solidFill>
                <a:effectLst/>
                <a:latin typeface="+mn-lt"/>
                <a:ea typeface="+mn-ea"/>
                <a:cs typeface="+mn-cs"/>
              </a:rPr>
              <a:t>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α</a:t>
            </a:r>
            <a:r>
              <a:rPr lang="en-US" sz="1200" kern="1200" dirty="0">
                <a:solidFill>
                  <a:schemeClr val="tx1"/>
                </a:solidFill>
                <a:effectLst/>
                <a:latin typeface="+mn-lt"/>
                <a:ea typeface="+mn-ea"/>
                <a:cs typeface="+mn-cs"/>
              </a:rPr>
              <a:t>1</a:t>
            </a:r>
            <a:r>
              <a:rPr lang="en-US" dirty="0">
                <a:effectLst/>
              </a:rPr>
              <a:t> helix physically overlaps with and </a:t>
            </a:r>
            <a:r>
              <a:rPr lang="en-US" b="1" dirty="0">
                <a:effectLst/>
              </a:rPr>
              <a:t>displaces the </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1300</a:t>
            </a:r>
            <a:r>
              <a:rPr lang="en-US" sz="1200" i="1" kern="1200" dirty="0">
                <a:solidFill>
                  <a:schemeClr val="tx1"/>
                </a:solidFill>
                <a:effectLst/>
                <a:latin typeface="+mn-lt"/>
                <a:ea typeface="+mn-ea"/>
                <a:cs typeface="+mn-cs"/>
              </a:rPr>
              <a:t>s</a:t>
            </a:r>
            <a:r>
              <a:rPr lang="en-US" b="1" dirty="0">
                <a:effectLst/>
              </a:rPr>
              <a:t> loop</a:t>
            </a:r>
            <a:r>
              <a:rPr lang="en-US" dirty="0">
                <a:effectLst/>
              </a:rPr>
              <a:t> (the auto-inhibitory segment)</a:t>
            </a:r>
          </a:p>
          <a:p>
            <a:endParaRPr lang="en-US" dirty="0"/>
          </a:p>
        </p:txBody>
      </p:sp>
      <p:sp>
        <p:nvSpPr>
          <p:cNvPr id="4" name="Slide Number Placeholder 3"/>
          <p:cNvSpPr>
            <a:spLocks noGrp="1"/>
          </p:cNvSpPr>
          <p:nvPr>
            <p:ph type="sldNum" sz="quarter" idx="5"/>
          </p:nvPr>
        </p:nvSpPr>
        <p:spPr/>
        <p:txBody>
          <a:bodyPr/>
          <a:lstStyle/>
          <a:p>
            <a:fld id="{2969AC09-DF60-43F4-96BF-67D4D9A74094}" type="slidenum">
              <a:rPr lang="de-DE" smtClean="0"/>
              <a:t>8</a:t>
            </a:fld>
            <a:endParaRPr lang="de-DE"/>
          </a:p>
        </p:txBody>
      </p:sp>
    </p:spTree>
    <p:extLst>
      <p:ext uri="{BB962C8B-B14F-4D97-AF65-F5344CB8AC3E}">
        <p14:creationId xmlns:p14="http://schemas.microsoft.com/office/powerpoint/2010/main" val="3907452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Conservation:</a:t>
            </a:r>
            <a:r>
              <a:rPr lang="en-US" sz="1200" b="0" i="0" kern="1200" dirty="0">
                <a:solidFill>
                  <a:schemeClr val="tx1"/>
                </a:solidFill>
                <a:effectLst/>
                <a:latin typeface="+mn-lt"/>
                <a:ea typeface="+mn-ea"/>
                <a:cs typeface="+mn-cs"/>
              </a:rPr>
              <a:t> This feature is </a:t>
            </a:r>
            <a:r>
              <a:rPr lang="en-US" sz="1200" b="1" i="0" kern="1200" dirty="0">
                <a:solidFill>
                  <a:schemeClr val="tx1"/>
                </a:solidFill>
                <a:effectLst/>
                <a:latin typeface="+mn-lt"/>
                <a:ea typeface="+mn-ea"/>
                <a:cs typeface="+mn-cs"/>
              </a:rPr>
              <a:t>absolutely conserved across metazoans</a:t>
            </a:r>
            <a:r>
              <a:rPr lang="en-US" sz="1200" b="0" i="0" kern="1200" dirty="0">
                <a:solidFill>
                  <a:schemeClr val="tx1"/>
                </a:solidFill>
                <a:effectLst/>
                <a:latin typeface="+mn-lt"/>
                <a:ea typeface="+mn-ea"/>
                <a:cs typeface="+mn-cs"/>
              </a:rPr>
              <a:t> (from humans to </a:t>
            </a:r>
            <a:r>
              <a:rPr lang="en-US" sz="1200" b="0" i="1" kern="1200" dirty="0">
                <a:solidFill>
                  <a:schemeClr val="tx1"/>
                </a:solidFill>
                <a:effectLst/>
                <a:latin typeface="+mn-lt"/>
                <a:ea typeface="+mn-ea"/>
                <a:cs typeface="+mn-cs"/>
              </a:rPr>
              <a:t>C. elegans</a:t>
            </a:r>
            <a:r>
              <a:rPr lang="en-US" sz="1200" b="0" i="0" kern="1200" dirty="0">
                <a:solidFill>
                  <a:schemeClr val="tx1"/>
                </a:solidFill>
                <a:effectLst/>
                <a:latin typeface="+mn-lt"/>
                <a:ea typeface="+mn-ea"/>
                <a:cs typeface="+mn-cs"/>
              </a:rPr>
              <a:t>) but is notably </a:t>
            </a:r>
            <a:r>
              <a:rPr lang="en-US" sz="1200" b="1" i="0" kern="1200" dirty="0">
                <a:solidFill>
                  <a:schemeClr val="tx1"/>
                </a:solidFill>
                <a:effectLst/>
                <a:latin typeface="+mn-lt"/>
                <a:ea typeface="+mn-ea"/>
                <a:cs typeface="+mn-cs"/>
              </a:rPr>
              <a:t>absent in budding yeast</a:t>
            </a:r>
            <a:r>
              <a:rPr lang="en-US" sz="1200" b="0" i="0" kern="1200" dirty="0">
                <a:solidFill>
                  <a:schemeClr val="tx1"/>
                </a:solidFill>
                <a:effectLst/>
                <a:latin typeface="+mn-lt"/>
                <a:ea typeface="+mn-ea"/>
                <a:cs typeface="+mn-cs"/>
              </a:rPr>
              <a:t>, suggesting it is an evolved structural stabilizer for higher organisms</a:t>
            </a:r>
          </a:p>
          <a:p>
            <a:r>
              <a:rPr lang="en-US" b="1" dirty="0">
                <a:effectLst/>
              </a:rPr>
              <a:t>How it was discovered:</a:t>
            </a:r>
            <a:endParaRPr lang="en-US" dirty="0">
              <a:effectLst/>
            </a:endParaRPr>
          </a:p>
          <a:p>
            <a:r>
              <a:rPr lang="en-US" dirty="0">
                <a:effectLst/>
              </a:rPr>
              <a:t>• </a:t>
            </a:r>
            <a:r>
              <a:rPr lang="en-US" b="1" dirty="0">
                <a:effectLst/>
              </a:rPr>
              <a:t>High-Resolution Cryo-EM:</a:t>
            </a:r>
            <a:r>
              <a:rPr lang="en-US" dirty="0">
                <a:effectLst/>
              </a:rPr>
              <a:t> Using advanced </a:t>
            </a:r>
            <a:r>
              <a:rPr lang="en-US" b="1" dirty="0">
                <a:effectLst/>
              </a:rPr>
              <a:t>2.9 Å resolution maps</a:t>
            </a:r>
            <a:r>
              <a:rPr lang="en-US" dirty="0">
                <a:effectLst/>
              </a:rPr>
              <a:t>, the team observed well-defined electron density for the module, which had been previously built as an unassigned poly-alanine chain in lower-resolution models.</a:t>
            </a:r>
          </a:p>
          <a:p>
            <a:r>
              <a:rPr lang="en-US" dirty="0">
                <a:effectLst/>
              </a:rPr>
              <a:t>• </a:t>
            </a:r>
            <a:r>
              <a:rPr lang="en-US" b="1" dirty="0">
                <a:effectLst/>
              </a:rPr>
              <a:t>Computational Prediction:</a:t>
            </a:r>
            <a:r>
              <a:rPr lang="en-US" dirty="0">
                <a:effectLst/>
              </a:rPr>
              <a:t> </a:t>
            </a:r>
            <a:r>
              <a:rPr lang="en-US" b="1" dirty="0">
                <a:effectLst/>
              </a:rPr>
              <a:t>AlphaFold2 models</a:t>
            </a:r>
            <a:r>
              <a:rPr lang="en-US" dirty="0">
                <a:effectLst/>
              </a:rPr>
              <a:t> of human APC2 independently predicted the existence and fold of this zinc-binding module, which perfectly matched the experimental cryo-EM density.</a:t>
            </a:r>
          </a:p>
          <a:p>
            <a:r>
              <a:rPr lang="en-US" dirty="0">
                <a:effectLst/>
              </a:rPr>
              <a:t>• </a:t>
            </a:r>
            <a:r>
              <a:rPr lang="en-US" b="1" dirty="0">
                <a:effectLst/>
              </a:rPr>
              <a:t>Experimental Validation (PIXE):</a:t>
            </a:r>
            <a:r>
              <a:rPr lang="en-US" dirty="0">
                <a:effectLst/>
              </a:rPr>
              <a:t> The presence of zinc was confirmed using </a:t>
            </a:r>
            <a:r>
              <a:rPr lang="en-US" b="1" dirty="0">
                <a:effectLst/>
              </a:rPr>
              <a:t>proton-induced X-ray emission (PIXE) spectroscopy</a:t>
            </a:r>
            <a:r>
              <a:rPr lang="en-US" dirty="0">
                <a:effectLst/>
              </a:rPr>
              <a:t>, which detected approximately two zinc ions per APC2:APC11 complex.</a:t>
            </a:r>
          </a:p>
          <a:p>
            <a:r>
              <a:rPr lang="en-US" dirty="0">
                <a:effectLst/>
              </a:rPr>
              <a:t>• </a:t>
            </a:r>
            <a:r>
              <a:rPr lang="en-US" b="1" dirty="0">
                <a:effectLst/>
              </a:rPr>
              <a:t>Mutagenesis:</a:t>
            </a:r>
            <a:r>
              <a:rPr lang="en-US" dirty="0">
                <a:effectLst/>
              </a:rPr>
              <a:t> Researchers created a </a:t>
            </a:r>
            <a:r>
              <a:rPr lang="en-US" b="1" dirty="0">
                <a:effectLst/>
              </a:rPr>
              <a:t>mutant (</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2Δ</a:t>
            </a:r>
            <a:r>
              <a:rPr lang="en-US" sz="1200" i="1" kern="1200" dirty="0">
                <a:solidFill>
                  <a:schemeClr val="tx1"/>
                </a:solidFill>
                <a:effectLst/>
                <a:latin typeface="+mn-lt"/>
                <a:ea typeface="+mn-ea"/>
                <a:cs typeface="+mn-cs"/>
              </a:rPr>
              <a:t>ZBM</a:t>
            </a:r>
            <a:r>
              <a:rPr lang="en-US" b="1" dirty="0">
                <a:effectLst/>
              </a:rPr>
              <a:t>)</a:t>
            </a:r>
            <a:r>
              <a:rPr lang="en-US" dirty="0">
                <a:effectLst/>
              </a:rPr>
              <a:t> by swapping the four coordinating cysteines for </a:t>
            </a:r>
            <a:r>
              <a:rPr lang="en-US" dirty="0" err="1">
                <a:effectLst/>
              </a:rPr>
              <a:t>alanines</a:t>
            </a:r>
            <a:r>
              <a:rPr lang="en-US" dirty="0">
                <a:effectLst/>
              </a:rPr>
              <a:t>; PIXE analysis showed this mutant </a:t>
            </a:r>
            <a:r>
              <a:rPr lang="en-US" b="1" dirty="0">
                <a:effectLst/>
              </a:rPr>
              <a:t>lost its zinc content</a:t>
            </a:r>
            <a:r>
              <a:rPr lang="en-US" dirty="0">
                <a:effectLst/>
              </a:rPr>
              <a:t>, proving those specific residues are responsible for binding the metal ion</a:t>
            </a:r>
          </a:p>
          <a:p>
            <a:endParaRPr lang="en-US" dirty="0"/>
          </a:p>
        </p:txBody>
      </p:sp>
      <p:sp>
        <p:nvSpPr>
          <p:cNvPr id="4" name="Slide Number Placeholder 3"/>
          <p:cNvSpPr>
            <a:spLocks noGrp="1"/>
          </p:cNvSpPr>
          <p:nvPr>
            <p:ph type="sldNum" sz="quarter" idx="5"/>
          </p:nvPr>
        </p:nvSpPr>
        <p:spPr/>
        <p:txBody>
          <a:bodyPr/>
          <a:lstStyle/>
          <a:p>
            <a:fld id="{2969AC09-DF60-43F4-96BF-67D4D9A74094}" type="slidenum">
              <a:rPr lang="de-DE" smtClean="0"/>
              <a:t>9</a:t>
            </a:fld>
            <a:endParaRPr lang="de-DE"/>
          </a:p>
        </p:txBody>
      </p:sp>
    </p:spTree>
    <p:extLst>
      <p:ext uri="{BB962C8B-B14F-4D97-AF65-F5344CB8AC3E}">
        <p14:creationId xmlns:p14="http://schemas.microsoft.com/office/powerpoint/2010/main" val="3697268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 </a:t>
            </a:r>
            <a:r>
              <a:rPr lang="en-US" b="1" dirty="0">
                <a:effectLst/>
              </a:rPr>
              <a:t>Pseudo-substrate Mimicry (Degron Receptor Blockade)</a:t>
            </a:r>
            <a:endParaRPr lang="en-US" dirty="0">
              <a:effectLst/>
            </a:endParaRPr>
          </a:p>
          <a:p>
            <a:r>
              <a:rPr lang="en-US" dirty="0">
                <a:effectLst/>
              </a:rPr>
              <a:t>    ◦ </a:t>
            </a:r>
            <a:r>
              <a:rPr lang="en-US" b="1" dirty="0">
                <a:effectLst/>
              </a:rPr>
              <a:t>KEN-box Blockade:</a:t>
            </a:r>
            <a:r>
              <a:rPr lang="en-US" dirty="0">
                <a:effectLst/>
              </a:rPr>
              <a:t> EMI1 uses a consensus </a:t>
            </a:r>
            <a:r>
              <a:rPr lang="en-US" b="1" dirty="0">
                <a:effectLst/>
              </a:rPr>
              <a:t>KEN-motif</a:t>
            </a:r>
            <a:r>
              <a:rPr lang="en-US" dirty="0">
                <a:effectLst/>
              </a:rPr>
              <a:t> (residues 117–121) to bind the receptor on the </a:t>
            </a:r>
            <a:r>
              <a:rPr lang="en-US" sz="1200" i="1" kern="1200" dirty="0">
                <a:solidFill>
                  <a:schemeClr val="tx1"/>
                </a:solidFill>
                <a:effectLst/>
                <a:latin typeface="+mn-lt"/>
                <a:ea typeface="+mn-ea"/>
                <a:cs typeface="+mn-cs"/>
              </a:rPr>
              <a:t>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WD</a:t>
            </a:r>
            <a:r>
              <a:rPr lang="en-US" sz="1200" kern="1200" dirty="0">
                <a:solidFill>
                  <a:schemeClr val="tx1"/>
                </a:solidFill>
                <a:effectLst/>
                <a:latin typeface="+mn-lt"/>
                <a:ea typeface="+mn-ea"/>
                <a:cs typeface="+mn-cs"/>
              </a:rPr>
              <a:t>40</a:t>
            </a:r>
            <a:r>
              <a:rPr lang="en-US" b="1" dirty="0">
                <a:effectLst/>
              </a:rPr>
              <a:t> domain</a:t>
            </a:r>
            <a:r>
              <a:rPr lang="en-US" dirty="0">
                <a:effectLst/>
              </a:rPr>
              <a:t>, preventing the recruitment of other KEN-box substrates.</a:t>
            </a:r>
          </a:p>
          <a:p>
            <a:r>
              <a:rPr lang="en-US" dirty="0">
                <a:effectLst/>
              </a:rPr>
              <a:t>    ◦ </a:t>
            </a:r>
            <a:r>
              <a:rPr lang="en-US" b="1" dirty="0">
                <a:effectLst/>
              </a:rPr>
              <a:t>D-box Blockade:</a:t>
            </a:r>
            <a:r>
              <a:rPr lang="en-US" dirty="0">
                <a:effectLst/>
              </a:rPr>
              <a:t> A pseudo-substrate </a:t>
            </a:r>
            <a:r>
              <a:rPr lang="en-US" b="1" dirty="0">
                <a:effectLst/>
              </a:rPr>
              <a:t>D-box sequence</a:t>
            </a:r>
            <a:r>
              <a:rPr lang="en-US" dirty="0">
                <a:effectLst/>
              </a:rPr>
              <a:t> in EMI1 (residues 322–330) blocks the D-box co-receptor site on the APC/C.</a:t>
            </a:r>
          </a:p>
          <a:p>
            <a:r>
              <a:rPr lang="en-US" dirty="0">
                <a:effectLst/>
              </a:rPr>
              <a:t>• </a:t>
            </a:r>
            <a:r>
              <a:rPr lang="en-US" b="1" dirty="0">
                <a:effectLst/>
              </a:rPr>
              <a:t>Physical Blockage of E2 Enzymes (Steric Hindrance)</a:t>
            </a:r>
            <a:endParaRPr lang="en-US" dirty="0">
              <a:effectLst/>
            </a:endParaRPr>
          </a:p>
          <a:p>
            <a:r>
              <a:rPr lang="en-US" dirty="0">
                <a:effectLst/>
              </a:rPr>
              <a:t>    ◦ </a:t>
            </a:r>
            <a:r>
              <a:rPr lang="en-US" b="1" dirty="0">
                <a:effectLst/>
              </a:rPr>
              <a:t>Inhibiting Ubiquitin Initiation:</a:t>
            </a:r>
            <a:r>
              <a:rPr lang="en-US" dirty="0">
                <a:effectLst/>
              </a:rPr>
              <a:t> The </a:t>
            </a:r>
            <a:r>
              <a:rPr lang="en-US" b="1" dirty="0">
                <a:effectLst/>
              </a:rPr>
              <a:t>Zinc-Binding Region (</a:t>
            </a:r>
            <a:r>
              <a:rPr lang="en-US" sz="1200" i="1" kern="1200" dirty="0">
                <a:solidFill>
                  <a:schemeClr val="tx1"/>
                </a:solidFill>
                <a:effectLst/>
                <a:latin typeface="+mn-lt"/>
                <a:ea typeface="+mn-ea"/>
                <a:cs typeface="+mn-cs"/>
              </a:rPr>
              <a:t>EMI</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ZBR</a:t>
            </a:r>
            <a:r>
              <a:rPr lang="en-US" b="1" dirty="0">
                <a:effectLst/>
              </a:rPr>
              <a:t>)</a:t>
            </a:r>
            <a:r>
              <a:rPr lang="en-US" dirty="0">
                <a:effectLst/>
              </a:rPr>
              <a:t> binds to the </a:t>
            </a:r>
            <a:r>
              <a:rPr lang="en-US" b="1" dirty="0">
                <a:effectLst/>
              </a:rPr>
              <a:t>APC11 RING domain</a:t>
            </a:r>
            <a:r>
              <a:rPr lang="en-US" dirty="0">
                <a:effectLst/>
              </a:rPr>
              <a:t>, physically obstructing the E2 enzyme </a:t>
            </a:r>
            <a:r>
              <a:rPr lang="en-US" b="1" dirty="0">
                <a:effectLst/>
              </a:rPr>
              <a:t>UBCH10 (UBE2C)</a:t>
            </a:r>
            <a:r>
              <a:rPr lang="en-US" dirty="0">
                <a:effectLst/>
              </a:rPr>
              <a:t> from binding the catalytic core.</a:t>
            </a:r>
          </a:p>
          <a:p>
            <a:r>
              <a:rPr lang="en-US" dirty="0">
                <a:effectLst/>
              </a:rPr>
              <a:t>    ◦ </a:t>
            </a:r>
            <a:r>
              <a:rPr lang="en-US" b="1" dirty="0">
                <a:effectLst/>
              </a:rPr>
              <a:t>Blocking Chain Elongation:</a:t>
            </a:r>
            <a:r>
              <a:rPr lang="en-US" dirty="0">
                <a:effectLst/>
              </a:rPr>
              <a:t> EMI1’s C-terminal </a:t>
            </a:r>
            <a:r>
              <a:rPr lang="en-US" b="1" dirty="0">
                <a:effectLst/>
              </a:rPr>
              <a:t>LRRL motif</a:t>
            </a:r>
            <a:r>
              <a:rPr lang="en-US" dirty="0">
                <a:effectLst/>
              </a:rPr>
              <a:t> (residues 433–447) is identical to the C-terminus of the E2 enzyme </a:t>
            </a:r>
            <a:r>
              <a:rPr lang="en-US" b="1" dirty="0">
                <a:effectLst/>
              </a:rPr>
              <a:t>UBE2S</a:t>
            </a:r>
            <a:r>
              <a:rPr lang="en-US" dirty="0">
                <a:effectLst/>
              </a:rPr>
              <a:t>.</a:t>
            </a:r>
          </a:p>
          <a:p>
            <a:r>
              <a:rPr lang="en-US" dirty="0">
                <a:effectLst/>
              </a:rPr>
              <a:t>    ◦ </a:t>
            </a:r>
            <a:r>
              <a:rPr lang="en-US" b="1" dirty="0">
                <a:effectLst/>
              </a:rPr>
              <a:t>Direct Competition:</a:t>
            </a:r>
            <a:r>
              <a:rPr lang="en-US" dirty="0">
                <a:effectLst/>
              </a:rPr>
              <a:t> EMI1 competes with UBE2S for the same binding site at the </a:t>
            </a:r>
            <a:r>
              <a:rPr lang="en-US" b="1" dirty="0">
                <a:effectLst/>
              </a:rPr>
              <a:t>APC2:APC4 interface</a:t>
            </a:r>
            <a:r>
              <a:rPr lang="en-US" dirty="0">
                <a:effectLst/>
              </a:rPr>
              <a:t>, effectively halting the elongation of ubiquitin chain</a:t>
            </a:r>
          </a:p>
          <a:p>
            <a:endParaRPr lang="en-US" dirty="0"/>
          </a:p>
        </p:txBody>
      </p:sp>
      <p:sp>
        <p:nvSpPr>
          <p:cNvPr id="4" name="Slide Number Placeholder 3"/>
          <p:cNvSpPr>
            <a:spLocks noGrp="1"/>
          </p:cNvSpPr>
          <p:nvPr>
            <p:ph type="sldNum" sz="quarter" idx="5"/>
          </p:nvPr>
        </p:nvSpPr>
        <p:spPr/>
        <p:txBody>
          <a:bodyPr/>
          <a:lstStyle/>
          <a:p>
            <a:fld id="{2969AC09-DF60-43F4-96BF-67D4D9A74094}" type="slidenum">
              <a:rPr lang="de-DE" smtClean="0"/>
              <a:t>11</a:t>
            </a:fld>
            <a:endParaRPr lang="de-DE"/>
          </a:p>
        </p:txBody>
      </p:sp>
    </p:spTree>
    <p:extLst>
      <p:ext uri="{BB962C8B-B14F-4D97-AF65-F5344CB8AC3E}">
        <p14:creationId xmlns:p14="http://schemas.microsoft.com/office/powerpoint/2010/main" val="3993002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407B4-F7A7-C0C8-D514-F51858AD3E8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D38BAE-C976-2F82-FA97-9B450CB9C7F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78D5FB6-6AD2-D7A9-1FAB-02C4E0EADF96}"/>
              </a:ext>
            </a:extLst>
          </p:cNvPr>
          <p:cNvSpPr>
            <a:spLocks noGrp="1"/>
          </p:cNvSpPr>
          <p:nvPr>
            <p:ph type="body" idx="1"/>
          </p:nvPr>
        </p:nvSpPr>
        <p:spPr/>
        <p:txBody>
          <a:bodyPr/>
          <a:lstStyle/>
          <a:p>
            <a:r>
              <a:rPr lang="en-US" b="1"/>
              <a:t>Today we are going to talk about synthetic biology and pattern formation. </a:t>
            </a:r>
          </a:p>
          <a:p>
            <a:r>
              <a:rPr lang="en-US" b="1"/>
              <a:t>Lets start with pattern formation.</a:t>
            </a:r>
            <a:endParaRPr lang="en-US"/>
          </a:p>
          <a:p>
            <a:pPr>
              <a:buFont typeface="Arial" panose="020B0604020202020204" pitchFamily="34" charset="0"/>
              <a:buChar char="•"/>
            </a:pPr>
            <a:r>
              <a:rPr lang="en-US"/>
              <a:t>A hallmark of coordinated cell behavior in single and multicellular organisms.</a:t>
            </a:r>
          </a:p>
          <a:p>
            <a:pPr>
              <a:buFont typeface="Arial" panose="020B0604020202020204" pitchFamily="34" charset="0"/>
              <a:buChar char="•"/>
            </a:pPr>
            <a:r>
              <a:rPr lang="en-US"/>
              <a:t>Relies on </a:t>
            </a:r>
            <a:r>
              <a:rPr lang="en-US" b="1"/>
              <a:t>cell-cell communication</a:t>
            </a:r>
            <a:r>
              <a:rPr lang="en-US"/>
              <a:t> and </a:t>
            </a:r>
            <a:r>
              <a:rPr lang="en-US" b="1"/>
              <a:t>intracellular signaling</a:t>
            </a:r>
            <a:r>
              <a:rPr lang="en-US"/>
              <a:t> to create organized spatial structures.</a:t>
            </a:r>
          </a:p>
          <a:p>
            <a:pPr>
              <a:buFont typeface="Arial" panose="020B0604020202020204" pitchFamily="34" charset="0"/>
              <a:buChar char="•"/>
            </a:pPr>
            <a:r>
              <a:rPr lang="en-US"/>
              <a:t>Everybody knows what a pattern is, but to show you a naturally occurring one, that is also resembling the goal pattern of today, I choose this one ( rings from tree)</a:t>
            </a:r>
          </a:p>
          <a:p>
            <a:pPr>
              <a:buFont typeface="Arial" panose="020B0604020202020204" pitchFamily="34" charset="0"/>
              <a:buChar char="•"/>
            </a:pPr>
            <a:r>
              <a:rPr lang="en-US"/>
              <a:t>Today the main goal is to create such pattern on a petri dish by using genetically modified e. coli.</a:t>
            </a:r>
          </a:p>
        </p:txBody>
      </p:sp>
      <p:sp>
        <p:nvSpPr>
          <p:cNvPr id="4" name="Foliennummernplatzhalter 3">
            <a:extLst>
              <a:ext uri="{FF2B5EF4-FFF2-40B4-BE49-F238E27FC236}">
                <a16:creationId xmlns:a16="http://schemas.microsoft.com/office/drawing/2014/main" id="{7C27976C-EF66-3875-FB20-0653A8D389E3}"/>
              </a:ext>
            </a:extLst>
          </p:cNvPr>
          <p:cNvSpPr>
            <a:spLocks noGrp="1"/>
          </p:cNvSpPr>
          <p:nvPr>
            <p:ph type="sldNum" sz="quarter" idx="5"/>
          </p:nvPr>
        </p:nvSpPr>
        <p:spPr/>
        <p:txBody>
          <a:bodyPr/>
          <a:lstStyle/>
          <a:p>
            <a:fld id="{2969AC09-DF60-43F4-96BF-67D4D9A74094}" type="slidenum">
              <a:rPr lang="de-DE" smtClean="0"/>
              <a:t>13</a:t>
            </a:fld>
            <a:endParaRPr lang="de-DE"/>
          </a:p>
        </p:txBody>
      </p:sp>
    </p:spTree>
    <p:extLst>
      <p:ext uri="{BB962C8B-B14F-4D97-AF65-F5344CB8AC3E}">
        <p14:creationId xmlns:p14="http://schemas.microsoft.com/office/powerpoint/2010/main" val="3195018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DFB01-2A28-FEB2-9D9F-8EF02007102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13EAA60-2EB6-4C7F-39F6-9CB01632E54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89A0510-5375-D8B9-831D-1D1E26AFAAC9}"/>
              </a:ext>
            </a:extLst>
          </p:cNvPr>
          <p:cNvSpPr>
            <a:spLocks noGrp="1"/>
          </p:cNvSpPr>
          <p:nvPr>
            <p:ph type="body" idx="1"/>
          </p:nvPr>
        </p:nvSpPr>
        <p:spPr/>
        <p:txBody>
          <a:bodyPr/>
          <a:lstStyle/>
          <a:p>
            <a:r>
              <a:rPr lang="en-US" dirty="0">
                <a:effectLst/>
              </a:rPr>
              <a:t>MotionCor2</a:t>
            </a:r>
          </a:p>
          <a:p>
            <a:r>
              <a:rPr lang="en-US" b="1" dirty="0">
                <a:effectLst/>
              </a:rPr>
              <a:t>MotionCor2</a:t>
            </a:r>
            <a:r>
              <a:rPr lang="en-US" dirty="0">
                <a:effectLst/>
              </a:rPr>
              <a:t> is a software tool used for </a:t>
            </a:r>
            <a:r>
              <a:rPr lang="en-US" b="1" dirty="0">
                <a:effectLst/>
              </a:rPr>
              <a:t>motion-correction</a:t>
            </a:r>
            <a:r>
              <a:rPr lang="en-US" dirty="0">
                <a:effectLst/>
              </a:rPr>
              <a:t> of the "movies" (sets of frames) captured by the electron detector. When an electron beam hits a vitrified sample, it causes the sample to move slightly; MotionCor2 performs an </a:t>
            </a:r>
            <a:r>
              <a:rPr lang="en-US" b="1" dirty="0">
                <a:effectLst/>
              </a:rPr>
              <a:t>anisotropic correction of this beam-induced motion</a:t>
            </a:r>
            <a:r>
              <a:rPr lang="en-US" dirty="0">
                <a:effectLst/>
              </a:rPr>
              <a:t>, essentially aligning the frames to remove blur and preserve high-resolution detail.</a:t>
            </a:r>
          </a:p>
          <a:p>
            <a:r>
              <a:rPr lang="en-US" dirty="0">
                <a:effectLst/>
              </a:rPr>
              <a:t>CTF (Contrast Transfer Function)</a:t>
            </a:r>
          </a:p>
          <a:p>
            <a:endParaRPr lang="en-US" dirty="0">
              <a:effectLst/>
            </a:endParaRPr>
          </a:p>
          <a:p>
            <a:r>
              <a:rPr lang="en-US" b="1" dirty="0">
                <a:effectLst/>
              </a:rPr>
              <a:t>CTF estimation</a:t>
            </a:r>
            <a:r>
              <a:rPr lang="en-US" dirty="0">
                <a:effectLst/>
              </a:rPr>
              <a:t> is a mathematical process used to determine and refine parameters related to the physics of the microscope's lens system. The researchers used </a:t>
            </a:r>
            <a:r>
              <a:rPr lang="en-US" b="1" dirty="0">
                <a:effectLst/>
              </a:rPr>
              <a:t>patch-based CTF estimation</a:t>
            </a:r>
            <a:r>
              <a:rPr lang="en-US" dirty="0">
                <a:effectLst/>
              </a:rPr>
              <a:t> to account for variations across the image. Accurately estimating the CTF is vital for correcting image distortions caused by the microscope, allowing the researchers to achieve the precise </a:t>
            </a:r>
            <a:r>
              <a:rPr lang="en-US" b="1" dirty="0">
                <a:effectLst/>
              </a:rPr>
              <a:t>2.9 Å and 3.2 Å resolutions</a:t>
            </a:r>
            <a:r>
              <a:rPr lang="en-US" dirty="0">
                <a:effectLst/>
              </a:rPr>
              <a:t> reported in the study</a:t>
            </a:r>
          </a:p>
          <a:p>
            <a:endParaRPr lang="en-US" dirty="0">
              <a:effectLst/>
            </a:endParaRPr>
          </a:p>
          <a:p>
            <a:r>
              <a:rPr lang="en-US" dirty="0">
                <a:effectLst/>
              </a:rPr>
              <a:t>Topaz</a:t>
            </a:r>
          </a:p>
          <a:p>
            <a:r>
              <a:rPr lang="en-US" b="1" dirty="0">
                <a:effectLst/>
              </a:rPr>
              <a:t>Topaz</a:t>
            </a:r>
            <a:r>
              <a:rPr lang="en-US" dirty="0">
                <a:effectLst/>
              </a:rPr>
              <a:t> is an AI-driven tool—specifically a </a:t>
            </a:r>
            <a:r>
              <a:rPr lang="en-US" b="1" dirty="0">
                <a:effectLst/>
              </a:rPr>
              <a:t>positive-unlabeled convolutional neural network</a:t>
            </a:r>
            <a:r>
              <a:rPr lang="en-US" dirty="0">
                <a:effectLst/>
              </a:rPr>
              <a:t>—used for </a:t>
            </a:r>
            <a:r>
              <a:rPr lang="en-US" b="1" dirty="0">
                <a:effectLst/>
              </a:rPr>
              <a:t>automated particle picking</a:t>
            </a:r>
            <a:r>
              <a:rPr lang="en-US" dirty="0">
                <a:effectLst/>
              </a:rPr>
              <a:t>.</a:t>
            </a:r>
          </a:p>
          <a:p>
            <a:r>
              <a:rPr lang="en-US" dirty="0">
                <a:effectLst/>
              </a:rPr>
              <a:t>• </a:t>
            </a:r>
            <a:r>
              <a:rPr lang="en-US" b="1" dirty="0">
                <a:effectLst/>
              </a:rPr>
              <a:t>How it was used:</a:t>
            </a:r>
            <a:r>
              <a:rPr lang="en-US" dirty="0">
                <a:effectLst/>
              </a:rPr>
              <a:t> The researchers first manually identified (picked) particles of the APC/C complex in a small subset of images.</a:t>
            </a:r>
          </a:p>
          <a:p>
            <a:r>
              <a:rPr lang="en-US" dirty="0">
                <a:effectLst/>
              </a:rPr>
              <a:t>• </a:t>
            </a:r>
            <a:r>
              <a:rPr lang="en-US" b="1" dirty="0">
                <a:effectLst/>
              </a:rPr>
              <a:t>The Result:</a:t>
            </a:r>
            <a:r>
              <a:rPr lang="en-US" dirty="0">
                <a:effectLst/>
              </a:rPr>
              <a:t> They used those manual picks to train the Topaz neural network, which then automatically identified and extracted the APC/C particles from the thousands of remaining micrographs in the entire data set</a:t>
            </a:r>
          </a:p>
          <a:p>
            <a:endParaRPr lang="en-US" dirty="0">
              <a:effectLst/>
            </a:endParaRPr>
          </a:p>
          <a:p>
            <a:r>
              <a:rPr lang="en-US" dirty="0">
                <a:effectLst/>
              </a:rPr>
              <a:t>1. Presence of Binding Partners</a:t>
            </a:r>
          </a:p>
          <a:p>
            <a:r>
              <a:rPr lang="en-US" dirty="0">
                <a:effectLst/>
              </a:rPr>
              <a:t>• </a:t>
            </a:r>
            <a:r>
              <a:rPr lang="en-US" b="1" dirty="0">
                <a:effectLst/>
              </a:rPr>
              <a:t>Apo-APC/C:</a:t>
            </a:r>
            <a:r>
              <a:rPr lang="en-US" dirty="0">
                <a:effectLst/>
              </a:rPr>
              <a:t> This is the "naked" or baseline state of the complex. It is defined as the APC/C </a:t>
            </a:r>
            <a:r>
              <a:rPr lang="en-US" b="1" dirty="0">
                <a:effectLst/>
              </a:rPr>
              <a:t>without its coactivator (CDH1) or its inhibitor (EMI1)</a:t>
            </a:r>
            <a:r>
              <a:rPr lang="en-US" dirty="0">
                <a:effectLst/>
              </a:rPr>
              <a:t>.</a:t>
            </a:r>
          </a:p>
          <a:p>
            <a:r>
              <a:rPr lang="en-US" dirty="0">
                <a:effectLst/>
              </a:rPr>
              <a:t>• </a:t>
            </a:r>
            <a:r>
              <a:rPr lang="en-US" b="1" dirty="0">
                <a:effectLst/>
              </a:rPr>
              <a:t>Human </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EMI</a:t>
            </a:r>
            <a:r>
              <a:rPr lang="en-US" sz="1200" kern="1200" dirty="0">
                <a:solidFill>
                  <a:schemeClr val="tx1"/>
                </a:solidFill>
                <a:effectLst/>
                <a:latin typeface="+mn-lt"/>
                <a:ea typeface="+mn-ea"/>
                <a:cs typeface="+mn-cs"/>
              </a:rPr>
              <a:t>1</a:t>
            </a:r>
            <a:r>
              <a:rPr lang="en-US" b="1" dirty="0">
                <a:effectLst/>
              </a:rPr>
              <a:t>:</a:t>
            </a:r>
            <a:r>
              <a:rPr lang="en-US" dirty="0">
                <a:effectLst/>
              </a:rPr>
              <a:t> This is a </a:t>
            </a:r>
            <a:r>
              <a:rPr lang="en-US" b="1" dirty="0">
                <a:effectLst/>
              </a:rPr>
              <a:t>ternary complex</a:t>
            </a:r>
            <a:r>
              <a:rPr lang="en-US" dirty="0">
                <a:effectLst/>
              </a:rPr>
              <a:t>, meaning it consists of the APC/C core bound to both the coactivator </a:t>
            </a:r>
            <a:r>
              <a:rPr lang="en-US" b="1" dirty="0">
                <a:effectLst/>
              </a:rPr>
              <a:t>CDH1</a:t>
            </a:r>
            <a:r>
              <a:rPr lang="en-US" dirty="0">
                <a:effectLst/>
              </a:rPr>
              <a:t> and the early mitotic inhibitor 1 (</a:t>
            </a:r>
            <a:r>
              <a:rPr lang="en-US" b="1" dirty="0">
                <a:effectLst/>
              </a:rPr>
              <a:t>EMI1</a:t>
            </a:r>
            <a:r>
              <a:rPr lang="en-US" dirty="0">
                <a:effectLst/>
              </a:rPr>
              <a:t>).</a:t>
            </a:r>
          </a:p>
          <a:p>
            <a:endParaRPr lang="en-US" dirty="0">
              <a:effectLst/>
            </a:endParaRPr>
          </a:p>
          <a:p>
            <a:endParaRPr lang="en-US" dirty="0">
              <a:effectLst/>
            </a:endParaRPr>
          </a:p>
        </p:txBody>
      </p:sp>
      <p:sp>
        <p:nvSpPr>
          <p:cNvPr id="4" name="Foliennummernplatzhalter 3">
            <a:extLst>
              <a:ext uri="{FF2B5EF4-FFF2-40B4-BE49-F238E27FC236}">
                <a16:creationId xmlns:a16="http://schemas.microsoft.com/office/drawing/2014/main" id="{4BD19240-55E1-24D8-E118-6A94E3AECD85}"/>
              </a:ext>
            </a:extLst>
          </p:cNvPr>
          <p:cNvSpPr>
            <a:spLocks noGrp="1"/>
          </p:cNvSpPr>
          <p:nvPr>
            <p:ph type="sldNum" sz="quarter" idx="5"/>
          </p:nvPr>
        </p:nvSpPr>
        <p:spPr/>
        <p:txBody>
          <a:bodyPr/>
          <a:lstStyle/>
          <a:p>
            <a:fld id="{2969AC09-DF60-43F4-96BF-67D4D9A74094}" type="slidenum">
              <a:rPr lang="de-DE" smtClean="0"/>
              <a:t>14</a:t>
            </a:fld>
            <a:endParaRPr lang="de-DE"/>
          </a:p>
        </p:txBody>
      </p:sp>
    </p:spTree>
    <p:extLst>
      <p:ext uri="{BB962C8B-B14F-4D97-AF65-F5344CB8AC3E}">
        <p14:creationId xmlns:p14="http://schemas.microsoft.com/office/powerpoint/2010/main" val="2146989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2A5AD-997D-D26A-6C0A-20001044756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91B44B8-B174-2BFF-3396-D56A1EEAA72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31E12E1-4387-DB55-FABD-828BD8953579}"/>
              </a:ext>
            </a:extLst>
          </p:cNvPr>
          <p:cNvSpPr>
            <a:spLocks noGrp="1"/>
          </p:cNvSpPr>
          <p:nvPr>
            <p:ph type="body" idx="1"/>
          </p:nvPr>
        </p:nvSpPr>
        <p:spPr/>
        <p:txBody>
          <a:bodyPr/>
          <a:lstStyle/>
          <a:p>
            <a:r>
              <a:rPr lang="en-US" b="1" dirty="0">
                <a:effectLst/>
              </a:rPr>
              <a:t>Chimera (and </a:t>
            </a:r>
            <a:r>
              <a:rPr lang="en-US" b="1" dirty="0" err="1">
                <a:effectLst/>
              </a:rPr>
              <a:t>ChimeraX</a:t>
            </a:r>
            <a:r>
              <a:rPr lang="en-US" b="1" dirty="0">
                <a:effectLst/>
              </a:rPr>
              <a:t>)</a:t>
            </a:r>
            <a:endParaRPr lang="en-US" dirty="0">
              <a:effectLst/>
            </a:endParaRPr>
          </a:p>
          <a:p>
            <a:r>
              <a:rPr lang="en-US" b="1" dirty="0">
                <a:effectLst/>
              </a:rPr>
              <a:t>Chimera</a:t>
            </a:r>
            <a:r>
              <a:rPr lang="en-US" dirty="0">
                <a:effectLst/>
              </a:rPr>
              <a:t> (specifically UCSF Chimera and its successor </a:t>
            </a:r>
            <a:r>
              <a:rPr lang="en-US" b="1" dirty="0" err="1">
                <a:effectLst/>
              </a:rPr>
              <a:t>ChimeraX</a:t>
            </a:r>
            <a:r>
              <a:rPr lang="en-US" dirty="0">
                <a:effectLst/>
              </a:rPr>
              <a:t>) is an integrated system for </a:t>
            </a:r>
            <a:r>
              <a:rPr lang="en-US" b="1" dirty="0">
                <a:effectLst/>
              </a:rPr>
              <a:t>visualizing and analyzing molecular structures</a:t>
            </a:r>
            <a:r>
              <a:rPr lang="en-US" dirty="0">
                <a:effectLst/>
              </a:rPr>
              <a:t>.</a:t>
            </a:r>
          </a:p>
          <a:p>
            <a:r>
              <a:rPr lang="en-US" dirty="0">
                <a:effectLst/>
              </a:rPr>
              <a:t>• </a:t>
            </a:r>
            <a:r>
              <a:rPr lang="en-US" b="1" dirty="0">
                <a:effectLst/>
              </a:rPr>
              <a:t>Initial Fitting:</a:t>
            </a:r>
            <a:r>
              <a:rPr lang="en-US" dirty="0">
                <a:effectLst/>
              </a:rPr>
              <a:t> The researchers used Chimera to take previously known structures (such as PDB: 4UI9) and perform the initial "fitting" of these models into the new, higher-resolution cryo-EM maps.</a:t>
            </a:r>
          </a:p>
          <a:p>
            <a:r>
              <a:rPr lang="en-US" dirty="0">
                <a:effectLst/>
              </a:rPr>
              <a:t>• </a:t>
            </a:r>
            <a:r>
              <a:rPr lang="en-US" b="1" dirty="0">
                <a:effectLst/>
              </a:rPr>
              <a:t>Final Output:</a:t>
            </a:r>
            <a:r>
              <a:rPr lang="en-US" dirty="0">
                <a:effectLst/>
              </a:rPr>
              <a:t> Once the models were complete, the software was used to visualize the density maps and models and to </a:t>
            </a:r>
            <a:r>
              <a:rPr lang="en-US" b="1" dirty="0">
                <a:effectLst/>
              </a:rPr>
              <a:t>generate the figures</a:t>
            </a:r>
            <a:r>
              <a:rPr lang="en-US" dirty="0">
                <a:effectLst/>
              </a:rPr>
              <a:t> seen in the final publication.</a:t>
            </a:r>
          </a:p>
          <a:p>
            <a:r>
              <a:rPr lang="en-US" b="1" dirty="0">
                <a:effectLst/>
              </a:rPr>
              <a:t>COOT</a:t>
            </a:r>
            <a:endParaRPr lang="en-US" dirty="0">
              <a:effectLst/>
            </a:endParaRPr>
          </a:p>
          <a:p>
            <a:r>
              <a:rPr lang="en-US" b="1" dirty="0">
                <a:effectLst/>
              </a:rPr>
              <a:t>COOT</a:t>
            </a:r>
            <a:r>
              <a:rPr lang="en-US" dirty="0">
                <a:effectLst/>
              </a:rPr>
              <a:t> (Crystallographic Object-Oriented Toolkit) is a software package specifically designed for </a:t>
            </a:r>
            <a:r>
              <a:rPr lang="en-US" b="1" dirty="0">
                <a:effectLst/>
              </a:rPr>
              <a:t>manual model building and refinement</a:t>
            </a:r>
            <a:r>
              <a:rPr lang="en-US" dirty="0">
                <a:effectLst/>
              </a:rPr>
              <a:t>.</a:t>
            </a:r>
          </a:p>
          <a:p>
            <a:r>
              <a:rPr lang="en-US" dirty="0">
                <a:effectLst/>
              </a:rPr>
              <a:t>• </a:t>
            </a:r>
            <a:r>
              <a:rPr lang="en-US" b="1" dirty="0">
                <a:effectLst/>
              </a:rPr>
              <a:t>Precision Rebuilding:</a:t>
            </a:r>
            <a:r>
              <a:rPr lang="en-US" dirty="0">
                <a:effectLst/>
              </a:rPr>
              <a:t> While Chimera is used for broad fitting, COOT allowed the researchers to manually build or rebuild specific parts of the APC/C complex atom-by-atom based on the high-resolution density.</a:t>
            </a:r>
          </a:p>
          <a:p>
            <a:r>
              <a:rPr lang="en-US" dirty="0">
                <a:effectLst/>
              </a:rPr>
              <a:t>• </a:t>
            </a:r>
            <a:r>
              <a:rPr lang="en-US" b="1" dirty="0">
                <a:effectLst/>
              </a:rPr>
              <a:t>Integrating AI Predictions:</a:t>
            </a:r>
            <a:r>
              <a:rPr lang="en-US" dirty="0">
                <a:effectLst/>
              </a:rPr>
              <a:t> COOT was used to take </a:t>
            </a:r>
            <a:r>
              <a:rPr lang="en-US" b="1" dirty="0">
                <a:effectLst/>
              </a:rPr>
              <a:t>AlphaFold predictions</a:t>
            </a:r>
            <a:r>
              <a:rPr lang="en-US" dirty="0">
                <a:effectLst/>
              </a:rPr>
              <a:t> for difficult-to-interpret regions (like the </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AI</a:t>
            </a:r>
            <a:r>
              <a:rPr lang="en-US" dirty="0">
                <a:effectLst/>
              </a:rPr>
              <a:t> or the EMI1 KEN-box) and refine them manually to ensure they perfectly matched the experimental density map.</a:t>
            </a:r>
          </a:p>
          <a:p>
            <a:r>
              <a:rPr lang="en-US" dirty="0">
                <a:effectLst/>
              </a:rPr>
              <a:t>• </a:t>
            </a:r>
            <a:r>
              <a:rPr lang="en-US" b="1" i="1" dirty="0">
                <a:effectLst/>
              </a:rPr>
              <a:t>Ab Initio</a:t>
            </a:r>
            <a:r>
              <a:rPr lang="en-US" b="1" dirty="0">
                <a:effectLst/>
              </a:rPr>
              <a:t> Modeling:</a:t>
            </a:r>
            <a:r>
              <a:rPr lang="en-US" dirty="0">
                <a:effectLst/>
              </a:rPr>
              <a:t> For regions of the protein that had never been seen before and were previously unassigned, the researchers used COOT to build these structures from scratch (</a:t>
            </a:r>
            <a:r>
              <a:rPr lang="en-US" i="1" dirty="0">
                <a:effectLst/>
              </a:rPr>
              <a:t>ab initio</a:t>
            </a:r>
            <a:endParaRPr lang="en-US" dirty="0">
              <a:effectLst/>
            </a:endParaRPr>
          </a:p>
          <a:p>
            <a:endParaRPr lang="en-US" dirty="0">
              <a:effectLst/>
            </a:endParaRPr>
          </a:p>
          <a:p>
            <a:r>
              <a:rPr lang="en-US" dirty="0">
                <a:effectLst/>
              </a:rPr>
              <a:t>Topaz</a:t>
            </a:r>
          </a:p>
          <a:p>
            <a:r>
              <a:rPr lang="en-US" b="1" dirty="0">
                <a:effectLst/>
              </a:rPr>
              <a:t>Topaz</a:t>
            </a:r>
            <a:r>
              <a:rPr lang="en-US" dirty="0">
                <a:effectLst/>
              </a:rPr>
              <a:t> is an AI-driven tool—specifically a </a:t>
            </a:r>
            <a:r>
              <a:rPr lang="en-US" b="1" dirty="0">
                <a:effectLst/>
              </a:rPr>
              <a:t>positive-unlabeled convolutional neural network</a:t>
            </a:r>
            <a:r>
              <a:rPr lang="en-US" dirty="0">
                <a:effectLst/>
              </a:rPr>
              <a:t>—used for </a:t>
            </a:r>
            <a:r>
              <a:rPr lang="en-US" b="1" dirty="0">
                <a:effectLst/>
              </a:rPr>
              <a:t>automated particle picking</a:t>
            </a:r>
            <a:r>
              <a:rPr lang="en-US" dirty="0">
                <a:effectLst/>
              </a:rPr>
              <a:t>.</a:t>
            </a:r>
          </a:p>
          <a:p>
            <a:r>
              <a:rPr lang="en-US" dirty="0">
                <a:effectLst/>
              </a:rPr>
              <a:t>• </a:t>
            </a:r>
            <a:r>
              <a:rPr lang="en-US" b="1" dirty="0">
                <a:effectLst/>
              </a:rPr>
              <a:t>How it was used:</a:t>
            </a:r>
            <a:r>
              <a:rPr lang="en-US" dirty="0">
                <a:effectLst/>
              </a:rPr>
              <a:t> The researchers first manually identified (picked) particles of the APC/C complex in a small subset of images.</a:t>
            </a:r>
          </a:p>
          <a:p>
            <a:r>
              <a:rPr lang="en-US" dirty="0">
                <a:effectLst/>
              </a:rPr>
              <a:t>• </a:t>
            </a:r>
            <a:r>
              <a:rPr lang="en-US" b="1" dirty="0">
                <a:effectLst/>
              </a:rPr>
              <a:t>The Result:</a:t>
            </a:r>
            <a:r>
              <a:rPr lang="en-US" dirty="0">
                <a:effectLst/>
              </a:rPr>
              <a:t> They used those manual picks to train the Topaz neural network, which then automatically identified and extracted the APC/C particles from the thousands of remaining micrographs in the entire data set</a:t>
            </a:r>
          </a:p>
          <a:p>
            <a:endParaRPr lang="en-US" dirty="0">
              <a:effectLst/>
            </a:endParaRPr>
          </a:p>
          <a:p>
            <a:r>
              <a:rPr lang="en-US" dirty="0">
                <a:effectLst/>
              </a:rPr>
              <a:t>1. Presence of Binding Partners</a:t>
            </a:r>
          </a:p>
          <a:p>
            <a:r>
              <a:rPr lang="en-US" dirty="0">
                <a:effectLst/>
              </a:rPr>
              <a:t>• </a:t>
            </a:r>
            <a:r>
              <a:rPr lang="en-US" b="1" dirty="0">
                <a:effectLst/>
              </a:rPr>
              <a:t>Apo-APC/C:</a:t>
            </a:r>
            <a:r>
              <a:rPr lang="en-US" dirty="0">
                <a:effectLst/>
              </a:rPr>
              <a:t> This is the "naked" or baseline state of the complex. It is defined as the APC/C </a:t>
            </a:r>
            <a:r>
              <a:rPr lang="en-US" b="1" dirty="0">
                <a:effectLst/>
              </a:rPr>
              <a:t>without its coactivator (CDH1) or its inhibitor (EMI1)</a:t>
            </a:r>
            <a:r>
              <a:rPr lang="en-US" dirty="0">
                <a:effectLst/>
              </a:rPr>
              <a:t>.</a:t>
            </a:r>
          </a:p>
          <a:p>
            <a:r>
              <a:rPr lang="en-US" dirty="0">
                <a:effectLst/>
              </a:rPr>
              <a:t>• </a:t>
            </a:r>
            <a:r>
              <a:rPr lang="en-US" b="1" dirty="0">
                <a:effectLst/>
              </a:rPr>
              <a:t>Human </a:t>
            </a:r>
            <a:r>
              <a:rPr lang="en-US" sz="1200" i="1" kern="1200" dirty="0">
                <a:solidFill>
                  <a:schemeClr val="tx1"/>
                </a:solidFill>
                <a:effectLst/>
                <a:latin typeface="+mn-lt"/>
                <a:ea typeface="+mn-ea"/>
                <a:cs typeface="+mn-cs"/>
              </a:rPr>
              <a:t>APC</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CCDH</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EMI</a:t>
            </a:r>
            <a:r>
              <a:rPr lang="en-US" sz="1200" kern="1200" dirty="0">
                <a:solidFill>
                  <a:schemeClr val="tx1"/>
                </a:solidFill>
                <a:effectLst/>
                <a:latin typeface="+mn-lt"/>
                <a:ea typeface="+mn-ea"/>
                <a:cs typeface="+mn-cs"/>
              </a:rPr>
              <a:t>1</a:t>
            </a:r>
            <a:r>
              <a:rPr lang="en-US" b="1" dirty="0">
                <a:effectLst/>
              </a:rPr>
              <a:t>:</a:t>
            </a:r>
            <a:r>
              <a:rPr lang="en-US" dirty="0">
                <a:effectLst/>
              </a:rPr>
              <a:t> This is a </a:t>
            </a:r>
            <a:r>
              <a:rPr lang="en-US" b="1" dirty="0">
                <a:effectLst/>
              </a:rPr>
              <a:t>ternary complex</a:t>
            </a:r>
            <a:r>
              <a:rPr lang="en-US" dirty="0">
                <a:effectLst/>
              </a:rPr>
              <a:t>, meaning it consists of the APC/C core bound to both the coactivator </a:t>
            </a:r>
            <a:r>
              <a:rPr lang="en-US" b="1" dirty="0">
                <a:effectLst/>
              </a:rPr>
              <a:t>CDH1</a:t>
            </a:r>
            <a:r>
              <a:rPr lang="en-US" dirty="0">
                <a:effectLst/>
              </a:rPr>
              <a:t> and the early mitotic inhibitor 1 (</a:t>
            </a:r>
            <a:r>
              <a:rPr lang="en-US" b="1" dirty="0">
                <a:effectLst/>
              </a:rPr>
              <a:t>EMI1</a:t>
            </a:r>
            <a:r>
              <a:rPr lang="en-US" dirty="0">
                <a:effectLst/>
              </a:rPr>
              <a:t>).</a:t>
            </a:r>
          </a:p>
          <a:p>
            <a:endParaRPr lang="en-US" dirty="0">
              <a:effectLst/>
            </a:endParaRPr>
          </a:p>
          <a:p>
            <a:endParaRPr lang="en-US" dirty="0">
              <a:effectLst/>
            </a:endParaRPr>
          </a:p>
        </p:txBody>
      </p:sp>
      <p:sp>
        <p:nvSpPr>
          <p:cNvPr id="4" name="Foliennummernplatzhalter 3">
            <a:extLst>
              <a:ext uri="{FF2B5EF4-FFF2-40B4-BE49-F238E27FC236}">
                <a16:creationId xmlns:a16="http://schemas.microsoft.com/office/drawing/2014/main" id="{73E6F8A4-6CF4-AE8A-6EC0-F41210D2511C}"/>
              </a:ext>
            </a:extLst>
          </p:cNvPr>
          <p:cNvSpPr>
            <a:spLocks noGrp="1"/>
          </p:cNvSpPr>
          <p:nvPr>
            <p:ph type="sldNum" sz="quarter" idx="5"/>
          </p:nvPr>
        </p:nvSpPr>
        <p:spPr/>
        <p:txBody>
          <a:bodyPr/>
          <a:lstStyle/>
          <a:p>
            <a:fld id="{2969AC09-DF60-43F4-96BF-67D4D9A74094}" type="slidenum">
              <a:rPr lang="de-DE" smtClean="0"/>
              <a:t>16</a:t>
            </a:fld>
            <a:endParaRPr lang="de-DE"/>
          </a:p>
        </p:txBody>
      </p:sp>
    </p:spTree>
    <p:extLst>
      <p:ext uri="{BB962C8B-B14F-4D97-AF65-F5344CB8AC3E}">
        <p14:creationId xmlns:p14="http://schemas.microsoft.com/office/powerpoint/2010/main" val="3586356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Phosphorylation: </a:t>
            </a:r>
            <a:r>
              <a:rPr lang="en-US" b="0" dirty="0"/>
              <a:t>Purified APC/C was phosphorylated using CDK2–cyclin A3–CKS2 and PLK1 kinases at 30 °C to simulate mitotic conditions.</a:t>
            </a:r>
          </a:p>
          <a:p>
            <a:r>
              <a:rPr lang="en-US" b="0" dirty="0"/>
              <a:t>• </a:t>
            </a:r>
            <a:r>
              <a:rPr lang="en-US" b="1" dirty="0"/>
              <a:t>Ubiquitination: </a:t>
            </a:r>
            <a:r>
              <a:rPr lang="en-US" b="0" dirty="0"/>
              <a:t>Assays were conducted using E1 (UBA1), E2 (UBCH10 or UBE2S), and coactivators to measure the complex's ligase activity.</a:t>
            </a:r>
          </a:p>
          <a:p>
            <a:r>
              <a:rPr lang="en-US" b="0" dirty="0"/>
              <a:t>•</a:t>
            </a:r>
            <a:r>
              <a:rPr lang="en-US" b="1" dirty="0"/>
              <a:t> SUMOylation</a:t>
            </a:r>
            <a:r>
              <a:rPr lang="en-US" b="0" dirty="0"/>
              <a:t>: Experiments used E1 (Uba2-Aos1) and E2 (Ubc9) enzymes with SUMO-1 or SUMO-2 to assess the role of specific subunits in the SUMO pathway</a:t>
            </a:r>
          </a:p>
          <a:p>
            <a:r>
              <a:rPr lang="en-US" sz="1200" b="1" i="0" kern="1200" dirty="0">
                <a:solidFill>
                  <a:schemeClr val="tx1"/>
                </a:solidFill>
                <a:effectLst/>
                <a:latin typeface="+mn-lt"/>
                <a:ea typeface="+mn-ea"/>
                <a:cs typeface="+mn-cs"/>
              </a:rPr>
              <a:t>Release from Checkpoint Inhibition:</a:t>
            </a:r>
            <a:r>
              <a:rPr lang="en-US" sz="1200" b="0" i="0" kern="1200" dirty="0">
                <a:solidFill>
                  <a:schemeClr val="tx1"/>
                </a:solidFill>
                <a:effectLst/>
                <a:latin typeface="+mn-lt"/>
                <a:ea typeface="+mn-ea"/>
                <a:cs typeface="+mn-cs"/>
              </a:rPr>
              <a:t> The primary importance of SUMOylation, as noted in the sources' references, is its role in the </a:t>
            </a:r>
            <a:r>
              <a:rPr lang="en-US" sz="1200" b="1" i="0" kern="1200" dirty="0">
                <a:solidFill>
                  <a:schemeClr val="tx1"/>
                </a:solidFill>
                <a:effectLst/>
                <a:latin typeface="+mn-lt"/>
                <a:ea typeface="+mn-ea"/>
                <a:cs typeface="+mn-cs"/>
              </a:rPr>
              <a:t>release of the APC/C from spindle assembly checkpoint (SAC) inhibition</a:t>
            </a:r>
            <a:r>
              <a:rPr lang="en-US" sz="1200" b="0" i="0" kern="1200" dirty="0">
                <a:solidFill>
                  <a:schemeClr val="tx1"/>
                </a:solidFill>
                <a:effectLst/>
                <a:latin typeface="+mn-lt"/>
                <a:ea typeface="+mn-ea"/>
                <a:cs typeface="+mn-cs"/>
              </a:rPr>
              <a:t>. This process is essential for allowing the cell cycle to progress once chromosomes are properly aligned. It was hypothesized that the </a:t>
            </a:r>
            <a:r>
              <a:rPr lang="en-US" sz="1200" b="0" i="1" kern="1200" dirty="0">
                <a:solidFill>
                  <a:schemeClr val="tx1"/>
                </a:solidFill>
                <a:effectLst/>
                <a:latin typeface="+mn-lt"/>
                <a:ea typeface="+mn-ea"/>
                <a:cs typeface="+mn-cs"/>
              </a:rPr>
              <a:t>APC</a:t>
            </a:r>
            <a:r>
              <a:rPr lang="en-US" sz="1200" b="0" i="0" kern="1200" dirty="0">
                <a:solidFill>
                  <a:schemeClr val="tx1"/>
                </a:solidFill>
                <a:effectLst/>
                <a:latin typeface="+mn-lt"/>
                <a:ea typeface="+mn-ea"/>
                <a:cs typeface="+mn-cs"/>
              </a:rPr>
              <a:t>2</a:t>
            </a:r>
            <a:r>
              <a:rPr lang="en-US" sz="1200" b="0" i="1" kern="1200" dirty="0">
                <a:solidFill>
                  <a:schemeClr val="tx1"/>
                </a:solidFill>
                <a:effectLst/>
                <a:latin typeface="+mn-lt"/>
                <a:ea typeface="+mn-ea"/>
                <a:cs typeface="+mn-cs"/>
              </a:rPr>
              <a:t>ZBM</a:t>
            </a:r>
            <a:r>
              <a:rPr lang="en-US" sz="1200" b="0" i="0" kern="1200" dirty="0">
                <a:solidFill>
                  <a:schemeClr val="tx1"/>
                </a:solidFill>
                <a:effectLst/>
                <a:latin typeface="+mn-lt"/>
                <a:ea typeface="+mn-ea"/>
                <a:cs typeface="+mn-cs"/>
              </a:rPr>
              <a:t> might serve as a binding interface for the E2 enzyme </a:t>
            </a:r>
            <a:r>
              <a:rPr lang="en-US" sz="1200" b="1" i="0" kern="1200" dirty="0">
                <a:solidFill>
                  <a:schemeClr val="tx1"/>
                </a:solidFill>
                <a:effectLst/>
                <a:latin typeface="+mn-lt"/>
                <a:ea typeface="+mn-ea"/>
                <a:cs typeface="+mn-cs"/>
              </a:rPr>
              <a:t>UBC9.</a:t>
            </a:r>
          </a:p>
          <a:p>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Biochemical assays demonstrated that while the module is structurally close to the modification sites, it is </a:t>
            </a:r>
            <a:r>
              <a:rPr lang="en-US" sz="1200" b="1" i="0" kern="1200" dirty="0">
                <a:solidFill>
                  <a:schemeClr val="tx1"/>
                </a:solidFill>
                <a:effectLst/>
                <a:latin typeface="+mn-lt"/>
                <a:ea typeface="+mn-ea"/>
                <a:cs typeface="+mn-cs"/>
              </a:rPr>
              <a:t>not required for SUMOylation</a:t>
            </a:r>
            <a:endParaRPr lang="en-US" b="0" dirty="0"/>
          </a:p>
          <a:p>
            <a:endParaRPr lang="en-US" b="0" dirty="0"/>
          </a:p>
          <a:p>
            <a:endParaRPr lang="en-US" b="0" dirty="0"/>
          </a:p>
          <a:p>
            <a:r>
              <a:rPr lang="en-US" dirty="0"/>
              <a:t> </a:t>
            </a:r>
            <a:r>
              <a:rPr lang="en-US" b="1" dirty="0"/>
              <a:t>Proton-Induced X-ray Emission (PIXE): </a:t>
            </a:r>
            <a:r>
              <a:rPr lang="en-US" b="0" i="1" dirty="0"/>
              <a:t>APC</a:t>
            </a:r>
            <a:r>
              <a:rPr lang="en-US" b="0" dirty="0"/>
              <a:t>2:</a:t>
            </a:r>
            <a:r>
              <a:rPr lang="en-US" b="0" i="1" dirty="0"/>
              <a:t>APC</a:t>
            </a:r>
            <a:r>
              <a:rPr lang="en-US" b="0" dirty="0"/>
              <a:t>11 complexes were dialyzed against a chloride-free buffer and bombarded with a </a:t>
            </a:r>
            <a:r>
              <a:rPr lang="en-US" dirty="0"/>
              <a:t>2.5 MeV proton beam</a:t>
            </a:r>
          </a:p>
          <a:p>
            <a:endParaRPr lang="en-US" dirty="0"/>
          </a:p>
        </p:txBody>
      </p:sp>
      <p:sp>
        <p:nvSpPr>
          <p:cNvPr id="4" name="Slide Number Placeholder 3"/>
          <p:cNvSpPr>
            <a:spLocks noGrp="1"/>
          </p:cNvSpPr>
          <p:nvPr>
            <p:ph type="sldNum" sz="quarter" idx="5"/>
          </p:nvPr>
        </p:nvSpPr>
        <p:spPr/>
        <p:txBody>
          <a:bodyPr/>
          <a:lstStyle/>
          <a:p>
            <a:fld id="{2969AC09-DF60-43F4-96BF-67D4D9A74094}" type="slidenum">
              <a:rPr lang="de-DE" smtClean="0"/>
              <a:t>18</a:t>
            </a:fld>
            <a:endParaRPr lang="de-DE"/>
          </a:p>
        </p:txBody>
      </p:sp>
    </p:spTree>
    <p:extLst>
      <p:ext uri="{BB962C8B-B14F-4D97-AF65-F5344CB8AC3E}">
        <p14:creationId xmlns:p14="http://schemas.microsoft.com/office/powerpoint/2010/main" val="6426584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w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00 title white blue">
    <p:spTree>
      <p:nvGrpSpPr>
        <p:cNvPr id="1" name=""/>
        <p:cNvGrpSpPr/>
        <p:nvPr/>
      </p:nvGrpSpPr>
      <p:grpSpPr>
        <a:xfrm>
          <a:off x="0" y="0"/>
          <a:ext cx="0" cy="0"/>
          <a:chOff x="0" y="0"/>
          <a:chExt cx="0" cy="0"/>
        </a:xfrm>
      </p:grpSpPr>
      <p:pic>
        <p:nvPicPr>
          <p:cNvPr id="14" name="Grafik 13" descr="Logo. Acht unregelmäßige Dreiecksflächen sind, im Uhrzeigersinn einen Farbverlauf von dunkelblau bis hellgrün ergebend, zu einem regelmäßig achteckigen Ring angeordnet. Links daneben zweizeilig der Schriftzug &quot;DRESDEN concept" title="Logo Dresden concept"/>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10406348" y="327901"/>
            <a:ext cx="1468046" cy="548987"/>
          </a:xfrm>
          <a:prstGeom prst="rect">
            <a:avLst/>
          </a:prstGeom>
        </p:spPr>
      </p:pic>
      <p:pic>
        <p:nvPicPr>
          <p:cNvPr id="12" name="Grafik 11" descr="Logo. Schriftzug &quot;Technische Universität Dresden&quot;. Links davon befindet sich ein Achteck, das in zwei Bereiche aufgeteilt ist, die zusammen die Buchstaben &quot;T&quot; und &quot;U&quot; ergeben." title="Logo der TU Dresd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0304" y="348373"/>
            <a:ext cx="1764000" cy="514800"/>
          </a:xfrm>
          <a:prstGeom prst="rect">
            <a:avLst/>
          </a:prstGeom>
        </p:spPr>
      </p:pic>
      <p:sp>
        <p:nvSpPr>
          <p:cNvPr id="13" name="Rechteck 12"/>
          <p:cNvSpPr/>
          <p:nvPr/>
        </p:nvSpPr>
        <p:spPr>
          <a:xfrm>
            <a:off x="0" y="1204911"/>
            <a:ext cx="12192000" cy="5653089"/>
          </a:xfrm>
          <a:prstGeom prst="rect">
            <a:avLst/>
          </a:prstGeom>
          <a:gradFill>
            <a:gsLst>
              <a:gs pos="14000">
                <a:schemeClr val="accent2"/>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18" name="Textplatzhalter 25"/>
          <p:cNvSpPr>
            <a:spLocks noGrp="1"/>
          </p:cNvSpPr>
          <p:nvPr>
            <p:ph type="body" sz="quarter" idx="10" hasCustomPrompt="1"/>
          </p:nvPr>
        </p:nvSpPr>
        <p:spPr>
          <a:xfrm>
            <a:off x="882808" y="2852116"/>
            <a:ext cx="2240998" cy="246221"/>
          </a:xfrm>
          <a:prstGeom prst="rect">
            <a:avLst/>
          </a:prstGeom>
          <a:noFill/>
          <a:ln>
            <a:noFill/>
          </a:ln>
        </p:spPr>
        <p:txBody>
          <a:bodyPr wrap="none" lIns="0">
            <a:spAutoFit/>
          </a:bodyPr>
          <a:lstStyle>
            <a:lvl1pPr>
              <a:spcBef>
                <a:spcPts val="0"/>
              </a:spcBef>
              <a:defRPr sz="1600" b="1">
                <a:solidFill>
                  <a:schemeClr val="bg1">
                    <a:alpha val="70000"/>
                  </a:schemeClr>
                </a:solidFill>
              </a:defRPr>
            </a:lvl1pPr>
          </a:lstStyle>
          <a:p>
            <a:pPr lvl="0"/>
            <a:r>
              <a:rPr lang="de-DE"/>
              <a:t>Last </a:t>
            </a:r>
            <a:r>
              <a:rPr lang="de-DE" err="1"/>
              <a:t>name</a:t>
            </a:r>
            <a:r>
              <a:rPr lang="de-DE"/>
              <a:t>, </a:t>
            </a:r>
            <a:r>
              <a:rPr lang="de-DE" err="1"/>
              <a:t>first</a:t>
            </a:r>
            <a:r>
              <a:rPr lang="de-DE"/>
              <a:t> </a:t>
            </a:r>
            <a:r>
              <a:rPr lang="de-DE" err="1"/>
              <a:t>name</a:t>
            </a:r>
            <a:endParaRPr lang="de-DE"/>
          </a:p>
        </p:txBody>
      </p:sp>
      <p:sp>
        <p:nvSpPr>
          <p:cNvPr id="19" name="Titel 1"/>
          <p:cNvSpPr>
            <a:spLocks noGrp="1"/>
          </p:cNvSpPr>
          <p:nvPr>
            <p:ph type="title" hasCustomPrompt="1"/>
          </p:nvPr>
        </p:nvSpPr>
        <p:spPr>
          <a:xfrm>
            <a:off x="882771" y="3835706"/>
            <a:ext cx="10764165" cy="492443"/>
          </a:xfrm>
          <a:noFill/>
          <a:ln>
            <a:noFill/>
          </a:ln>
        </p:spPr>
        <p:txBody>
          <a:bodyPr wrap="none" lIns="0">
            <a:spAutoFit/>
          </a:bodyPr>
          <a:lstStyle>
            <a:lvl1pPr>
              <a:defRPr sz="3200" b="1">
                <a:solidFill>
                  <a:schemeClr val="bg1"/>
                </a:solidFill>
              </a:defRPr>
            </a:lvl1pPr>
          </a:lstStyle>
          <a:p>
            <a:r>
              <a:rPr lang="de-DE"/>
              <a:t>title in large </a:t>
            </a:r>
            <a:r>
              <a:rPr lang="de-DE" err="1"/>
              <a:t>letters</a:t>
            </a:r>
            <a:r>
              <a:rPr lang="de-DE"/>
              <a:t> must not </a:t>
            </a:r>
            <a:r>
              <a:rPr lang="de-DE" err="1"/>
              <a:t>be</a:t>
            </a:r>
            <a:r>
              <a:rPr lang="de-DE"/>
              <a:t> </a:t>
            </a:r>
            <a:r>
              <a:rPr lang="de-DE" err="1"/>
              <a:t>longer</a:t>
            </a:r>
            <a:r>
              <a:rPr lang="de-DE"/>
              <a:t> </a:t>
            </a:r>
            <a:r>
              <a:rPr lang="de-DE" err="1"/>
              <a:t>than</a:t>
            </a:r>
            <a:r>
              <a:rPr lang="de-DE"/>
              <a:t> </a:t>
            </a:r>
            <a:r>
              <a:rPr lang="de-DE" err="1"/>
              <a:t>one</a:t>
            </a:r>
            <a:r>
              <a:rPr lang="de-DE"/>
              <a:t> </a:t>
            </a:r>
            <a:r>
              <a:rPr lang="de-DE" err="1"/>
              <a:t>line</a:t>
            </a:r>
            <a:endParaRPr lang="de-DE"/>
          </a:p>
        </p:txBody>
      </p:sp>
      <p:sp>
        <p:nvSpPr>
          <p:cNvPr id="20" name="Untertitel 2"/>
          <p:cNvSpPr>
            <a:spLocks noGrp="1"/>
          </p:cNvSpPr>
          <p:nvPr>
            <p:ph type="subTitle" idx="1" hasCustomPrompt="1"/>
          </p:nvPr>
        </p:nvSpPr>
        <p:spPr>
          <a:xfrm>
            <a:off x="882772" y="5028236"/>
            <a:ext cx="4626266" cy="246221"/>
          </a:xfrm>
          <a:prstGeom prst="rect">
            <a:avLst/>
          </a:prstGeom>
          <a:noFill/>
        </p:spPr>
        <p:txBody>
          <a:bodyPr wrap="none" lIns="0">
            <a:spAutoFit/>
          </a:bodyPr>
          <a:lstStyle>
            <a:lvl1pPr marL="0" indent="0" algn="l">
              <a:buNone/>
              <a:defRPr b="0">
                <a:solidFill>
                  <a:schemeClr val="bg1">
                    <a:alpha val="7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Context of the presentation (or type of the work)</a:t>
            </a:r>
          </a:p>
        </p:txBody>
      </p:sp>
      <p:sp>
        <p:nvSpPr>
          <p:cNvPr id="21" name="Textplatzhalter 25">
            <a:extLst>
              <a:ext uri="{FF2B5EF4-FFF2-40B4-BE49-F238E27FC236}">
                <a16:creationId xmlns:a16="http://schemas.microsoft.com/office/drawing/2014/main" id="{78DD96F1-BE0C-4FE4-B69F-BA85926561C9}"/>
              </a:ext>
            </a:extLst>
          </p:cNvPr>
          <p:cNvSpPr>
            <a:spLocks noGrp="1"/>
          </p:cNvSpPr>
          <p:nvPr>
            <p:ph type="body" sz="quarter" idx="11" hasCustomPrompt="1"/>
          </p:nvPr>
        </p:nvSpPr>
        <p:spPr>
          <a:xfrm>
            <a:off x="882808" y="3138045"/>
            <a:ext cx="4336123" cy="246221"/>
          </a:xfrm>
          <a:prstGeom prst="rect">
            <a:avLst/>
          </a:prstGeom>
          <a:noFill/>
          <a:ln>
            <a:noFill/>
          </a:ln>
        </p:spPr>
        <p:txBody>
          <a:bodyPr wrap="none" lIns="0">
            <a:spAutoFit/>
          </a:bodyPr>
          <a:lstStyle>
            <a:lvl1pPr>
              <a:spcBef>
                <a:spcPts val="0"/>
              </a:spcBef>
              <a:defRPr sz="1600" b="0" baseline="0">
                <a:solidFill>
                  <a:schemeClr val="bg1">
                    <a:alpha val="70000"/>
                  </a:schemeClr>
                </a:solidFill>
              </a:defRPr>
            </a:lvl1pPr>
          </a:lstStyle>
          <a:p>
            <a:pPr lvl="0"/>
            <a:r>
              <a:rPr lang="de-DE" err="1"/>
              <a:t>Chair</a:t>
            </a:r>
            <a:r>
              <a:rPr lang="de-DE"/>
              <a:t> </a:t>
            </a:r>
            <a:r>
              <a:rPr lang="de-DE" err="1"/>
              <a:t>of</a:t>
            </a:r>
            <a:r>
              <a:rPr lang="de-DE"/>
              <a:t> Computer Graphics </a:t>
            </a:r>
            <a:r>
              <a:rPr lang="de-DE" err="1"/>
              <a:t>and</a:t>
            </a:r>
            <a:r>
              <a:rPr lang="de-DE"/>
              <a:t> </a:t>
            </a:r>
            <a:r>
              <a:rPr lang="de-DE" err="1"/>
              <a:t>Visualization</a:t>
            </a:r>
            <a:endParaRPr lang="de-DE"/>
          </a:p>
        </p:txBody>
      </p:sp>
      <p:sp>
        <p:nvSpPr>
          <p:cNvPr id="22" name="Textplatzhalter 5">
            <a:extLst>
              <a:ext uri="{FF2B5EF4-FFF2-40B4-BE49-F238E27FC236}">
                <a16:creationId xmlns:a16="http://schemas.microsoft.com/office/drawing/2014/main" id="{AB2194A4-CBE4-4A84-B1E9-D417CDD94A30}"/>
              </a:ext>
            </a:extLst>
          </p:cNvPr>
          <p:cNvSpPr>
            <a:spLocks noGrp="1"/>
          </p:cNvSpPr>
          <p:nvPr>
            <p:ph type="body" sz="quarter" idx="12" hasCustomPrompt="1"/>
          </p:nvPr>
        </p:nvSpPr>
        <p:spPr>
          <a:xfrm>
            <a:off x="882770" y="4375609"/>
            <a:ext cx="4828245" cy="492443"/>
          </a:xfrm>
          <a:prstGeom prst="rect">
            <a:avLst/>
          </a:prstGeom>
          <a:noFill/>
        </p:spPr>
        <p:txBody>
          <a:bodyPr wrap="none" lIns="0">
            <a:spAutoFit/>
          </a:bodyPr>
          <a:lstStyle>
            <a:lvl1pPr>
              <a:defRPr sz="3200" b="0">
                <a:solidFill>
                  <a:schemeClr val="bg1"/>
                </a:solidFill>
              </a:defRPr>
            </a:lvl1pPr>
            <a:lvl3pPr marL="72000" indent="0">
              <a:buNone/>
              <a:defRPr/>
            </a:lvl3pPr>
            <a:lvl4pPr marL="180000" indent="0">
              <a:buNone/>
              <a:defRPr/>
            </a:lvl4pPr>
          </a:lstStyle>
          <a:p>
            <a:r>
              <a:rPr lang="de-DE" err="1"/>
              <a:t>Some</a:t>
            </a:r>
            <a:r>
              <a:rPr lang="de-DE"/>
              <a:t> </a:t>
            </a:r>
            <a:r>
              <a:rPr lang="de-DE" err="1"/>
              <a:t>space</a:t>
            </a:r>
            <a:r>
              <a:rPr lang="de-DE"/>
              <a:t> </a:t>
            </a:r>
            <a:r>
              <a:rPr lang="de-DE" err="1"/>
              <a:t>for</a:t>
            </a:r>
            <a:r>
              <a:rPr lang="de-DE"/>
              <a:t> a </a:t>
            </a:r>
            <a:r>
              <a:rPr lang="de-DE" err="1"/>
              <a:t>subtitle</a:t>
            </a:r>
            <a:endParaRPr lang="de-DE"/>
          </a:p>
        </p:txBody>
      </p:sp>
      <p:sp>
        <p:nvSpPr>
          <p:cNvPr id="23" name="Textplatzhalter 7">
            <a:extLst>
              <a:ext uri="{FF2B5EF4-FFF2-40B4-BE49-F238E27FC236}">
                <a16:creationId xmlns:a16="http://schemas.microsoft.com/office/drawing/2014/main" id="{F1D71DE1-F9B2-4550-A173-A1C0CE63C085}"/>
              </a:ext>
            </a:extLst>
          </p:cNvPr>
          <p:cNvSpPr>
            <a:spLocks noGrp="1"/>
          </p:cNvSpPr>
          <p:nvPr>
            <p:ph type="body" sz="quarter" idx="13" hasCustomPrompt="1"/>
          </p:nvPr>
        </p:nvSpPr>
        <p:spPr>
          <a:xfrm>
            <a:off x="882808" y="5312641"/>
            <a:ext cx="4217501" cy="246221"/>
          </a:xfrm>
          <a:prstGeom prst="rect">
            <a:avLst/>
          </a:prstGeom>
          <a:noFill/>
        </p:spPr>
        <p:txBody>
          <a:bodyPr wrap="none" lIns="0">
            <a:spAutoFit/>
          </a:bodyPr>
          <a:lstStyle>
            <a:lvl1pPr>
              <a:defRPr b="0">
                <a:solidFill>
                  <a:schemeClr val="bg1">
                    <a:alpha val="70000"/>
                  </a:schemeClr>
                </a:solidFill>
              </a:defRPr>
            </a:lvl1pPr>
          </a:lstStyle>
          <a:p>
            <a:r>
              <a:rPr lang="de-DE"/>
              <a:t>Place </a:t>
            </a:r>
            <a:r>
              <a:rPr lang="de-DE" err="1"/>
              <a:t>or</a:t>
            </a:r>
            <a:r>
              <a:rPr lang="de-DE"/>
              <a:t> </a:t>
            </a:r>
            <a:r>
              <a:rPr lang="de-DE" err="1"/>
              <a:t>occasion</a:t>
            </a:r>
            <a:r>
              <a:rPr lang="de-DE"/>
              <a:t> </a:t>
            </a:r>
            <a:r>
              <a:rPr lang="de-DE" err="1"/>
              <a:t>of</a:t>
            </a:r>
            <a:r>
              <a:rPr lang="de-DE"/>
              <a:t> </a:t>
            </a:r>
            <a:r>
              <a:rPr lang="de-DE" err="1"/>
              <a:t>the</a:t>
            </a:r>
            <a:r>
              <a:rPr lang="de-DE"/>
              <a:t> </a:t>
            </a:r>
            <a:r>
              <a:rPr lang="de-DE" err="1"/>
              <a:t>presentation</a:t>
            </a:r>
            <a:r>
              <a:rPr lang="de-DE"/>
              <a:t> // </a:t>
            </a:r>
            <a:r>
              <a:rPr lang="de-DE" err="1"/>
              <a:t>date</a:t>
            </a:r>
            <a:endParaRPr lang="de-DE"/>
          </a:p>
        </p:txBody>
      </p:sp>
    </p:spTree>
    <p:extLst>
      <p:ext uri="{BB962C8B-B14F-4D97-AF65-F5344CB8AC3E}">
        <p14:creationId xmlns:p14="http://schemas.microsoft.com/office/powerpoint/2010/main" val="1330912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00 title blue gradient">
    <p:spTree>
      <p:nvGrpSpPr>
        <p:cNvPr id="1" name=""/>
        <p:cNvGrpSpPr/>
        <p:nvPr/>
      </p:nvGrpSpPr>
      <p:grpSpPr>
        <a:xfrm>
          <a:off x="0" y="0"/>
          <a:ext cx="0" cy="0"/>
          <a:chOff x="0" y="0"/>
          <a:chExt cx="0" cy="0"/>
        </a:xfrm>
      </p:grpSpPr>
      <p:sp>
        <p:nvSpPr>
          <p:cNvPr id="13" name="Rechteck 12"/>
          <p:cNvSpPr/>
          <p:nvPr/>
        </p:nvSpPr>
        <p:spPr>
          <a:xfrm>
            <a:off x="0" y="0"/>
            <a:ext cx="12192000" cy="6858001"/>
          </a:xfrm>
          <a:prstGeom prst="rect">
            <a:avLst/>
          </a:prstGeom>
          <a:gradFill>
            <a:gsLst>
              <a:gs pos="14000">
                <a:schemeClr val="accent2"/>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12" name="Textplatzhalter 25"/>
          <p:cNvSpPr>
            <a:spLocks noGrp="1"/>
          </p:cNvSpPr>
          <p:nvPr>
            <p:ph type="body" sz="quarter" idx="10" hasCustomPrompt="1"/>
          </p:nvPr>
        </p:nvSpPr>
        <p:spPr>
          <a:xfrm>
            <a:off x="882808" y="2852116"/>
            <a:ext cx="2240998" cy="246221"/>
          </a:xfrm>
          <a:prstGeom prst="rect">
            <a:avLst/>
          </a:prstGeom>
          <a:noFill/>
          <a:ln>
            <a:noFill/>
          </a:ln>
        </p:spPr>
        <p:txBody>
          <a:bodyPr wrap="none" lIns="0">
            <a:spAutoFit/>
          </a:bodyPr>
          <a:lstStyle>
            <a:lvl1pPr>
              <a:spcBef>
                <a:spcPts val="0"/>
              </a:spcBef>
              <a:defRPr sz="1600" b="1">
                <a:solidFill>
                  <a:schemeClr val="bg1">
                    <a:alpha val="70000"/>
                  </a:schemeClr>
                </a:solidFill>
              </a:defRPr>
            </a:lvl1pPr>
          </a:lstStyle>
          <a:p>
            <a:pPr lvl="0"/>
            <a:r>
              <a:rPr lang="de-DE"/>
              <a:t>Last </a:t>
            </a:r>
            <a:r>
              <a:rPr lang="de-DE" err="1"/>
              <a:t>name</a:t>
            </a:r>
            <a:r>
              <a:rPr lang="de-DE"/>
              <a:t>, </a:t>
            </a:r>
            <a:r>
              <a:rPr lang="de-DE" err="1"/>
              <a:t>first</a:t>
            </a:r>
            <a:r>
              <a:rPr lang="de-DE"/>
              <a:t> </a:t>
            </a:r>
            <a:r>
              <a:rPr lang="de-DE" err="1"/>
              <a:t>name</a:t>
            </a:r>
            <a:endParaRPr lang="de-DE"/>
          </a:p>
        </p:txBody>
      </p:sp>
      <p:sp>
        <p:nvSpPr>
          <p:cNvPr id="14" name="Titel 1"/>
          <p:cNvSpPr>
            <a:spLocks noGrp="1"/>
          </p:cNvSpPr>
          <p:nvPr>
            <p:ph type="title" hasCustomPrompt="1"/>
          </p:nvPr>
        </p:nvSpPr>
        <p:spPr>
          <a:xfrm>
            <a:off x="882771" y="3835706"/>
            <a:ext cx="10764165" cy="492443"/>
          </a:xfrm>
          <a:noFill/>
          <a:ln>
            <a:noFill/>
          </a:ln>
        </p:spPr>
        <p:txBody>
          <a:bodyPr wrap="none" lIns="0">
            <a:spAutoFit/>
          </a:bodyPr>
          <a:lstStyle>
            <a:lvl1pPr>
              <a:defRPr sz="3200" b="1">
                <a:solidFill>
                  <a:schemeClr val="bg1"/>
                </a:solidFill>
              </a:defRPr>
            </a:lvl1pPr>
          </a:lstStyle>
          <a:p>
            <a:r>
              <a:rPr lang="de-DE"/>
              <a:t>title in large </a:t>
            </a:r>
            <a:r>
              <a:rPr lang="de-DE" err="1"/>
              <a:t>letters</a:t>
            </a:r>
            <a:r>
              <a:rPr lang="de-DE"/>
              <a:t> must not </a:t>
            </a:r>
            <a:r>
              <a:rPr lang="de-DE" err="1"/>
              <a:t>be</a:t>
            </a:r>
            <a:r>
              <a:rPr lang="de-DE"/>
              <a:t> </a:t>
            </a:r>
            <a:r>
              <a:rPr lang="de-DE" err="1"/>
              <a:t>longer</a:t>
            </a:r>
            <a:r>
              <a:rPr lang="de-DE"/>
              <a:t> </a:t>
            </a:r>
            <a:r>
              <a:rPr lang="de-DE" err="1"/>
              <a:t>than</a:t>
            </a:r>
            <a:r>
              <a:rPr lang="de-DE"/>
              <a:t> </a:t>
            </a:r>
            <a:r>
              <a:rPr lang="de-DE" err="1"/>
              <a:t>one</a:t>
            </a:r>
            <a:r>
              <a:rPr lang="de-DE"/>
              <a:t> </a:t>
            </a:r>
            <a:r>
              <a:rPr lang="de-DE" err="1"/>
              <a:t>line</a:t>
            </a:r>
            <a:endParaRPr lang="de-DE"/>
          </a:p>
        </p:txBody>
      </p:sp>
      <p:sp>
        <p:nvSpPr>
          <p:cNvPr id="15" name="Untertitel 2"/>
          <p:cNvSpPr>
            <a:spLocks noGrp="1"/>
          </p:cNvSpPr>
          <p:nvPr>
            <p:ph type="subTitle" idx="1" hasCustomPrompt="1"/>
          </p:nvPr>
        </p:nvSpPr>
        <p:spPr>
          <a:xfrm>
            <a:off x="882772" y="5028236"/>
            <a:ext cx="4626266" cy="246221"/>
          </a:xfrm>
          <a:prstGeom prst="rect">
            <a:avLst/>
          </a:prstGeom>
          <a:noFill/>
        </p:spPr>
        <p:txBody>
          <a:bodyPr wrap="none" lIns="0">
            <a:spAutoFit/>
          </a:bodyPr>
          <a:lstStyle>
            <a:lvl1pPr marL="0" indent="0" algn="l">
              <a:buNone/>
              <a:defRPr b="0">
                <a:solidFill>
                  <a:schemeClr val="bg1">
                    <a:alpha val="7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Context of the presentation (or type of the work)</a:t>
            </a:r>
          </a:p>
        </p:txBody>
      </p:sp>
      <p:sp>
        <p:nvSpPr>
          <p:cNvPr id="16" name="Textplatzhalter 25">
            <a:extLst>
              <a:ext uri="{FF2B5EF4-FFF2-40B4-BE49-F238E27FC236}">
                <a16:creationId xmlns:a16="http://schemas.microsoft.com/office/drawing/2014/main" id="{78DD96F1-BE0C-4FE4-B69F-BA85926561C9}"/>
              </a:ext>
            </a:extLst>
          </p:cNvPr>
          <p:cNvSpPr>
            <a:spLocks noGrp="1"/>
          </p:cNvSpPr>
          <p:nvPr>
            <p:ph type="body" sz="quarter" idx="11" hasCustomPrompt="1"/>
          </p:nvPr>
        </p:nvSpPr>
        <p:spPr>
          <a:xfrm>
            <a:off x="882808" y="3138045"/>
            <a:ext cx="4299254" cy="246221"/>
          </a:xfrm>
          <a:prstGeom prst="rect">
            <a:avLst/>
          </a:prstGeom>
          <a:noFill/>
          <a:ln>
            <a:noFill/>
          </a:ln>
        </p:spPr>
        <p:txBody>
          <a:bodyPr wrap="none" lIns="0">
            <a:spAutoFit/>
          </a:bodyPr>
          <a:lstStyle>
            <a:lvl1pPr>
              <a:spcBef>
                <a:spcPts val="0"/>
              </a:spcBef>
              <a:defRPr sz="1600" b="0">
                <a:solidFill>
                  <a:schemeClr val="bg1">
                    <a:alpha val="70000"/>
                  </a:schemeClr>
                </a:solidFill>
              </a:defRPr>
            </a:lvl1pPr>
          </a:lstStyle>
          <a:p>
            <a:pPr lvl="0"/>
            <a:r>
              <a:rPr lang="de-DE" err="1"/>
              <a:t>Chair</a:t>
            </a:r>
            <a:r>
              <a:rPr lang="de-DE"/>
              <a:t> </a:t>
            </a:r>
            <a:r>
              <a:rPr lang="de-DE" err="1"/>
              <a:t>of</a:t>
            </a:r>
            <a:r>
              <a:rPr lang="de-DE"/>
              <a:t> Computer Graphics </a:t>
            </a:r>
            <a:r>
              <a:rPr lang="de-DE" err="1"/>
              <a:t>and</a:t>
            </a:r>
            <a:r>
              <a:rPr lang="de-DE"/>
              <a:t> </a:t>
            </a:r>
            <a:r>
              <a:rPr lang="de-DE" err="1"/>
              <a:t>Visualization</a:t>
            </a:r>
            <a:endParaRPr lang="de-DE"/>
          </a:p>
        </p:txBody>
      </p:sp>
      <p:sp>
        <p:nvSpPr>
          <p:cNvPr id="17" name="Textplatzhalter 5">
            <a:extLst>
              <a:ext uri="{FF2B5EF4-FFF2-40B4-BE49-F238E27FC236}">
                <a16:creationId xmlns:a16="http://schemas.microsoft.com/office/drawing/2014/main" id="{AB2194A4-CBE4-4A84-B1E9-D417CDD94A30}"/>
              </a:ext>
            </a:extLst>
          </p:cNvPr>
          <p:cNvSpPr>
            <a:spLocks noGrp="1"/>
          </p:cNvSpPr>
          <p:nvPr>
            <p:ph type="body" sz="quarter" idx="12" hasCustomPrompt="1"/>
          </p:nvPr>
        </p:nvSpPr>
        <p:spPr>
          <a:xfrm>
            <a:off x="882770" y="4375609"/>
            <a:ext cx="4828245" cy="492443"/>
          </a:xfrm>
          <a:prstGeom prst="rect">
            <a:avLst/>
          </a:prstGeom>
          <a:noFill/>
        </p:spPr>
        <p:txBody>
          <a:bodyPr wrap="none" lIns="0">
            <a:spAutoFit/>
          </a:bodyPr>
          <a:lstStyle>
            <a:lvl1pPr>
              <a:defRPr sz="3200" b="0">
                <a:solidFill>
                  <a:schemeClr val="bg1"/>
                </a:solidFill>
              </a:defRPr>
            </a:lvl1pPr>
            <a:lvl3pPr marL="72000" indent="0">
              <a:buNone/>
              <a:defRPr/>
            </a:lvl3pPr>
            <a:lvl4pPr marL="180000" indent="0">
              <a:buNone/>
              <a:defRPr/>
            </a:lvl4pPr>
          </a:lstStyle>
          <a:p>
            <a:r>
              <a:rPr lang="de-DE" err="1"/>
              <a:t>Some</a:t>
            </a:r>
            <a:r>
              <a:rPr lang="de-DE"/>
              <a:t> </a:t>
            </a:r>
            <a:r>
              <a:rPr lang="de-DE" err="1"/>
              <a:t>space</a:t>
            </a:r>
            <a:r>
              <a:rPr lang="de-DE"/>
              <a:t> </a:t>
            </a:r>
            <a:r>
              <a:rPr lang="de-DE" err="1"/>
              <a:t>for</a:t>
            </a:r>
            <a:r>
              <a:rPr lang="de-DE"/>
              <a:t> a </a:t>
            </a:r>
            <a:r>
              <a:rPr lang="de-DE" err="1"/>
              <a:t>subtitle</a:t>
            </a:r>
            <a:endParaRPr lang="de-DE"/>
          </a:p>
        </p:txBody>
      </p:sp>
      <p:sp>
        <p:nvSpPr>
          <p:cNvPr id="18" name="Textplatzhalter 7">
            <a:extLst>
              <a:ext uri="{FF2B5EF4-FFF2-40B4-BE49-F238E27FC236}">
                <a16:creationId xmlns:a16="http://schemas.microsoft.com/office/drawing/2014/main" id="{F1D71DE1-F9B2-4550-A173-A1C0CE63C085}"/>
              </a:ext>
            </a:extLst>
          </p:cNvPr>
          <p:cNvSpPr>
            <a:spLocks noGrp="1"/>
          </p:cNvSpPr>
          <p:nvPr>
            <p:ph type="body" sz="quarter" idx="13" hasCustomPrompt="1"/>
          </p:nvPr>
        </p:nvSpPr>
        <p:spPr>
          <a:xfrm>
            <a:off x="882808" y="5312641"/>
            <a:ext cx="4217501" cy="246221"/>
          </a:xfrm>
          <a:prstGeom prst="rect">
            <a:avLst/>
          </a:prstGeom>
          <a:noFill/>
        </p:spPr>
        <p:txBody>
          <a:bodyPr wrap="none" lIns="0">
            <a:spAutoFit/>
          </a:bodyPr>
          <a:lstStyle>
            <a:lvl1pPr>
              <a:defRPr b="0">
                <a:solidFill>
                  <a:schemeClr val="bg1">
                    <a:alpha val="70000"/>
                  </a:schemeClr>
                </a:solidFill>
              </a:defRPr>
            </a:lvl1pPr>
          </a:lstStyle>
          <a:p>
            <a:r>
              <a:rPr lang="de-DE"/>
              <a:t>Place </a:t>
            </a:r>
            <a:r>
              <a:rPr lang="de-DE" err="1"/>
              <a:t>or</a:t>
            </a:r>
            <a:r>
              <a:rPr lang="de-DE"/>
              <a:t> </a:t>
            </a:r>
            <a:r>
              <a:rPr lang="de-DE" err="1"/>
              <a:t>occasion</a:t>
            </a:r>
            <a:r>
              <a:rPr lang="de-DE"/>
              <a:t> </a:t>
            </a:r>
            <a:r>
              <a:rPr lang="de-DE" err="1"/>
              <a:t>of</a:t>
            </a:r>
            <a:r>
              <a:rPr lang="de-DE"/>
              <a:t> </a:t>
            </a:r>
            <a:r>
              <a:rPr lang="de-DE" err="1"/>
              <a:t>the</a:t>
            </a:r>
            <a:r>
              <a:rPr lang="de-DE"/>
              <a:t> </a:t>
            </a:r>
            <a:r>
              <a:rPr lang="de-DE" err="1"/>
              <a:t>presentation</a:t>
            </a:r>
            <a:r>
              <a:rPr lang="de-DE"/>
              <a:t> // </a:t>
            </a:r>
            <a:r>
              <a:rPr lang="de-DE" err="1"/>
              <a:t>date</a:t>
            </a:r>
            <a:endParaRPr lang="de-DE"/>
          </a:p>
        </p:txBody>
      </p:sp>
      <p:pic>
        <p:nvPicPr>
          <p:cNvPr id="19" name="Grafik 18" descr="Logo. Acht unregelmäßige Dreiecksflächen sind, im Uhrzeigersinn zu einem regelmäßig achteckigen Ring angeordnet. Links daneben zweizeilig der Schriftzug &quot;DRESDEN concept" title="Logo Dresden concep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07694" y="329323"/>
            <a:ext cx="1463906" cy="543600"/>
          </a:xfrm>
          <a:prstGeom prst="rect">
            <a:avLst/>
          </a:prstGeom>
        </p:spPr>
      </p:pic>
      <p:pic>
        <p:nvPicPr>
          <p:cNvPr id="20" name="Grafik 19" descr="Logo. Schriftzug &quot;Technische Universität Dresden&quot;. Links davon befindet sich ein Achteck, das in zwei Bereiche aufgeteilt ist, die zusammen die Buchstaben &quot;T&quot; und &quot;U&quot; ergeben." title="Logo der TU Dresden"/>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0304" y="349731"/>
            <a:ext cx="1765029" cy="514800"/>
          </a:xfrm>
          <a:prstGeom prst="rect">
            <a:avLst/>
          </a:prstGeom>
        </p:spPr>
      </p:pic>
    </p:spTree>
    <p:extLst>
      <p:ext uri="{BB962C8B-B14F-4D97-AF65-F5344CB8AC3E}">
        <p14:creationId xmlns:p14="http://schemas.microsoft.com/office/powerpoint/2010/main" val="523281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00 title white + picture">
    <p:spTree>
      <p:nvGrpSpPr>
        <p:cNvPr id="1" name=""/>
        <p:cNvGrpSpPr/>
        <p:nvPr/>
      </p:nvGrpSpPr>
      <p:grpSpPr>
        <a:xfrm>
          <a:off x="0" y="0"/>
          <a:ext cx="0" cy="0"/>
          <a:chOff x="0" y="0"/>
          <a:chExt cx="0" cy="0"/>
        </a:xfrm>
      </p:grpSpPr>
      <p:sp>
        <p:nvSpPr>
          <p:cNvPr id="3" name="Bildplatzhalter 2"/>
          <p:cNvSpPr>
            <a:spLocks noGrp="1"/>
          </p:cNvSpPr>
          <p:nvPr>
            <p:ph type="pic" sz="quarter" idx="14"/>
          </p:nvPr>
        </p:nvSpPr>
        <p:spPr>
          <a:xfrm>
            <a:off x="0" y="1204913"/>
            <a:ext cx="12192000" cy="5653086"/>
          </a:xfrm>
          <a:solidFill>
            <a:schemeClr val="bg1">
              <a:lumMod val="95000"/>
            </a:schemeClr>
          </a:solidFill>
        </p:spPr>
        <p:txBody>
          <a:bodyPr/>
          <a:lstStyle/>
          <a:p>
            <a:r>
              <a:rPr lang="de-DE"/>
              <a:t>Bild durch Klicken auf Symbol hinzufügen</a:t>
            </a:r>
          </a:p>
        </p:txBody>
      </p:sp>
      <p:sp>
        <p:nvSpPr>
          <p:cNvPr id="7" name="Textplatzhalter 25"/>
          <p:cNvSpPr>
            <a:spLocks noGrp="1"/>
          </p:cNvSpPr>
          <p:nvPr>
            <p:ph type="body" sz="quarter" idx="10" hasCustomPrompt="1"/>
          </p:nvPr>
        </p:nvSpPr>
        <p:spPr>
          <a:xfrm>
            <a:off x="882808" y="2852116"/>
            <a:ext cx="2350053" cy="246221"/>
          </a:xfrm>
          <a:prstGeom prst="rect">
            <a:avLst/>
          </a:prstGeom>
          <a:solidFill>
            <a:schemeClr val="bg1">
              <a:alpha val="90000"/>
            </a:schemeClr>
          </a:solidFill>
          <a:ln>
            <a:noFill/>
          </a:ln>
        </p:spPr>
        <p:txBody>
          <a:bodyPr wrap="none" lIns="72000" tIns="0" rIns="36000" bIns="0">
            <a:spAutoFit/>
          </a:bodyPr>
          <a:lstStyle>
            <a:lvl1pPr>
              <a:spcBef>
                <a:spcPts val="0"/>
              </a:spcBef>
              <a:defRPr sz="1600" b="1">
                <a:solidFill>
                  <a:schemeClr val="accent1"/>
                </a:solidFill>
              </a:defRPr>
            </a:lvl1pPr>
          </a:lstStyle>
          <a:p>
            <a:pPr lvl="0"/>
            <a:r>
              <a:rPr lang="de-DE"/>
              <a:t>Last </a:t>
            </a:r>
            <a:r>
              <a:rPr lang="de-DE" err="1"/>
              <a:t>name</a:t>
            </a:r>
            <a:r>
              <a:rPr lang="de-DE"/>
              <a:t>, </a:t>
            </a:r>
            <a:r>
              <a:rPr lang="de-DE" err="1"/>
              <a:t>first</a:t>
            </a:r>
            <a:r>
              <a:rPr lang="de-DE"/>
              <a:t> </a:t>
            </a:r>
            <a:r>
              <a:rPr lang="de-DE" err="1"/>
              <a:t>name</a:t>
            </a:r>
            <a:endParaRPr lang="de-DE"/>
          </a:p>
        </p:txBody>
      </p:sp>
      <p:sp>
        <p:nvSpPr>
          <p:cNvPr id="8" name="Titel 1"/>
          <p:cNvSpPr>
            <a:spLocks noGrp="1"/>
          </p:cNvSpPr>
          <p:nvPr>
            <p:ph type="title" hasCustomPrompt="1"/>
          </p:nvPr>
        </p:nvSpPr>
        <p:spPr>
          <a:xfrm>
            <a:off x="882771" y="3835706"/>
            <a:ext cx="10873220" cy="492443"/>
          </a:xfrm>
          <a:solidFill>
            <a:schemeClr val="bg1">
              <a:alpha val="90000"/>
            </a:schemeClr>
          </a:solidFill>
          <a:ln>
            <a:noFill/>
          </a:ln>
        </p:spPr>
        <p:txBody>
          <a:bodyPr wrap="none" lIns="72000" tIns="0" rIns="36000" bIns="0">
            <a:spAutoFit/>
          </a:bodyPr>
          <a:lstStyle>
            <a:lvl1pPr>
              <a:defRPr sz="3200" b="1">
                <a:solidFill>
                  <a:schemeClr val="accent1"/>
                </a:solidFill>
              </a:defRPr>
            </a:lvl1pPr>
          </a:lstStyle>
          <a:p>
            <a:r>
              <a:rPr lang="de-DE"/>
              <a:t>title in large </a:t>
            </a:r>
            <a:r>
              <a:rPr lang="de-DE" err="1"/>
              <a:t>letters</a:t>
            </a:r>
            <a:r>
              <a:rPr lang="de-DE"/>
              <a:t> must not </a:t>
            </a:r>
            <a:r>
              <a:rPr lang="de-DE" err="1"/>
              <a:t>be</a:t>
            </a:r>
            <a:r>
              <a:rPr lang="de-DE"/>
              <a:t> </a:t>
            </a:r>
            <a:r>
              <a:rPr lang="de-DE" err="1"/>
              <a:t>longer</a:t>
            </a:r>
            <a:r>
              <a:rPr lang="de-DE"/>
              <a:t> </a:t>
            </a:r>
            <a:r>
              <a:rPr lang="de-DE" err="1"/>
              <a:t>than</a:t>
            </a:r>
            <a:r>
              <a:rPr lang="de-DE"/>
              <a:t> </a:t>
            </a:r>
            <a:r>
              <a:rPr lang="de-DE" err="1"/>
              <a:t>one</a:t>
            </a:r>
            <a:r>
              <a:rPr lang="de-DE"/>
              <a:t> </a:t>
            </a:r>
            <a:r>
              <a:rPr lang="de-DE" err="1"/>
              <a:t>line</a:t>
            </a:r>
            <a:endParaRPr lang="de-DE"/>
          </a:p>
        </p:txBody>
      </p:sp>
      <p:sp>
        <p:nvSpPr>
          <p:cNvPr id="11" name="Untertitel 2"/>
          <p:cNvSpPr>
            <a:spLocks noGrp="1"/>
          </p:cNvSpPr>
          <p:nvPr>
            <p:ph type="subTitle" idx="1" hasCustomPrompt="1"/>
          </p:nvPr>
        </p:nvSpPr>
        <p:spPr>
          <a:xfrm>
            <a:off x="882772" y="5028236"/>
            <a:ext cx="4735321" cy="246221"/>
          </a:xfrm>
          <a:prstGeom prst="rect">
            <a:avLst/>
          </a:prstGeom>
          <a:solidFill>
            <a:schemeClr val="bg1">
              <a:alpha val="90000"/>
            </a:schemeClr>
          </a:solidFill>
        </p:spPr>
        <p:txBody>
          <a:bodyPr wrap="none" lIns="72000" tIns="0" rIns="36000" bIns="0">
            <a:spAutoFit/>
          </a:bodyPr>
          <a:lstStyle>
            <a:lvl1pPr marL="0" indent="0" algn="l">
              <a:buNone/>
              <a:defRPr b="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Context of the presentation (or type of the work)</a:t>
            </a:r>
          </a:p>
        </p:txBody>
      </p:sp>
      <p:sp>
        <p:nvSpPr>
          <p:cNvPr id="12" name="Textplatzhalter 25">
            <a:extLst>
              <a:ext uri="{FF2B5EF4-FFF2-40B4-BE49-F238E27FC236}">
                <a16:creationId xmlns:a16="http://schemas.microsoft.com/office/drawing/2014/main" id="{78DD96F1-BE0C-4FE4-B69F-BA85926561C9}"/>
              </a:ext>
            </a:extLst>
          </p:cNvPr>
          <p:cNvSpPr>
            <a:spLocks noGrp="1"/>
          </p:cNvSpPr>
          <p:nvPr>
            <p:ph type="body" sz="quarter" idx="11" hasCustomPrompt="1"/>
          </p:nvPr>
        </p:nvSpPr>
        <p:spPr>
          <a:xfrm>
            <a:off x="882808" y="3138045"/>
            <a:ext cx="4445178" cy="246221"/>
          </a:xfrm>
          <a:prstGeom prst="rect">
            <a:avLst/>
          </a:prstGeom>
          <a:solidFill>
            <a:schemeClr val="bg1">
              <a:alpha val="90000"/>
            </a:schemeClr>
          </a:solidFill>
          <a:ln>
            <a:noFill/>
          </a:ln>
        </p:spPr>
        <p:txBody>
          <a:bodyPr wrap="none" lIns="72000" tIns="0" rIns="36000" bIns="0">
            <a:spAutoFit/>
          </a:bodyPr>
          <a:lstStyle>
            <a:lvl1pPr>
              <a:spcBef>
                <a:spcPts val="0"/>
              </a:spcBef>
              <a:defRPr sz="1600" b="0">
                <a:solidFill>
                  <a:schemeClr val="accent1"/>
                </a:solidFill>
              </a:defRPr>
            </a:lvl1pPr>
          </a:lstStyle>
          <a:p>
            <a:pPr lvl="0"/>
            <a:r>
              <a:rPr lang="de-DE" err="1"/>
              <a:t>Chair</a:t>
            </a:r>
            <a:r>
              <a:rPr lang="de-DE"/>
              <a:t> </a:t>
            </a:r>
            <a:r>
              <a:rPr lang="de-DE" err="1"/>
              <a:t>of</a:t>
            </a:r>
            <a:r>
              <a:rPr lang="de-DE"/>
              <a:t> Computer Graphics </a:t>
            </a:r>
            <a:r>
              <a:rPr lang="de-DE" err="1"/>
              <a:t>and</a:t>
            </a:r>
            <a:r>
              <a:rPr lang="de-DE"/>
              <a:t> </a:t>
            </a:r>
            <a:r>
              <a:rPr lang="de-DE" err="1"/>
              <a:t>Visualization</a:t>
            </a:r>
            <a:endParaRPr lang="de-DE"/>
          </a:p>
        </p:txBody>
      </p:sp>
      <p:sp>
        <p:nvSpPr>
          <p:cNvPr id="13" name="Textplatzhalter 5">
            <a:extLst>
              <a:ext uri="{FF2B5EF4-FFF2-40B4-BE49-F238E27FC236}">
                <a16:creationId xmlns:a16="http://schemas.microsoft.com/office/drawing/2014/main" id="{AB2194A4-CBE4-4A84-B1E9-D417CDD94A30}"/>
              </a:ext>
            </a:extLst>
          </p:cNvPr>
          <p:cNvSpPr>
            <a:spLocks noGrp="1"/>
          </p:cNvSpPr>
          <p:nvPr>
            <p:ph type="body" sz="quarter" idx="12" hasCustomPrompt="1"/>
          </p:nvPr>
        </p:nvSpPr>
        <p:spPr>
          <a:xfrm>
            <a:off x="882770" y="4375609"/>
            <a:ext cx="4937300" cy="492443"/>
          </a:xfrm>
          <a:prstGeom prst="rect">
            <a:avLst/>
          </a:prstGeom>
          <a:solidFill>
            <a:schemeClr val="bg1">
              <a:alpha val="90000"/>
            </a:schemeClr>
          </a:solidFill>
        </p:spPr>
        <p:txBody>
          <a:bodyPr wrap="none" lIns="72000" tIns="0" rIns="36000" bIns="0">
            <a:spAutoFit/>
          </a:bodyPr>
          <a:lstStyle>
            <a:lvl1pPr>
              <a:defRPr sz="3200" b="0">
                <a:solidFill>
                  <a:schemeClr val="accent1"/>
                </a:solidFill>
              </a:defRPr>
            </a:lvl1pPr>
            <a:lvl3pPr marL="72000" indent="0">
              <a:buNone/>
              <a:defRPr/>
            </a:lvl3pPr>
            <a:lvl4pPr marL="180000" indent="0">
              <a:buNone/>
              <a:defRPr/>
            </a:lvl4pPr>
          </a:lstStyle>
          <a:p>
            <a:r>
              <a:rPr lang="de-DE" err="1"/>
              <a:t>Some</a:t>
            </a:r>
            <a:r>
              <a:rPr lang="de-DE"/>
              <a:t> </a:t>
            </a:r>
            <a:r>
              <a:rPr lang="de-DE" err="1"/>
              <a:t>space</a:t>
            </a:r>
            <a:r>
              <a:rPr lang="de-DE"/>
              <a:t> </a:t>
            </a:r>
            <a:r>
              <a:rPr lang="de-DE" err="1"/>
              <a:t>for</a:t>
            </a:r>
            <a:r>
              <a:rPr lang="de-DE"/>
              <a:t> a </a:t>
            </a:r>
            <a:r>
              <a:rPr lang="de-DE" err="1"/>
              <a:t>subtitle</a:t>
            </a:r>
            <a:endParaRPr lang="de-DE"/>
          </a:p>
        </p:txBody>
      </p:sp>
      <p:sp>
        <p:nvSpPr>
          <p:cNvPr id="14" name="Textplatzhalter 7">
            <a:extLst>
              <a:ext uri="{FF2B5EF4-FFF2-40B4-BE49-F238E27FC236}">
                <a16:creationId xmlns:a16="http://schemas.microsoft.com/office/drawing/2014/main" id="{F1D71DE1-F9B2-4550-A173-A1C0CE63C085}"/>
              </a:ext>
            </a:extLst>
          </p:cNvPr>
          <p:cNvSpPr>
            <a:spLocks noGrp="1"/>
          </p:cNvSpPr>
          <p:nvPr>
            <p:ph type="body" sz="quarter" idx="13" hasCustomPrompt="1"/>
          </p:nvPr>
        </p:nvSpPr>
        <p:spPr>
          <a:xfrm>
            <a:off x="882808" y="5312641"/>
            <a:ext cx="4326556" cy="246221"/>
          </a:xfrm>
          <a:prstGeom prst="rect">
            <a:avLst/>
          </a:prstGeom>
          <a:solidFill>
            <a:schemeClr val="bg1">
              <a:alpha val="90000"/>
            </a:schemeClr>
          </a:solidFill>
        </p:spPr>
        <p:txBody>
          <a:bodyPr wrap="none" lIns="72000" tIns="0" rIns="36000" bIns="0">
            <a:spAutoFit/>
          </a:bodyPr>
          <a:lstStyle>
            <a:lvl1pPr>
              <a:defRPr b="0">
                <a:solidFill>
                  <a:schemeClr val="accent1"/>
                </a:solidFill>
              </a:defRPr>
            </a:lvl1pPr>
          </a:lstStyle>
          <a:p>
            <a:r>
              <a:rPr lang="de-DE"/>
              <a:t>Place </a:t>
            </a:r>
            <a:r>
              <a:rPr lang="de-DE" err="1"/>
              <a:t>or</a:t>
            </a:r>
            <a:r>
              <a:rPr lang="de-DE"/>
              <a:t> </a:t>
            </a:r>
            <a:r>
              <a:rPr lang="de-DE" err="1"/>
              <a:t>occasion</a:t>
            </a:r>
            <a:r>
              <a:rPr lang="de-DE"/>
              <a:t> </a:t>
            </a:r>
            <a:r>
              <a:rPr lang="de-DE" err="1"/>
              <a:t>of</a:t>
            </a:r>
            <a:r>
              <a:rPr lang="de-DE"/>
              <a:t> </a:t>
            </a:r>
            <a:r>
              <a:rPr lang="de-DE" err="1"/>
              <a:t>the</a:t>
            </a:r>
            <a:r>
              <a:rPr lang="de-DE"/>
              <a:t> </a:t>
            </a:r>
            <a:r>
              <a:rPr lang="de-DE" err="1"/>
              <a:t>presentation</a:t>
            </a:r>
            <a:r>
              <a:rPr lang="de-DE"/>
              <a:t> // </a:t>
            </a:r>
            <a:r>
              <a:rPr lang="de-DE" err="1"/>
              <a:t>date</a:t>
            </a:r>
            <a:endParaRPr lang="de-DE"/>
          </a:p>
        </p:txBody>
      </p:sp>
      <p:pic>
        <p:nvPicPr>
          <p:cNvPr id="15" name="Grafik 14" descr="Logo. Acht unregelmäßige Dreiecksflächen sind, im Uhrzeigersinn einen Farbverlauf von dunkelblau bis hellgrün ergebend, zu einem regelmäßig achteckigen Ring angeordnet. Links daneben zweizeilig der Schriftzug &quot;DRESDEN concept" title="Logo Dresden concep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06348" y="348373"/>
            <a:ext cx="1468046" cy="543600"/>
          </a:xfrm>
          <a:prstGeom prst="rect">
            <a:avLst/>
          </a:prstGeom>
        </p:spPr>
      </p:pic>
      <p:pic>
        <p:nvPicPr>
          <p:cNvPr id="18" name="Grafik 17" descr="Logo. Schriftzug &quot;Technische Universität Dresden&quot;. Links davon befindet sich ein Achteck, das in zwei Bereiche aufgeteilt ist, die zusammen die Buchstaben &quot;T&quot; und &quot;U&quot; ergeben." title="Logo der TU Dresd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0304" y="348373"/>
            <a:ext cx="1764000" cy="514800"/>
          </a:xfrm>
          <a:prstGeom prst="rect">
            <a:avLst/>
          </a:prstGeom>
        </p:spPr>
      </p:pic>
      <p:pic>
        <p:nvPicPr>
          <p:cNvPr id="17" name="Grafik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266656" y="5692069"/>
            <a:ext cx="2343879" cy="597689"/>
          </a:xfrm>
          <a:prstGeom prst="rect">
            <a:avLst/>
          </a:prstGeom>
        </p:spPr>
      </p:pic>
    </p:spTree>
    <p:extLst>
      <p:ext uri="{BB962C8B-B14F-4D97-AF65-F5344CB8AC3E}">
        <p14:creationId xmlns:p14="http://schemas.microsoft.com/office/powerpoint/2010/main" val="254226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00 title plain logo">
    <p:spTree>
      <p:nvGrpSpPr>
        <p:cNvPr id="1" name=""/>
        <p:cNvGrpSpPr/>
        <p:nvPr/>
      </p:nvGrpSpPr>
      <p:grpSpPr>
        <a:xfrm>
          <a:off x="0" y="0"/>
          <a:ext cx="0" cy="0"/>
          <a:chOff x="0" y="0"/>
          <a:chExt cx="0" cy="0"/>
        </a:xfrm>
      </p:grpSpPr>
      <p:pic>
        <p:nvPicPr>
          <p:cNvPr id="15" name="Grafik 14" descr="Logo. Acht unregelmäßige Dreiecksflächen sind, im Uhrzeigersinn einen Farbverlauf von dunkelblau bis hellgrün ergebend, zu einem regelmäßig achteckigen Ring angeordnet. Links daneben zweizeilig der Schriftzug &quot;DRESDEN concept" title="Logo Dresden concep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06348" y="321077"/>
            <a:ext cx="1468046" cy="548987"/>
          </a:xfrm>
          <a:prstGeom prst="rect">
            <a:avLst/>
          </a:prstGeom>
        </p:spPr>
      </p:pic>
      <p:pic>
        <p:nvPicPr>
          <p:cNvPr id="17" name="Grafik 16" descr="Logo. Schriftzug &quot;Technische Universität Dresden&quot;. Links davon befindet sich ein Achteck, das in zwei Bereiche aufgeteilt ist, die zusammen die Buchstaben &quot;T&quot; und &quot;U&quot; ergeben." title="Logo der TU Dresd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0304" y="348373"/>
            <a:ext cx="1764000" cy="514800"/>
          </a:xfrm>
          <a:prstGeom prst="rect">
            <a:avLst/>
          </a:prstGeom>
        </p:spPr>
      </p:pic>
    </p:spTree>
    <p:extLst>
      <p:ext uri="{BB962C8B-B14F-4D97-AF65-F5344CB8AC3E}">
        <p14:creationId xmlns:p14="http://schemas.microsoft.com/office/powerpoint/2010/main" val="1725198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0 intermediate/chapter title">
    <p:spTree>
      <p:nvGrpSpPr>
        <p:cNvPr id="1" name=""/>
        <p:cNvGrpSpPr/>
        <p:nvPr/>
      </p:nvGrpSpPr>
      <p:grpSpPr>
        <a:xfrm>
          <a:off x="0" y="0"/>
          <a:ext cx="0" cy="0"/>
          <a:chOff x="0" y="0"/>
          <a:chExt cx="0" cy="0"/>
        </a:xfrm>
      </p:grpSpPr>
      <p:sp>
        <p:nvSpPr>
          <p:cNvPr id="3" name="Rechteck 2"/>
          <p:cNvSpPr/>
          <p:nvPr/>
        </p:nvSpPr>
        <p:spPr>
          <a:xfrm>
            <a:off x="0" y="2"/>
            <a:ext cx="12192000" cy="6129336"/>
          </a:xfrm>
          <a:prstGeom prst="rect">
            <a:avLst/>
          </a:prstGeom>
          <a:gradFill>
            <a:gsLst>
              <a:gs pos="14000">
                <a:schemeClr val="accent2"/>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4" name="Titel 1"/>
          <p:cNvSpPr>
            <a:spLocks noGrp="1"/>
          </p:cNvSpPr>
          <p:nvPr>
            <p:ph type="title" hasCustomPrompt="1"/>
          </p:nvPr>
        </p:nvSpPr>
        <p:spPr>
          <a:xfrm>
            <a:off x="882771" y="3835706"/>
            <a:ext cx="2600071" cy="492443"/>
          </a:xfrm>
          <a:noFill/>
          <a:ln>
            <a:noFill/>
          </a:ln>
        </p:spPr>
        <p:txBody>
          <a:bodyPr wrap="none" lIns="0">
            <a:spAutoFit/>
          </a:bodyPr>
          <a:lstStyle>
            <a:lvl1pPr>
              <a:defRPr sz="3200" b="1" baseline="0">
                <a:solidFill>
                  <a:schemeClr val="bg1"/>
                </a:solidFill>
              </a:defRPr>
            </a:lvl1pPr>
          </a:lstStyle>
          <a:p>
            <a:r>
              <a:rPr lang="de-DE"/>
              <a:t>Chapter title</a:t>
            </a:r>
          </a:p>
        </p:txBody>
      </p:sp>
      <p:sp>
        <p:nvSpPr>
          <p:cNvPr id="5" name="Textplatzhalter 5">
            <a:extLst>
              <a:ext uri="{FF2B5EF4-FFF2-40B4-BE49-F238E27FC236}">
                <a16:creationId xmlns:a16="http://schemas.microsoft.com/office/drawing/2014/main" id="{AB2194A4-CBE4-4A84-B1E9-D417CDD94A30}"/>
              </a:ext>
            </a:extLst>
          </p:cNvPr>
          <p:cNvSpPr>
            <a:spLocks noGrp="1"/>
          </p:cNvSpPr>
          <p:nvPr>
            <p:ph type="body" sz="quarter" idx="12" hasCustomPrompt="1"/>
          </p:nvPr>
        </p:nvSpPr>
        <p:spPr>
          <a:xfrm>
            <a:off x="882770" y="4375609"/>
            <a:ext cx="4496424" cy="492443"/>
          </a:xfrm>
          <a:prstGeom prst="rect">
            <a:avLst/>
          </a:prstGeom>
          <a:noFill/>
        </p:spPr>
        <p:txBody>
          <a:bodyPr wrap="none" lIns="0">
            <a:spAutoFit/>
          </a:bodyPr>
          <a:lstStyle>
            <a:lvl1pPr>
              <a:defRPr sz="3200" b="0" baseline="0">
                <a:solidFill>
                  <a:schemeClr val="bg1"/>
                </a:solidFill>
              </a:defRPr>
            </a:lvl1pPr>
            <a:lvl3pPr marL="72000" indent="0">
              <a:buNone/>
              <a:defRPr/>
            </a:lvl3pPr>
            <a:lvl4pPr marL="180000" indent="0">
              <a:buNone/>
              <a:defRPr/>
            </a:lvl4pPr>
          </a:lstStyle>
          <a:p>
            <a:pPr lvl="0"/>
            <a:r>
              <a:rPr lang="de-DE" err="1"/>
              <a:t>Some</a:t>
            </a:r>
            <a:r>
              <a:rPr lang="de-DE"/>
              <a:t> </a:t>
            </a:r>
            <a:r>
              <a:rPr lang="de-DE" err="1"/>
              <a:t>space</a:t>
            </a:r>
            <a:r>
              <a:rPr lang="de-DE"/>
              <a:t> für </a:t>
            </a:r>
            <a:r>
              <a:rPr lang="de-DE" err="1"/>
              <a:t>subtitle</a:t>
            </a:r>
            <a:endParaRPr lang="de-DE"/>
          </a:p>
        </p:txBody>
      </p:sp>
    </p:spTree>
    <p:extLst>
      <p:ext uri="{BB962C8B-B14F-4D97-AF65-F5344CB8AC3E}">
        <p14:creationId xmlns:p14="http://schemas.microsoft.com/office/powerpoint/2010/main" val="1247067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1 one column layout">
    <p:spTree>
      <p:nvGrpSpPr>
        <p:cNvPr id="1" name=""/>
        <p:cNvGrpSpPr/>
        <p:nvPr/>
      </p:nvGrpSpPr>
      <p:grpSpPr>
        <a:xfrm>
          <a:off x="0" y="0"/>
          <a:ext cx="0" cy="0"/>
          <a:chOff x="0" y="0"/>
          <a:chExt cx="0" cy="0"/>
        </a:xfrm>
      </p:grpSpPr>
      <p:sp>
        <p:nvSpPr>
          <p:cNvPr id="4" name="Titel 3"/>
          <p:cNvSpPr>
            <a:spLocks noGrp="1"/>
          </p:cNvSpPr>
          <p:nvPr>
            <p:ph type="title" hasCustomPrompt="1"/>
          </p:nvPr>
        </p:nvSpPr>
        <p:spPr/>
        <p:txBody>
          <a:bodyPr/>
          <a:lstStyle>
            <a:lvl1pPr>
              <a:defRPr/>
            </a:lvl1pPr>
          </a:lstStyle>
          <a:p>
            <a:r>
              <a:rPr lang="de-DE"/>
              <a:t>Title </a:t>
            </a:r>
            <a:r>
              <a:rPr lang="de-DE" err="1"/>
              <a:t>of</a:t>
            </a:r>
            <a:r>
              <a:rPr lang="de-DE"/>
              <a:t> </a:t>
            </a:r>
            <a:r>
              <a:rPr lang="de-DE" err="1"/>
              <a:t>slide</a:t>
            </a:r>
            <a:endParaRPr lang="de-DE"/>
          </a:p>
        </p:txBody>
      </p:sp>
      <p:sp>
        <p:nvSpPr>
          <p:cNvPr id="6" name="Inhaltsplatzhalter 5"/>
          <p:cNvSpPr>
            <a:spLocks noGrp="1"/>
          </p:cNvSpPr>
          <p:nvPr>
            <p:ph sz="quarter" idx="10"/>
          </p:nvPr>
        </p:nvSpPr>
        <p:spPr>
          <a:xfrm>
            <a:off x="874711" y="1484313"/>
            <a:ext cx="10580688" cy="4344987"/>
          </a:xfrm>
        </p:spPr>
        <p:txBody>
          <a:bodyPr/>
          <a:lstStyle>
            <a:lvl1pPr>
              <a:spcBef>
                <a:spcPts val="1200"/>
              </a:spcBef>
              <a:defRPr/>
            </a:lvl1pPr>
            <a:lvl3pPr>
              <a:spcBef>
                <a:spcPts val="1200"/>
              </a:spcBef>
              <a:defRPr/>
            </a:lvl3pPr>
          </a:lstStyle>
          <a:p>
            <a:pPr lvl="0"/>
            <a:r>
              <a:rPr lang="de-DE" dirty="0"/>
              <a:t>Formatvorlagen des Textmasters bearbeiten</a:t>
            </a:r>
          </a:p>
        </p:txBody>
      </p:sp>
      <p:sp>
        <p:nvSpPr>
          <p:cNvPr id="2" name="Textfeld 1">
            <a:extLst>
              <a:ext uri="{FF2B5EF4-FFF2-40B4-BE49-F238E27FC236}">
                <a16:creationId xmlns:a16="http://schemas.microsoft.com/office/drawing/2014/main" id="{870B21C0-1259-895D-0234-97612B8F3B1E}"/>
              </a:ext>
            </a:extLst>
          </p:cNvPr>
          <p:cNvSpPr txBox="1"/>
          <p:nvPr userDrawn="1"/>
        </p:nvSpPr>
        <p:spPr>
          <a:xfrm>
            <a:off x="9666514" y="6420897"/>
            <a:ext cx="1296238" cy="307777"/>
          </a:xfrm>
          <a:prstGeom prst="rect">
            <a:avLst/>
          </a:prstGeom>
          <a:noFill/>
        </p:spPr>
        <p:txBody>
          <a:bodyPr wrap="square" rtlCol="0">
            <a:spAutoFit/>
          </a:bodyPr>
          <a:lstStyle/>
          <a:p>
            <a:fld id="{8970C241-7D58-4B07-B5F2-D2B7B38491E3}" type="slidenum">
              <a:rPr lang="de-DE" sz="1400" smtClean="0"/>
              <a:t>‹#›</a:t>
            </a:fld>
            <a:endParaRPr lang="de-DE" sz="1400" dirty="0"/>
          </a:p>
        </p:txBody>
      </p:sp>
    </p:spTree>
    <p:extLst>
      <p:ext uri="{BB962C8B-B14F-4D97-AF65-F5344CB8AC3E}">
        <p14:creationId xmlns:p14="http://schemas.microsoft.com/office/powerpoint/2010/main" val="3828119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2A939-7ECE-8E80-D8C1-4C394217DA0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515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1 one column and figur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Title </a:t>
            </a:r>
            <a:r>
              <a:rPr lang="de-DE" err="1"/>
              <a:t>of</a:t>
            </a:r>
            <a:r>
              <a:rPr lang="de-DE"/>
              <a:t> </a:t>
            </a:r>
            <a:r>
              <a:rPr lang="de-DE" err="1"/>
              <a:t>slide</a:t>
            </a:r>
            <a:endParaRPr lang="de-DE"/>
          </a:p>
        </p:txBody>
      </p:sp>
      <p:sp>
        <p:nvSpPr>
          <p:cNvPr id="9" name="Bildplatzhalter 7"/>
          <p:cNvSpPr>
            <a:spLocks noGrp="1"/>
          </p:cNvSpPr>
          <p:nvPr>
            <p:ph type="pic" sz="quarter" idx="13"/>
          </p:nvPr>
        </p:nvSpPr>
        <p:spPr>
          <a:xfrm>
            <a:off x="6267449" y="1484314"/>
            <a:ext cx="5187950" cy="4344985"/>
          </a:xfrm>
        </p:spPr>
        <p:txBody>
          <a:bodyPr/>
          <a:lstStyle/>
          <a:p>
            <a:r>
              <a:rPr lang="de-DE"/>
              <a:t>Bild durch Klicken auf Symbol hinzufügen</a:t>
            </a:r>
          </a:p>
        </p:txBody>
      </p:sp>
      <p:sp>
        <p:nvSpPr>
          <p:cNvPr id="4" name="Inhaltsplatzhalter 3"/>
          <p:cNvSpPr>
            <a:spLocks noGrp="1"/>
          </p:cNvSpPr>
          <p:nvPr>
            <p:ph sz="quarter" idx="14"/>
          </p:nvPr>
        </p:nvSpPr>
        <p:spPr>
          <a:xfrm>
            <a:off x="874713" y="1484313"/>
            <a:ext cx="5195887" cy="4357687"/>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170242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01 two column layou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Title </a:t>
            </a:r>
            <a:r>
              <a:rPr lang="de-DE" err="1"/>
              <a:t>of</a:t>
            </a:r>
            <a:r>
              <a:rPr lang="de-DE"/>
              <a:t> </a:t>
            </a:r>
            <a:r>
              <a:rPr lang="de-DE" err="1"/>
              <a:t>slide</a:t>
            </a:r>
            <a:endParaRPr lang="de-DE"/>
          </a:p>
        </p:txBody>
      </p:sp>
      <p:sp>
        <p:nvSpPr>
          <p:cNvPr id="4" name="Inhaltsplatzhalter 3"/>
          <p:cNvSpPr>
            <a:spLocks noGrp="1"/>
          </p:cNvSpPr>
          <p:nvPr>
            <p:ph sz="quarter" idx="14"/>
          </p:nvPr>
        </p:nvSpPr>
        <p:spPr>
          <a:xfrm>
            <a:off x="874713" y="1481138"/>
            <a:ext cx="5195887" cy="4360862"/>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8" name="Inhaltsplatzhalter 3"/>
          <p:cNvSpPr>
            <a:spLocks noGrp="1"/>
          </p:cNvSpPr>
          <p:nvPr>
            <p:ph sz="quarter" idx="15"/>
          </p:nvPr>
        </p:nvSpPr>
        <p:spPr>
          <a:xfrm>
            <a:off x="6267450" y="1481138"/>
            <a:ext cx="5195887" cy="4360862"/>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057373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2 image grid">
    <p:spTree>
      <p:nvGrpSpPr>
        <p:cNvPr id="1" name=""/>
        <p:cNvGrpSpPr/>
        <p:nvPr/>
      </p:nvGrpSpPr>
      <p:grpSpPr>
        <a:xfrm>
          <a:off x="0" y="0"/>
          <a:ext cx="0" cy="0"/>
          <a:chOff x="0" y="0"/>
          <a:chExt cx="0" cy="0"/>
        </a:xfrm>
      </p:grpSpPr>
      <p:sp>
        <p:nvSpPr>
          <p:cNvPr id="2" name="Titel 1"/>
          <p:cNvSpPr>
            <a:spLocks noGrp="1"/>
          </p:cNvSpPr>
          <p:nvPr>
            <p:ph type="title"/>
          </p:nvPr>
        </p:nvSpPr>
        <p:spPr>
          <a:xfrm>
            <a:off x="874712" y="346076"/>
            <a:ext cx="10580687" cy="509588"/>
          </a:xfrm>
        </p:spPr>
        <p:txBody>
          <a:bodyPr/>
          <a:lstStyle/>
          <a:p>
            <a:r>
              <a:rPr lang="de-DE"/>
              <a:t>Titelmasterformat durch Klicken bearbeiten</a:t>
            </a:r>
          </a:p>
        </p:txBody>
      </p:sp>
      <p:sp>
        <p:nvSpPr>
          <p:cNvPr id="3" name="Bildplatzhalter 2"/>
          <p:cNvSpPr>
            <a:spLocks noGrp="1"/>
          </p:cNvSpPr>
          <p:nvPr>
            <p:ph type="pic" sz="quarter" idx="10"/>
          </p:nvPr>
        </p:nvSpPr>
        <p:spPr>
          <a:xfrm>
            <a:off x="879785" y="1030288"/>
            <a:ext cx="2498415" cy="2341891"/>
          </a:xfrm>
          <a:prstGeom prst="rect">
            <a:avLst/>
          </a:prstGeom>
          <a:solidFill>
            <a:schemeClr val="bg1">
              <a:lumMod val="95000"/>
            </a:schemeClr>
          </a:solidFill>
        </p:spPr>
        <p:txBody>
          <a:bodyPr/>
          <a:lstStyle/>
          <a:p>
            <a:r>
              <a:rPr lang="de-DE"/>
              <a:t>Bild durch Klicken auf Symbol hinzufügen</a:t>
            </a:r>
          </a:p>
        </p:txBody>
      </p:sp>
      <p:sp>
        <p:nvSpPr>
          <p:cNvPr id="9" name="Bildplatzhalter 2"/>
          <p:cNvSpPr>
            <a:spLocks noGrp="1"/>
          </p:cNvSpPr>
          <p:nvPr>
            <p:ph type="pic" sz="quarter" idx="11"/>
          </p:nvPr>
        </p:nvSpPr>
        <p:spPr>
          <a:xfrm>
            <a:off x="3575257" y="1030288"/>
            <a:ext cx="2498415" cy="2341891"/>
          </a:xfrm>
          <a:prstGeom prst="rect">
            <a:avLst/>
          </a:prstGeom>
          <a:solidFill>
            <a:schemeClr val="bg1">
              <a:lumMod val="95000"/>
            </a:schemeClr>
          </a:solidFill>
        </p:spPr>
        <p:txBody>
          <a:bodyPr/>
          <a:lstStyle/>
          <a:p>
            <a:r>
              <a:rPr lang="de-DE"/>
              <a:t>Bild durch Klicken auf Symbol hinzufügen</a:t>
            </a:r>
          </a:p>
        </p:txBody>
      </p:sp>
      <p:sp>
        <p:nvSpPr>
          <p:cNvPr id="10" name="Bildplatzhalter 2"/>
          <p:cNvSpPr>
            <a:spLocks noGrp="1"/>
          </p:cNvSpPr>
          <p:nvPr>
            <p:ph type="pic" sz="quarter" idx="12"/>
          </p:nvPr>
        </p:nvSpPr>
        <p:spPr>
          <a:xfrm>
            <a:off x="6270729" y="1030288"/>
            <a:ext cx="2498415" cy="2341891"/>
          </a:xfrm>
          <a:prstGeom prst="rect">
            <a:avLst/>
          </a:prstGeom>
          <a:solidFill>
            <a:schemeClr val="bg1">
              <a:lumMod val="95000"/>
            </a:schemeClr>
          </a:solidFill>
        </p:spPr>
        <p:txBody>
          <a:bodyPr/>
          <a:lstStyle/>
          <a:p>
            <a:r>
              <a:rPr lang="de-DE"/>
              <a:t>Bild durch Klicken auf Symbol hinzufügen</a:t>
            </a:r>
          </a:p>
        </p:txBody>
      </p:sp>
      <p:sp>
        <p:nvSpPr>
          <p:cNvPr id="11" name="Bildplatzhalter 2"/>
          <p:cNvSpPr>
            <a:spLocks noGrp="1"/>
          </p:cNvSpPr>
          <p:nvPr>
            <p:ph type="pic" sz="quarter" idx="13"/>
          </p:nvPr>
        </p:nvSpPr>
        <p:spPr>
          <a:xfrm>
            <a:off x="8966200" y="1030288"/>
            <a:ext cx="2498415" cy="2341891"/>
          </a:xfrm>
          <a:prstGeom prst="rect">
            <a:avLst/>
          </a:prstGeom>
          <a:solidFill>
            <a:schemeClr val="bg1">
              <a:lumMod val="95000"/>
            </a:schemeClr>
          </a:solidFill>
        </p:spPr>
        <p:txBody>
          <a:bodyPr/>
          <a:lstStyle/>
          <a:p>
            <a:r>
              <a:rPr lang="de-DE"/>
              <a:t>Bild durch Klicken auf Symbol hinzufügen</a:t>
            </a:r>
          </a:p>
        </p:txBody>
      </p:sp>
      <p:sp>
        <p:nvSpPr>
          <p:cNvPr id="12" name="Bildplatzhalter 2"/>
          <p:cNvSpPr>
            <a:spLocks noGrp="1"/>
          </p:cNvSpPr>
          <p:nvPr>
            <p:ph type="pic" sz="quarter" idx="14"/>
          </p:nvPr>
        </p:nvSpPr>
        <p:spPr>
          <a:xfrm>
            <a:off x="880142" y="3572347"/>
            <a:ext cx="2498415" cy="2341891"/>
          </a:xfrm>
          <a:prstGeom prst="rect">
            <a:avLst/>
          </a:prstGeom>
          <a:solidFill>
            <a:schemeClr val="bg1">
              <a:lumMod val="95000"/>
            </a:schemeClr>
          </a:solidFill>
        </p:spPr>
        <p:txBody>
          <a:bodyPr/>
          <a:lstStyle/>
          <a:p>
            <a:r>
              <a:rPr lang="de-DE"/>
              <a:t>Bild durch Klicken auf Symbol hinzufügen</a:t>
            </a:r>
          </a:p>
        </p:txBody>
      </p:sp>
      <p:sp>
        <p:nvSpPr>
          <p:cNvPr id="13" name="Bildplatzhalter 2"/>
          <p:cNvSpPr>
            <a:spLocks noGrp="1"/>
          </p:cNvSpPr>
          <p:nvPr>
            <p:ph type="pic" sz="quarter" idx="15"/>
          </p:nvPr>
        </p:nvSpPr>
        <p:spPr>
          <a:xfrm>
            <a:off x="3575614" y="3572347"/>
            <a:ext cx="2498415" cy="2341891"/>
          </a:xfrm>
          <a:prstGeom prst="rect">
            <a:avLst/>
          </a:prstGeom>
          <a:solidFill>
            <a:schemeClr val="bg1">
              <a:lumMod val="95000"/>
            </a:schemeClr>
          </a:solidFill>
        </p:spPr>
        <p:txBody>
          <a:bodyPr/>
          <a:lstStyle/>
          <a:p>
            <a:r>
              <a:rPr lang="de-DE"/>
              <a:t>Bild durch Klicken auf Symbol hinzufügen</a:t>
            </a:r>
          </a:p>
        </p:txBody>
      </p:sp>
      <p:sp>
        <p:nvSpPr>
          <p:cNvPr id="14" name="Bildplatzhalter 2"/>
          <p:cNvSpPr>
            <a:spLocks noGrp="1"/>
          </p:cNvSpPr>
          <p:nvPr>
            <p:ph type="pic" sz="quarter" idx="16"/>
          </p:nvPr>
        </p:nvSpPr>
        <p:spPr>
          <a:xfrm>
            <a:off x="6271086" y="3572347"/>
            <a:ext cx="2498415" cy="2341891"/>
          </a:xfrm>
          <a:prstGeom prst="rect">
            <a:avLst/>
          </a:prstGeom>
          <a:solidFill>
            <a:schemeClr val="bg1">
              <a:lumMod val="95000"/>
            </a:schemeClr>
          </a:solidFill>
        </p:spPr>
        <p:txBody>
          <a:bodyPr/>
          <a:lstStyle/>
          <a:p>
            <a:r>
              <a:rPr lang="de-DE"/>
              <a:t>Bild durch Klicken auf Symbol hinzufügen</a:t>
            </a:r>
          </a:p>
        </p:txBody>
      </p:sp>
      <p:sp>
        <p:nvSpPr>
          <p:cNvPr id="15" name="Bildplatzhalter 2"/>
          <p:cNvSpPr>
            <a:spLocks noGrp="1"/>
          </p:cNvSpPr>
          <p:nvPr>
            <p:ph type="pic" sz="quarter" idx="17"/>
          </p:nvPr>
        </p:nvSpPr>
        <p:spPr>
          <a:xfrm>
            <a:off x="8966557" y="3572347"/>
            <a:ext cx="2498415" cy="2341891"/>
          </a:xfrm>
          <a:prstGeom prst="rect">
            <a:avLst/>
          </a:prstGeom>
          <a:solidFill>
            <a:schemeClr val="bg1">
              <a:lumMod val="95000"/>
            </a:schemeClr>
          </a:solidFill>
        </p:spPr>
        <p:txBody>
          <a:bodyPr/>
          <a:lstStyle/>
          <a:p>
            <a:r>
              <a:rPr lang="de-DE"/>
              <a:t>Bild durch Klicken auf Symbol hinzufügen</a:t>
            </a:r>
          </a:p>
        </p:txBody>
      </p:sp>
    </p:spTree>
    <p:extLst>
      <p:ext uri="{BB962C8B-B14F-4D97-AF65-F5344CB8AC3E}">
        <p14:creationId xmlns:p14="http://schemas.microsoft.com/office/powerpoint/2010/main" val="3260595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02 fullscreen imag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874712" y="346076"/>
            <a:ext cx="10580687" cy="509588"/>
          </a:xfrm>
        </p:spPr>
        <p:txBody>
          <a:bodyPr/>
          <a:lstStyle>
            <a:lvl1pPr>
              <a:defRPr/>
            </a:lvl1pPr>
          </a:lstStyle>
          <a:p>
            <a:r>
              <a:rPr lang="de-DE"/>
              <a:t>Title </a:t>
            </a:r>
            <a:r>
              <a:rPr lang="de-DE" err="1"/>
              <a:t>of</a:t>
            </a:r>
            <a:r>
              <a:rPr lang="de-DE"/>
              <a:t> </a:t>
            </a:r>
            <a:r>
              <a:rPr lang="de-DE" err="1"/>
              <a:t>slide</a:t>
            </a:r>
            <a:endParaRPr lang="de-DE"/>
          </a:p>
        </p:txBody>
      </p:sp>
      <p:sp>
        <p:nvSpPr>
          <p:cNvPr id="7" name="Bildplatzhalter 6"/>
          <p:cNvSpPr>
            <a:spLocks noGrp="1"/>
          </p:cNvSpPr>
          <p:nvPr>
            <p:ph type="pic" sz="quarter" idx="10"/>
          </p:nvPr>
        </p:nvSpPr>
        <p:spPr>
          <a:xfrm>
            <a:off x="0" y="1030288"/>
            <a:ext cx="12192000" cy="5099050"/>
          </a:xfrm>
        </p:spPr>
        <p:txBody>
          <a:bodyPr/>
          <a:lstStyle/>
          <a:p>
            <a:r>
              <a:rPr lang="de-DE"/>
              <a:t>Bild durch Klicken auf Symbol hinzufügen</a:t>
            </a:r>
          </a:p>
        </p:txBody>
      </p:sp>
    </p:spTree>
    <p:extLst>
      <p:ext uri="{BB962C8B-B14F-4D97-AF65-F5344CB8AC3E}">
        <p14:creationId xmlns:p14="http://schemas.microsoft.com/office/powerpoint/2010/main" val="32589565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4193A-A78A-24BD-070B-2F3EDAE87E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6D3550-02D8-4B8B-1A53-5821CB8D7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C9F5B5-B547-77FC-EBE7-CB109AFDC872}"/>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5" name="Footer Placeholder 4">
            <a:extLst>
              <a:ext uri="{FF2B5EF4-FFF2-40B4-BE49-F238E27FC236}">
                <a16:creationId xmlns:a16="http://schemas.microsoft.com/office/drawing/2014/main" id="{68C55D57-0688-185B-F355-15DFB4241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E981B-C2E0-570A-A72F-C6FD64112FD0}"/>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2313606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F523-C286-5F17-068F-0D256F22F6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90C012-BFBF-C1DA-3AD5-1CC34B5A0E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EE770-524E-6302-4CB0-3992ABFD4FF9}"/>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5" name="Footer Placeholder 4">
            <a:extLst>
              <a:ext uri="{FF2B5EF4-FFF2-40B4-BE49-F238E27FC236}">
                <a16:creationId xmlns:a16="http://schemas.microsoft.com/office/drawing/2014/main" id="{34295D30-69DC-2A68-9276-D27300109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00133C-12BA-93BC-C2CE-12FF017E7D50}"/>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1410757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366D9-0604-2785-1E12-8E59BB94F2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EBD169-A52F-96E9-14BD-5A055909FC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7E5124-27AD-9887-5924-DBD5BD3D706D}"/>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5" name="Footer Placeholder 4">
            <a:extLst>
              <a:ext uri="{FF2B5EF4-FFF2-40B4-BE49-F238E27FC236}">
                <a16:creationId xmlns:a16="http://schemas.microsoft.com/office/drawing/2014/main" id="{FA7046B9-EA6F-4CE7-2C9E-CBA877636C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90ACE-08CE-1347-3F03-4E97DBD4BF12}"/>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16088991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C16F1-7C9C-7DF0-C946-53261FC9BA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A584FA-E54B-0F6F-57A4-12CAD8D910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D6EA72-E18F-9104-61CB-29B69D1684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BD8F74-1B70-9FC4-54D5-33A39169E9B1}"/>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6" name="Footer Placeholder 5">
            <a:extLst>
              <a:ext uri="{FF2B5EF4-FFF2-40B4-BE49-F238E27FC236}">
                <a16:creationId xmlns:a16="http://schemas.microsoft.com/office/drawing/2014/main" id="{023F532B-15CC-F38E-4606-AEC903A9C0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C6AD55-23CD-BA76-1BFE-BFCFF720714D}"/>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469519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94DE-BBFE-0E80-F160-BC3F56BD97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C091C3-FDB6-9112-9818-F07FB01E1F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A539CB-81B8-3553-20B9-8F28714AF2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146AC9-42B7-5A4B-F751-63082E9D56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550E30-22F6-765A-0C89-D88D3624C6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EA281-D754-74D5-4B73-340D1002E7FC}"/>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8" name="Footer Placeholder 7">
            <a:extLst>
              <a:ext uri="{FF2B5EF4-FFF2-40B4-BE49-F238E27FC236}">
                <a16:creationId xmlns:a16="http://schemas.microsoft.com/office/drawing/2014/main" id="{71C01020-217C-0219-D9F3-31D2C86C2B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BA41B-21DB-7EFA-F3B1-5ABEA7F5D348}"/>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1616227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B9674-89E8-5EDD-9B44-882D1367BC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FB4D7B-6F9C-7E90-00F3-27FDA76350B0}"/>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4" name="Footer Placeholder 3">
            <a:extLst>
              <a:ext uri="{FF2B5EF4-FFF2-40B4-BE49-F238E27FC236}">
                <a16:creationId xmlns:a16="http://schemas.microsoft.com/office/drawing/2014/main" id="{040F6683-DE55-55C9-C5FA-C3C795252A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DB29D9-C85D-728B-E154-B7BEA29F3DBC}"/>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37338925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1ABF3A-6477-A826-0339-6E9BBE6B22AC}"/>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3" name="Footer Placeholder 2">
            <a:extLst>
              <a:ext uri="{FF2B5EF4-FFF2-40B4-BE49-F238E27FC236}">
                <a16:creationId xmlns:a16="http://schemas.microsoft.com/office/drawing/2014/main" id="{27D8217D-A27B-2F9D-8A6C-31313D47E3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AD1702C-023E-A00E-7331-FBF8BE93523F}"/>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2163524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CA01-352E-F5FD-6D78-9BE6BC60D3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015A51-7656-14A1-2E61-D4EC12AD85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186D57-2647-6716-2110-F979D0AC6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9E782F-BA53-83DB-82D8-48973EAF9405}"/>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6" name="Footer Placeholder 5">
            <a:extLst>
              <a:ext uri="{FF2B5EF4-FFF2-40B4-BE49-F238E27FC236}">
                <a16:creationId xmlns:a16="http://schemas.microsoft.com/office/drawing/2014/main" id="{0282FB44-1B90-70BB-327A-A9D80AB952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21D929-53CC-AC9F-0BC5-F09B4CFFC917}"/>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40265370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671F-AA0A-80C8-5955-56CDF8B1F0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847760-E17F-5F9D-7338-5F1D11D5DD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456634-CEFE-90B5-C09E-BB79F64BA4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B6DB4B-5076-50B3-1842-B3240DC0BC6B}"/>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6" name="Footer Placeholder 5">
            <a:extLst>
              <a:ext uri="{FF2B5EF4-FFF2-40B4-BE49-F238E27FC236}">
                <a16:creationId xmlns:a16="http://schemas.microsoft.com/office/drawing/2014/main" id="{2CE5B9E3-F9CF-D0F5-A5FF-D53B4FCD79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C4AA73-5E2B-43E3-BF11-5599E59CCDB9}"/>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16773488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DAB0F-7116-CFA9-939B-28B2201D23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C75205-4C9A-E5EA-9BB0-874398AC7A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5068D1-13CC-93B8-4ABC-FC982D5FAEE5}"/>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5" name="Footer Placeholder 4">
            <a:extLst>
              <a:ext uri="{FF2B5EF4-FFF2-40B4-BE49-F238E27FC236}">
                <a16:creationId xmlns:a16="http://schemas.microsoft.com/office/drawing/2014/main" id="{ACD6EE3F-71EF-9B09-3575-2947A7A64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0BB0CD-27A5-1A33-B409-49A5B5AB3F08}"/>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3406776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AEEEC0-4BCA-9033-92ED-01A86543A2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0824FB-4BC4-47BA-7582-46430A3CE4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B40FFB-FFC9-37BD-B789-418CC5D44BE6}"/>
              </a:ext>
            </a:extLst>
          </p:cNvPr>
          <p:cNvSpPr>
            <a:spLocks noGrp="1"/>
          </p:cNvSpPr>
          <p:nvPr>
            <p:ph type="dt" sz="half" idx="10"/>
          </p:nvPr>
        </p:nvSpPr>
        <p:spPr/>
        <p:txBody>
          <a:bodyPr/>
          <a:lstStyle/>
          <a:p>
            <a:fld id="{7F5A7C41-A782-40EF-A4C5-D79F76289A9E}" type="datetimeFigureOut">
              <a:rPr lang="en-US" smtClean="0"/>
              <a:t>1/8/2026</a:t>
            </a:fld>
            <a:endParaRPr lang="en-US"/>
          </a:p>
        </p:txBody>
      </p:sp>
      <p:sp>
        <p:nvSpPr>
          <p:cNvPr id="5" name="Footer Placeholder 4">
            <a:extLst>
              <a:ext uri="{FF2B5EF4-FFF2-40B4-BE49-F238E27FC236}">
                <a16:creationId xmlns:a16="http://schemas.microsoft.com/office/drawing/2014/main" id="{46C5797A-4825-CB91-9687-B701181932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1A4AC5-49EE-0B5E-4A02-4B101AA62200}"/>
              </a:ext>
            </a:extLst>
          </p:cNvPr>
          <p:cNvSpPr>
            <a:spLocks noGrp="1"/>
          </p:cNvSpPr>
          <p:nvPr>
            <p:ph type="sldNum" sz="quarter" idx="12"/>
          </p:nvPr>
        </p:nvSpPr>
        <p:spPr/>
        <p:txBody>
          <a:bodyPr/>
          <a:lstStyle/>
          <a:p>
            <a:fld id="{DE291C62-063F-40B7-A719-BF87300AA581}" type="slidenum">
              <a:rPr lang="en-US" smtClean="0"/>
              <a:t>‹#›</a:t>
            </a:fld>
            <a:endParaRPr lang="en-US"/>
          </a:p>
        </p:txBody>
      </p:sp>
    </p:spTree>
    <p:extLst>
      <p:ext uri="{BB962C8B-B14F-4D97-AF65-F5344CB8AC3E}">
        <p14:creationId xmlns:p14="http://schemas.microsoft.com/office/powerpoint/2010/main" val="1065523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w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74712" y="346075"/>
            <a:ext cx="10580687" cy="684213"/>
          </a:xfrm>
          <a:prstGeom prst="rect">
            <a:avLst/>
          </a:prstGeom>
          <a:ln>
            <a:noFill/>
          </a:ln>
        </p:spPr>
        <p:txBody>
          <a:bodyPr vert="horz" lIns="0" tIns="0" rIns="0" bIns="0" rtlCol="0" anchor="t" anchorCtr="0">
            <a:noAutofit/>
          </a:bodyPr>
          <a:lstStyle/>
          <a:p>
            <a:r>
              <a:rPr lang="de-DE"/>
              <a:t>This </a:t>
            </a:r>
            <a:r>
              <a:rPr lang="de-DE" err="1"/>
              <a:t>is</a:t>
            </a:r>
            <a:r>
              <a:rPr lang="de-DE"/>
              <a:t> a </a:t>
            </a:r>
            <a:r>
              <a:rPr lang="de-DE" err="1"/>
              <a:t>very</a:t>
            </a:r>
            <a:r>
              <a:rPr lang="de-DE"/>
              <a:t> </a:t>
            </a:r>
            <a:r>
              <a:rPr lang="de-DE" err="1"/>
              <a:t>long</a:t>
            </a:r>
            <a:r>
              <a:rPr lang="de-DE"/>
              <a:t> title </a:t>
            </a:r>
            <a:br>
              <a:rPr lang="de-DE"/>
            </a:br>
            <a:r>
              <a:rPr lang="de-DE" err="1"/>
              <a:t>over</a:t>
            </a:r>
            <a:r>
              <a:rPr lang="de-DE"/>
              <a:t> </a:t>
            </a:r>
            <a:r>
              <a:rPr lang="de-DE" err="1"/>
              <a:t>two</a:t>
            </a:r>
            <a:r>
              <a:rPr lang="de-DE"/>
              <a:t> </a:t>
            </a:r>
            <a:r>
              <a:rPr lang="de-DE" err="1"/>
              <a:t>lines</a:t>
            </a:r>
            <a:endParaRPr lang="de-DE"/>
          </a:p>
        </p:txBody>
      </p:sp>
      <p:sp>
        <p:nvSpPr>
          <p:cNvPr id="3" name="Textplatzhalter 2"/>
          <p:cNvSpPr>
            <a:spLocks noGrp="1"/>
          </p:cNvSpPr>
          <p:nvPr>
            <p:ph type="body" idx="1"/>
          </p:nvPr>
        </p:nvSpPr>
        <p:spPr>
          <a:xfrm>
            <a:off x="874712" y="1481138"/>
            <a:ext cx="10580687" cy="4360861"/>
          </a:xfrm>
          <a:prstGeom prst="rect">
            <a:avLst/>
          </a:prstGeom>
          <a:ln>
            <a:noFill/>
          </a:ln>
        </p:spPr>
        <p:txBody>
          <a:bodyPr vert="horz" lIns="0" tIns="0" rIns="0" bIns="0" rtlCol="0">
            <a:noAutofit/>
          </a:bodyPr>
          <a:lstStyle/>
          <a:p>
            <a:pPr lvl="0"/>
            <a:r>
              <a:rPr lang="de-DE"/>
              <a:t>Standard text with no indent (font size 20pt)</a:t>
            </a:r>
          </a:p>
          <a:p>
            <a:pPr lvl="1"/>
            <a:r>
              <a:rPr lang="de-DE"/>
              <a:t>This is standard text on the first indent level (don‘t use bullet points, 18pt)</a:t>
            </a:r>
          </a:p>
          <a:p>
            <a:pPr lvl="2"/>
            <a:r>
              <a:rPr lang="de-DE"/>
              <a:t>This is the second indent level (18 pt)</a:t>
            </a:r>
          </a:p>
          <a:p>
            <a:pPr lvl="3"/>
            <a:r>
              <a:rPr lang="de-DE"/>
              <a:t>This is the third indent level (16pt)</a:t>
            </a:r>
          </a:p>
          <a:p>
            <a:pPr lvl="4"/>
            <a:r>
              <a:rPr lang="de-DE"/>
              <a:t>This is the fourth indent level (from here font size 14 pt)</a:t>
            </a:r>
          </a:p>
          <a:p>
            <a:pPr lvl="5"/>
            <a:r>
              <a:rPr lang="de-DE"/>
              <a:t>This is standard text on the indent level 5 (don‘t use bullet points)</a:t>
            </a:r>
          </a:p>
          <a:p>
            <a:pPr lvl="6"/>
            <a:r>
              <a:rPr lang="de-DE"/>
              <a:t>Indent level 6</a:t>
            </a:r>
          </a:p>
          <a:p>
            <a:pPr lvl="7"/>
            <a:r>
              <a:rPr lang="de-DE"/>
              <a:t>Indent level 7</a:t>
            </a:r>
          </a:p>
          <a:p>
            <a:pPr lvl="8"/>
            <a:r>
              <a:rPr lang="de-DE"/>
              <a:t>Indent level 8 (probably not a good idea to go that far…)</a:t>
            </a:r>
          </a:p>
        </p:txBody>
      </p:sp>
      <p:sp>
        <p:nvSpPr>
          <p:cNvPr id="4" name="Textfeld 3"/>
          <p:cNvSpPr txBox="1"/>
          <p:nvPr userDrawn="1"/>
        </p:nvSpPr>
        <p:spPr>
          <a:xfrm>
            <a:off x="2477770" y="6442907"/>
            <a:ext cx="4485005" cy="123111"/>
          </a:xfrm>
          <a:prstGeom prst="rect">
            <a:avLst/>
          </a:prstGeom>
          <a:noFill/>
        </p:spPr>
        <p:txBody>
          <a:bodyPr wrap="square" lIns="0" tIns="0" rIns="0" bIns="0" rtlCol="0" anchor="b">
            <a:spAutoFit/>
          </a:bodyPr>
          <a:lstStyle/>
          <a:p>
            <a:pPr marL="0" marR="0" lvl="0" indent="0" algn="l" defTabSz="914269" rtl="0" eaLnBrk="1" fontAlgn="auto" latinLnBrk="0" hangingPunct="1">
              <a:lnSpc>
                <a:spcPct val="100000"/>
              </a:lnSpc>
              <a:spcBef>
                <a:spcPts val="0"/>
              </a:spcBef>
              <a:spcAft>
                <a:spcPts val="0"/>
              </a:spcAft>
              <a:buClrTx/>
              <a:buSzTx/>
              <a:buFontTx/>
              <a:buNone/>
              <a:tabLst/>
              <a:defRPr/>
            </a:pPr>
            <a:r>
              <a:rPr lang="en-US" sz="800" dirty="0">
                <a:solidFill>
                  <a:schemeClr val="tx2"/>
                </a:solidFill>
              </a:rPr>
              <a:t>cryo-EM structure of apo-APC and APC/C complexes provides insights into APC/C recognition</a:t>
            </a:r>
          </a:p>
        </p:txBody>
      </p:sp>
      <p:sp>
        <p:nvSpPr>
          <p:cNvPr id="12" name="Textfeld 11"/>
          <p:cNvSpPr txBox="1"/>
          <p:nvPr/>
        </p:nvSpPr>
        <p:spPr>
          <a:xfrm>
            <a:off x="7194665" y="6288716"/>
            <a:ext cx="704850" cy="369332"/>
          </a:xfrm>
          <a:prstGeom prst="rect">
            <a:avLst/>
          </a:prstGeom>
          <a:noFill/>
        </p:spPr>
        <p:txBody>
          <a:bodyPr wrap="square" lIns="0" tIns="0" rIns="0" bIns="0" rtlCol="0" anchor="b">
            <a:spAutoFit/>
          </a:bodyPr>
          <a:lstStyle/>
          <a:p>
            <a:pPr marL="0" marR="0" lvl="0" indent="0" algn="l" defTabSz="914269" rtl="0" eaLnBrk="1" fontAlgn="auto" latinLnBrk="0" hangingPunct="1">
              <a:lnSpc>
                <a:spcPct val="100000"/>
              </a:lnSpc>
              <a:spcBef>
                <a:spcPts val="0"/>
              </a:spcBef>
              <a:spcAft>
                <a:spcPts val="0"/>
              </a:spcAft>
              <a:buClrTx/>
              <a:buSzTx/>
              <a:buFontTx/>
              <a:buNone/>
              <a:tabLst/>
              <a:defRPr/>
            </a:pPr>
            <a:br>
              <a:rPr lang="de-DE" sz="8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de-DE" sz="800" baseline="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269" rtl="0" eaLnBrk="1" fontAlgn="auto" latinLnBrk="0" hangingPunct="1">
              <a:lnSpc>
                <a:spcPct val="100000"/>
              </a:lnSpc>
              <a:spcBef>
                <a:spcPts val="0"/>
              </a:spcBef>
              <a:spcAft>
                <a:spcPts val="0"/>
              </a:spcAft>
              <a:buClrTx/>
              <a:buSzTx/>
              <a:buFontTx/>
              <a:buNone/>
              <a:tabLst/>
              <a:defRPr/>
            </a:pPr>
            <a:endParaRPr lang="de-DE" sz="8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9" name="Grafik 8" descr="Logo. Schriftzug &quot;Technische Universität Dresden&quot;. Links davon befindet sich ein Achteck, das in zwei Bereiche aufgeteilt ist, die zusammen die Buchstaben &quot;T&quot; und &quot;U&quot; ergeben." title="Logo der TU Dresden"/>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04825" y="6334048"/>
            <a:ext cx="1116268" cy="324000"/>
          </a:xfrm>
          <a:prstGeom prst="rect">
            <a:avLst/>
          </a:prstGeom>
        </p:spPr>
      </p:pic>
      <p:pic>
        <p:nvPicPr>
          <p:cNvPr id="13" name="Grafik 12" descr="Logo. Acht unregelmäßige Dreiecksflächen sind, im Uhrzeigersinn einen Farbverlauf von dunkelblau bis hellgrün ergebend, zu einem regelmäßig achteckigen Ring angeordnet. Links daneben zweizeilig der Schriftzug &quot;DRESDEN concept" title="Logo Dresden concept"/>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483183" y="6251940"/>
            <a:ext cx="972216" cy="360000"/>
          </a:xfrm>
          <a:prstGeom prst="rect">
            <a:avLst/>
          </a:prstGeom>
        </p:spPr>
      </p:pic>
    </p:spTree>
    <p:extLst>
      <p:ext uri="{BB962C8B-B14F-4D97-AF65-F5344CB8AC3E}">
        <p14:creationId xmlns:p14="http://schemas.microsoft.com/office/powerpoint/2010/main" val="2089890264"/>
      </p:ext>
    </p:extLst>
  </p:cSld>
  <p:clrMap bg1="lt1" tx1="dk1" bg2="lt2" tx2="dk2" accent1="accent1" accent2="accent2" accent3="accent3" accent4="accent4" accent5="accent5" accent6="accent6" hlink="hlink" folHlink="folHlink"/>
  <p:sldLayoutIdLst>
    <p:sldLayoutId id="2147483892" r:id="rId1"/>
    <p:sldLayoutId id="2147483905" r:id="rId2"/>
    <p:sldLayoutId id="2147483908" r:id="rId3"/>
    <p:sldLayoutId id="2147483893" r:id="rId4"/>
    <p:sldLayoutId id="2147483895" r:id="rId5"/>
    <p:sldLayoutId id="2147483894" r:id="rId6"/>
    <p:sldLayoutId id="2147483919" r:id="rId7"/>
    <p:sldLayoutId id="2147483897" r:id="rId8"/>
    <p:sldLayoutId id="2147483913" r:id="rId9"/>
    <p:sldLayoutId id="2147483918" r:id="rId10"/>
    <p:sldLayoutId id="2147483902" r:id="rId11"/>
  </p:sldLayoutIdLst>
  <p:hf hdr="0"/>
  <p:txStyles>
    <p:titleStyle>
      <a:lvl1pPr algn="l" defTabSz="914269" rtl="0" eaLnBrk="1" latinLnBrk="0" hangingPunct="1">
        <a:spcBef>
          <a:spcPct val="0"/>
        </a:spcBef>
        <a:buNone/>
        <a:defRPr sz="2400" b="1" kern="1200" baseline="0">
          <a:solidFill>
            <a:schemeClr val="accent1"/>
          </a:solidFill>
          <a:latin typeface="+mj-lt"/>
          <a:ea typeface="+mj-ea"/>
          <a:cs typeface="+mj-cs"/>
        </a:defRPr>
      </a:lvl1pPr>
    </p:titleStyle>
    <p:bodyStyle>
      <a:lvl1pPr marL="0" indent="0" algn="l" defTabSz="914269" rtl="0" eaLnBrk="1" latinLnBrk="0" hangingPunct="1">
        <a:spcBef>
          <a:spcPts val="600"/>
        </a:spcBef>
        <a:buFont typeface="Arial" panose="020B0604020202020204" pitchFamily="34" charset="0"/>
        <a:buNone/>
        <a:defRPr sz="2000" b="1" kern="1200" baseline="0">
          <a:solidFill>
            <a:schemeClr val="accent1"/>
          </a:solidFill>
          <a:latin typeface="+mn-lt"/>
          <a:ea typeface="+mn-ea"/>
          <a:cs typeface="+mn-cs"/>
        </a:defRPr>
      </a:lvl1pPr>
      <a:lvl2pPr marL="0" indent="0" algn="l" defTabSz="914269" rtl="0" eaLnBrk="1" latinLnBrk="0" hangingPunct="1">
        <a:spcBef>
          <a:spcPts val="600"/>
        </a:spcBef>
        <a:buFont typeface="Open Sans" panose="020B0606030504020204" pitchFamily="34" charset="0"/>
        <a:buNone/>
        <a:defRPr sz="1800" kern="1200" baseline="0">
          <a:solidFill>
            <a:schemeClr val="accent1"/>
          </a:solidFill>
          <a:latin typeface="+mn-lt"/>
          <a:ea typeface="+mn-ea"/>
          <a:cs typeface="+mn-cs"/>
        </a:defRPr>
      </a:lvl2pPr>
      <a:lvl3pPr marL="252000" indent="-252000" algn="l" defTabSz="914269" rtl="0" eaLnBrk="1" latinLnBrk="0" hangingPunct="1">
        <a:spcBef>
          <a:spcPts val="0"/>
        </a:spcBef>
        <a:buFont typeface="Arial" panose="020B0604020202020204" pitchFamily="34" charset="0"/>
        <a:buChar char="—"/>
        <a:defRPr sz="1800" kern="1200">
          <a:solidFill>
            <a:schemeClr val="accent1"/>
          </a:solidFill>
          <a:latin typeface="+mn-lt"/>
          <a:ea typeface="+mn-ea"/>
          <a:cs typeface="+mn-cs"/>
        </a:defRPr>
      </a:lvl3pPr>
      <a:lvl4pPr marL="252000" indent="-144000" algn="l" defTabSz="914269" rtl="0" eaLnBrk="1" latinLnBrk="0" hangingPunct="1">
        <a:spcBef>
          <a:spcPts val="0"/>
        </a:spcBef>
        <a:buFont typeface="Open Sans" panose="020B0606030504020204" pitchFamily="34" charset="0"/>
        <a:buChar char="–"/>
        <a:defRPr sz="1600" kern="1200">
          <a:solidFill>
            <a:schemeClr val="accent1"/>
          </a:solidFill>
          <a:latin typeface="+mn-lt"/>
          <a:ea typeface="+mn-ea"/>
          <a:cs typeface="+mn-cs"/>
        </a:defRPr>
      </a:lvl4pPr>
      <a:lvl5pPr marL="0" indent="0" algn="l" defTabSz="914269" rtl="0" eaLnBrk="1" latinLnBrk="0" hangingPunct="1">
        <a:spcBef>
          <a:spcPts val="600"/>
        </a:spcBef>
        <a:spcAft>
          <a:spcPts val="0"/>
        </a:spcAft>
        <a:buFont typeface="Symbol" panose="05050102010706020507" pitchFamily="18" charset="2"/>
        <a:buNone/>
        <a:defRPr sz="1400" b="1" kern="1200" baseline="0">
          <a:solidFill>
            <a:schemeClr val="accent1"/>
          </a:solidFill>
          <a:latin typeface="+mn-lt"/>
          <a:ea typeface="+mn-ea"/>
          <a:cs typeface="+mn-cs"/>
        </a:defRPr>
      </a:lvl5pPr>
      <a:lvl6pPr marL="0" marR="0" indent="0" algn="l" defTabSz="914269" rtl="0" eaLnBrk="1" fontAlgn="auto" latinLnBrk="0" hangingPunct="1">
        <a:lnSpc>
          <a:spcPct val="100000"/>
        </a:lnSpc>
        <a:spcBef>
          <a:spcPts val="600"/>
        </a:spcBef>
        <a:spcAft>
          <a:spcPts val="0"/>
        </a:spcAft>
        <a:buClrTx/>
        <a:buSzTx/>
        <a:buFont typeface="Arial" panose="020B0604020202020204" pitchFamily="34" charset="0"/>
        <a:buNone/>
        <a:tabLst/>
        <a:defRPr sz="1400" b="0" kern="1200">
          <a:solidFill>
            <a:schemeClr val="accent1"/>
          </a:solidFill>
          <a:latin typeface="+mn-lt"/>
          <a:ea typeface="+mn-ea"/>
          <a:cs typeface="+mn-cs"/>
        </a:defRPr>
      </a:lvl6pPr>
      <a:lvl7pPr marL="252000" marR="0" indent="-252000" algn="l" defTabSz="914269" rtl="0" eaLnBrk="1" fontAlgn="auto" latinLnBrk="0" hangingPunct="1">
        <a:lnSpc>
          <a:spcPct val="100000"/>
        </a:lnSpc>
        <a:spcBef>
          <a:spcPts val="0"/>
        </a:spcBef>
        <a:spcAft>
          <a:spcPts val="0"/>
        </a:spcAft>
        <a:buClrTx/>
        <a:buSzTx/>
        <a:buFont typeface="Arial" panose="020B0604020202020204" pitchFamily="34" charset="0"/>
        <a:buChar char="—"/>
        <a:tabLst/>
        <a:defRPr lang="de-DE" sz="1400" kern="1200" baseline="0" dirty="0" smtClean="0">
          <a:solidFill>
            <a:schemeClr val="accent1"/>
          </a:solidFill>
          <a:latin typeface="+mn-lt"/>
          <a:ea typeface="+mn-ea"/>
          <a:cs typeface="+mn-cs"/>
        </a:defRPr>
      </a:lvl7pPr>
      <a:lvl8pPr marL="252000" marR="0" indent="-144000" algn="l" defTabSz="914269" rtl="0" eaLnBrk="1" fontAlgn="auto" latinLnBrk="0" hangingPunct="1">
        <a:lnSpc>
          <a:spcPct val="100000"/>
        </a:lnSpc>
        <a:spcBef>
          <a:spcPts val="0"/>
        </a:spcBef>
        <a:spcAft>
          <a:spcPts val="0"/>
        </a:spcAft>
        <a:buClrTx/>
        <a:buSzTx/>
        <a:buFont typeface="Open Sans" panose="020B0606030504020204" pitchFamily="34" charset="0"/>
        <a:buChar char="–"/>
        <a:tabLst/>
        <a:defRPr sz="1400" kern="1200">
          <a:solidFill>
            <a:schemeClr val="accent1"/>
          </a:solidFill>
          <a:latin typeface="+mn-lt"/>
          <a:ea typeface="+mn-ea"/>
          <a:cs typeface="+mn-cs"/>
        </a:defRPr>
      </a:lvl8pPr>
      <a:lvl9pPr marL="396000" marR="0" indent="-144000" algn="l" defTabSz="914269" rtl="0" eaLnBrk="1" fontAlgn="auto" latinLnBrk="0" hangingPunct="1">
        <a:lnSpc>
          <a:spcPct val="100000"/>
        </a:lnSpc>
        <a:spcBef>
          <a:spcPts val="0"/>
        </a:spcBef>
        <a:spcAft>
          <a:spcPts val="0"/>
        </a:spcAft>
        <a:buClrTx/>
        <a:buSzTx/>
        <a:buFont typeface="Wingdings" panose="05000000000000000000" pitchFamily="2" charset="2"/>
        <a:buChar char="§"/>
        <a:tabLst/>
        <a:defRPr sz="1400" kern="1200" baseline="0">
          <a:solidFill>
            <a:schemeClr val="accent1"/>
          </a:solidFill>
          <a:latin typeface="+mn-lt"/>
          <a:ea typeface="+mn-ea"/>
          <a:cs typeface="+mn-cs"/>
        </a:defRPr>
      </a:lvl9pPr>
    </p:bodyStyle>
    <p:otherStyle>
      <a:defPPr>
        <a:defRPr lang="de-DE"/>
      </a:defPPr>
      <a:lvl1pPr marL="0" algn="l" defTabSz="914269" rtl="0" eaLnBrk="1" latinLnBrk="0" hangingPunct="1">
        <a:defRPr sz="1800" kern="1200">
          <a:solidFill>
            <a:schemeClr val="tx1"/>
          </a:solidFill>
          <a:latin typeface="+mn-lt"/>
          <a:ea typeface="+mn-ea"/>
          <a:cs typeface="+mn-cs"/>
        </a:defRPr>
      </a:lvl1pPr>
      <a:lvl2pPr marL="457135" algn="l" defTabSz="914269" rtl="0" eaLnBrk="1" latinLnBrk="0" hangingPunct="1">
        <a:defRPr sz="1800" kern="1200">
          <a:solidFill>
            <a:schemeClr val="tx1"/>
          </a:solidFill>
          <a:latin typeface="+mn-lt"/>
          <a:ea typeface="+mn-ea"/>
          <a:cs typeface="+mn-cs"/>
        </a:defRPr>
      </a:lvl2pPr>
      <a:lvl3pPr marL="914269" algn="l" defTabSz="914269" rtl="0" eaLnBrk="1" latinLnBrk="0" hangingPunct="1">
        <a:defRPr sz="1800" kern="1200">
          <a:solidFill>
            <a:schemeClr val="tx1"/>
          </a:solidFill>
          <a:latin typeface="+mn-lt"/>
          <a:ea typeface="+mn-ea"/>
          <a:cs typeface="+mn-cs"/>
        </a:defRPr>
      </a:lvl3pPr>
      <a:lvl4pPr marL="1371402" algn="l" defTabSz="914269" rtl="0" eaLnBrk="1" latinLnBrk="0" hangingPunct="1">
        <a:defRPr sz="1800" kern="1200">
          <a:solidFill>
            <a:schemeClr val="tx1"/>
          </a:solidFill>
          <a:latin typeface="+mn-lt"/>
          <a:ea typeface="+mn-ea"/>
          <a:cs typeface="+mn-cs"/>
        </a:defRPr>
      </a:lvl4pPr>
      <a:lvl5pPr marL="1828534" algn="l" defTabSz="914269" rtl="0" eaLnBrk="1" latinLnBrk="0" hangingPunct="1">
        <a:defRPr sz="1800" kern="1200">
          <a:solidFill>
            <a:schemeClr val="tx1"/>
          </a:solidFill>
          <a:latin typeface="+mn-lt"/>
          <a:ea typeface="+mn-ea"/>
          <a:cs typeface="+mn-cs"/>
        </a:defRPr>
      </a:lvl5pPr>
      <a:lvl6pPr marL="2285670" algn="l" defTabSz="914269" rtl="0" eaLnBrk="1" latinLnBrk="0" hangingPunct="1">
        <a:defRPr sz="1800" kern="1200">
          <a:solidFill>
            <a:schemeClr val="tx1"/>
          </a:solidFill>
          <a:latin typeface="+mn-lt"/>
          <a:ea typeface="+mn-ea"/>
          <a:cs typeface="+mn-cs"/>
        </a:defRPr>
      </a:lvl6pPr>
      <a:lvl7pPr marL="2742803" algn="l" defTabSz="914269" rtl="0" eaLnBrk="1" latinLnBrk="0" hangingPunct="1">
        <a:defRPr sz="1800" kern="1200">
          <a:solidFill>
            <a:schemeClr val="tx1"/>
          </a:solidFill>
          <a:latin typeface="+mn-lt"/>
          <a:ea typeface="+mn-ea"/>
          <a:cs typeface="+mn-cs"/>
        </a:defRPr>
      </a:lvl7pPr>
      <a:lvl8pPr marL="3199936" algn="l" defTabSz="914269" rtl="0" eaLnBrk="1" latinLnBrk="0" hangingPunct="1">
        <a:defRPr sz="1800" kern="1200">
          <a:solidFill>
            <a:schemeClr val="tx1"/>
          </a:solidFill>
          <a:latin typeface="+mn-lt"/>
          <a:ea typeface="+mn-ea"/>
          <a:cs typeface="+mn-cs"/>
        </a:defRPr>
      </a:lvl8pPr>
      <a:lvl9pPr marL="3657070" algn="l" defTabSz="91426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992">
          <p15:clr>
            <a:srgbClr val="F26B43"/>
          </p15:clr>
        </p15:guide>
        <p15:guide id="7" pos="1120">
          <p15:clr>
            <a:srgbClr val="F26B43"/>
          </p15:clr>
        </p15:guide>
        <p15:guide id="8" pos="1676">
          <p15:clr>
            <a:srgbClr val="F26B43"/>
          </p15:clr>
        </p15:guide>
        <p15:guide id="9" pos="1556">
          <p15:clr>
            <a:srgbClr val="F26B43"/>
          </p15:clr>
        </p15:guide>
        <p15:guide id="10" pos="2252">
          <p15:clr>
            <a:srgbClr val="F26B43"/>
          </p15:clr>
        </p15:guide>
        <p15:guide id="11" pos="2128">
          <p15:clr>
            <a:srgbClr val="F26B43"/>
          </p15:clr>
        </p15:guide>
        <p15:guide id="16" pos="3824">
          <p15:clr>
            <a:srgbClr val="F26B43"/>
          </p15:clr>
        </p15:guide>
        <p15:guide id="17" pos="3948">
          <p15:clr>
            <a:srgbClr val="F26B43"/>
          </p15:clr>
        </p15:guide>
        <p15:guide id="20" pos="4384">
          <p15:clr>
            <a:srgbClr val="F26B43"/>
          </p15:clr>
        </p15:guide>
        <p15:guide id="21" pos="4508">
          <p15:clr>
            <a:srgbClr val="F26B43"/>
          </p15:clr>
        </p15:guide>
        <p15:guide id="22" pos="6788" userDrawn="1">
          <p15:clr>
            <a:srgbClr val="F26B43"/>
          </p15:clr>
        </p15:guide>
        <p15:guide id="23" pos="6656">
          <p15:clr>
            <a:srgbClr val="F26B43"/>
          </p15:clr>
        </p15:guide>
        <p15:guide id="24" pos="4960">
          <p15:clr>
            <a:srgbClr val="F26B43"/>
          </p15:clr>
        </p15:guide>
        <p15:guide id="25" pos="5084">
          <p15:clr>
            <a:srgbClr val="F26B43"/>
          </p15:clr>
        </p15:guide>
        <p15:guide id="30" orient="horz" pos="538">
          <p15:clr>
            <a:srgbClr val="F26B43"/>
          </p15:clr>
        </p15:guide>
        <p15:guide id="31" pos="551">
          <p15:clr>
            <a:srgbClr val="F26B43"/>
          </p15:clr>
        </p15:guide>
        <p15:guide id="39" pos="6085" userDrawn="1">
          <p15:clr>
            <a:srgbClr val="F26B43"/>
          </p15:clr>
        </p15:guide>
        <p15:guide id="40" pos="6216">
          <p15:clr>
            <a:srgbClr val="F26B43"/>
          </p15:clr>
        </p15:guide>
        <p15:guide id="41" pos="2692">
          <p15:clr>
            <a:srgbClr val="F26B43"/>
          </p15:clr>
        </p15:guide>
        <p15:guide id="42" pos="2808">
          <p15:clr>
            <a:srgbClr val="F26B43"/>
          </p15:clr>
        </p15:guide>
        <p15:guide id="43" pos="3260">
          <p15:clr>
            <a:srgbClr val="F26B43"/>
          </p15:clr>
        </p15:guide>
        <p15:guide id="44" pos="3380">
          <p15:clr>
            <a:srgbClr val="F26B43"/>
          </p15:clr>
        </p15:guide>
        <p15:guide id="50" pos="5520">
          <p15:clr>
            <a:srgbClr val="F26B43"/>
          </p15:clr>
        </p15:guide>
        <p15:guide id="52" orient="horz" pos="933">
          <p15:clr>
            <a:srgbClr val="F26B43"/>
          </p15:clr>
        </p15:guide>
        <p15:guide id="53" orient="horz" pos="759">
          <p15:clr>
            <a:srgbClr val="F26B43"/>
          </p15:clr>
        </p15:guide>
        <p15:guide id="58" orient="horz" pos="218">
          <p15:clr>
            <a:srgbClr val="F26B43"/>
          </p15:clr>
        </p15:guide>
        <p15:guide id="59" orient="horz" pos="3680">
          <p15:clr>
            <a:srgbClr val="F26B43"/>
          </p15:clr>
        </p15:guide>
        <p15:guide id="60" orient="horz" pos="3861">
          <p15:clr>
            <a:srgbClr val="F26B43"/>
          </p15:clr>
        </p15:guide>
        <p15:guide id="62" orient="horz" pos="2130">
          <p15:clr>
            <a:srgbClr val="F26B43"/>
          </p15:clr>
        </p15:guide>
        <p15:guide id="65" pos="5648">
          <p15:clr>
            <a:srgbClr val="F26B43"/>
          </p15:clr>
        </p15:guide>
        <p15:guide id="66" orient="horz" pos="649">
          <p15:clr>
            <a:srgbClr val="F26B43"/>
          </p15:clr>
        </p15:guide>
        <p15:guide id="67" pos="7216">
          <p15:clr>
            <a:srgbClr val="F26B43"/>
          </p15:clr>
        </p15:guide>
        <p15:guide id="69" orient="horz" pos="3988">
          <p15:clr>
            <a:srgbClr val="F26B43"/>
          </p15:clr>
        </p15:guide>
        <p15:guide id="70" orient="horz" pos="4196">
          <p15:clr>
            <a:srgbClr val="F26B43"/>
          </p15:clr>
        </p15:guide>
        <p15:guide id="71" pos="318">
          <p15:clr>
            <a:srgbClr val="F26B43"/>
          </p15:clr>
        </p15:guide>
        <p15:guide id="72" orient="horz" pos="41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A77FED-55F0-4CDE-A175-3F378E9C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CDAA66-5E3C-A72A-AACA-DFECADB7DA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763F37-C555-0DD3-BDA3-7210534CEE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5A7C41-A782-40EF-A4C5-D79F76289A9E}" type="datetimeFigureOut">
              <a:rPr lang="en-US" smtClean="0"/>
              <a:t>1/8/2026</a:t>
            </a:fld>
            <a:endParaRPr lang="en-US"/>
          </a:p>
        </p:txBody>
      </p:sp>
      <p:sp>
        <p:nvSpPr>
          <p:cNvPr id="5" name="Footer Placeholder 4">
            <a:extLst>
              <a:ext uri="{FF2B5EF4-FFF2-40B4-BE49-F238E27FC236}">
                <a16:creationId xmlns:a16="http://schemas.microsoft.com/office/drawing/2014/main" id="{9E3AE5BE-AB49-0DCB-D0E6-C8A157E7D3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6FFC4DF7-45F9-E9FE-F1AF-AF4130C36B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291C62-063F-40B7-A719-BF87300AA581}" type="slidenum">
              <a:rPr lang="en-US" smtClean="0"/>
              <a:t>‹#›</a:t>
            </a:fld>
            <a:endParaRPr lang="en-US"/>
          </a:p>
        </p:txBody>
      </p:sp>
    </p:spTree>
    <p:extLst>
      <p:ext uri="{BB962C8B-B14F-4D97-AF65-F5344CB8AC3E}">
        <p14:creationId xmlns:p14="http://schemas.microsoft.com/office/powerpoint/2010/main" val="1711501874"/>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0"/>
          </p:nvPr>
        </p:nvSpPr>
        <p:spPr>
          <a:xfrm>
            <a:off x="164758" y="4064771"/>
            <a:ext cx="4498860" cy="492443"/>
          </a:xfrm>
        </p:spPr>
        <p:txBody>
          <a:bodyPr vert="horz" wrap="none" lIns="0" tIns="0" rIns="0" bIns="0" rtlCol="0" anchor="t">
            <a:spAutoFit/>
          </a:bodyPr>
          <a:lstStyle/>
          <a:p>
            <a:r>
              <a:rPr lang="de-DE" dirty="0">
                <a:solidFill>
                  <a:schemeClr val="bg1"/>
                </a:solidFill>
              </a:rPr>
              <a:t>Anna Höfler,  Jun Yu,  Jing Yang, Leifu Chang</a:t>
            </a:r>
          </a:p>
          <a:p>
            <a:r>
              <a:rPr lang="de-DE" dirty="0">
                <a:solidFill>
                  <a:schemeClr val="bg1"/>
                </a:solidFill>
              </a:rPr>
              <a:t>Published in: Nature Communications, 2025</a:t>
            </a:r>
          </a:p>
        </p:txBody>
      </p:sp>
      <p:sp>
        <p:nvSpPr>
          <p:cNvPr id="5" name="Titel 4"/>
          <p:cNvSpPr>
            <a:spLocks noGrp="1"/>
          </p:cNvSpPr>
          <p:nvPr>
            <p:ph type="title"/>
          </p:nvPr>
        </p:nvSpPr>
        <p:spPr>
          <a:xfrm>
            <a:off x="164759" y="2300786"/>
            <a:ext cx="11395555" cy="984885"/>
          </a:xfrm>
        </p:spPr>
        <p:txBody>
          <a:bodyPr/>
          <a:lstStyle/>
          <a:p>
            <a:r>
              <a:rPr lang="de-DE" dirty="0"/>
              <a:t>Cryo-EM structures of apo- APC/C and APC/C and insight</a:t>
            </a:r>
            <a:br>
              <a:rPr lang="de-DE" dirty="0"/>
            </a:br>
            <a:r>
              <a:rPr lang="de-DE" dirty="0"/>
              <a:t>into thier regulation</a:t>
            </a:r>
          </a:p>
        </p:txBody>
      </p:sp>
      <p:sp>
        <p:nvSpPr>
          <p:cNvPr id="8" name="Textplatzhalter 7"/>
          <p:cNvSpPr>
            <a:spLocks noGrp="1"/>
          </p:cNvSpPr>
          <p:nvPr>
            <p:ph type="body" sz="quarter" idx="11"/>
          </p:nvPr>
        </p:nvSpPr>
        <p:spPr>
          <a:xfrm>
            <a:off x="303226" y="5437816"/>
            <a:ext cx="2582951" cy="246221"/>
          </a:xfrm>
        </p:spPr>
        <p:txBody>
          <a:bodyPr vert="horz" wrap="none" lIns="0" tIns="0" rIns="0" bIns="0" rtlCol="0" anchor="t">
            <a:spAutoFit/>
          </a:bodyPr>
          <a:lstStyle/>
          <a:p>
            <a:r>
              <a:rPr lang="de-DE" dirty="0"/>
              <a:t>Presented by Ishrak Hasin  </a:t>
            </a:r>
          </a:p>
        </p:txBody>
      </p:sp>
    </p:spTree>
    <p:extLst>
      <p:ext uri="{BB962C8B-B14F-4D97-AF65-F5344CB8AC3E}">
        <p14:creationId xmlns:p14="http://schemas.microsoft.com/office/powerpoint/2010/main" val="3181036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BD920-DCAE-B5FD-D58D-6F221C552AD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CD80FD9-9AA5-93C3-EF4E-3D8C5F84AD26}"/>
              </a:ext>
            </a:extLst>
          </p:cNvPr>
          <p:cNvSpPr>
            <a:spLocks noGrp="1"/>
          </p:cNvSpPr>
          <p:nvPr>
            <p:ph type="title"/>
          </p:nvPr>
        </p:nvSpPr>
        <p:spPr>
          <a:xfrm>
            <a:off x="627577" y="185437"/>
            <a:ext cx="10580687" cy="684213"/>
          </a:xfrm>
        </p:spPr>
        <p:txBody>
          <a:bodyPr/>
          <a:lstStyle/>
          <a:p>
            <a:r>
              <a:rPr lang="en-US"/>
              <a:t>Overall structure of APC/C ternary complex and catalytic function</a:t>
            </a:r>
            <a:endParaRPr lang="en-US" dirty="0"/>
          </a:p>
        </p:txBody>
      </p:sp>
      <p:sp>
        <p:nvSpPr>
          <p:cNvPr id="3" name="TextBox 2">
            <a:extLst>
              <a:ext uri="{FF2B5EF4-FFF2-40B4-BE49-F238E27FC236}">
                <a16:creationId xmlns:a16="http://schemas.microsoft.com/office/drawing/2014/main" id="{E0387025-66C5-70CB-A93A-901E0A4E02EA}"/>
              </a:ext>
            </a:extLst>
          </p:cNvPr>
          <p:cNvSpPr txBox="1"/>
          <p:nvPr/>
        </p:nvSpPr>
        <p:spPr>
          <a:xfrm>
            <a:off x="751145" y="691782"/>
            <a:ext cx="11095666" cy="2800767"/>
          </a:xfrm>
          <a:prstGeom prst="rect">
            <a:avLst/>
          </a:prstGeom>
          <a:noFill/>
        </p:spPr>
        <p:txBody>
          <a:bodyPr wrap="square" rtlCol="0">
            <a:spAutoFit/>
          </a:bodyPr>
          <a:lstStyle/>
          <a:p>
            <a:pPr marL="342900" indent="-342900">
              <a:buAutoNum type="arabicPeriod"/>
            </a:pPr>
            <a:r>
              <a:rPr lang="en-US" sz="2000" b="1" dirty="0" err="1"/>
              <a:t>Anaphrase</a:t>
            </a:r>
            <a:r>
              <a:rPr lang="en-US" sz="2000" b="1" dirty="0"/>
              <a:t> </a:t>
            </a:r>
            <a:r>
              <a:rPr lang="en-US" sz="2000" b="1" dirty="0" err="1"/>
              <a:t>promiting</a:t>
            </a:r>
            <a:r>
              <a:rPr lang="en-US" sz="2000" b="1" dirty="0"/>
              <a:t> complex/ </a:t>
            </a:r>
            <a:r>
              <a:rPr lang="en-US" sz="2000" b="1" dirty="0" err="1"/>
              <a:t>cyclosome</a:t>
            </a:r>
            <a:r>
              <a:rPr lang="en-US" sz="2000" b="1" dirty="0"/>
              <a:t>  </a:t>
            </a:r>
            <a:r>
              <a:rPr lang="en-US" sz="2000" dirty="0"/>
              <a:t>APC/C is a E3 ubiquitin ligase </a:t>
            </a:r>
          </a:p>
          <a:p>
            <a:pPr marL="342900" indent="-342900">
              <a:buFontTx/>
              <a:buAutoNum type="arabicPeriod"/>
            </a:pPr>
            <a:r>
              <a:rPr lang="en-US" sz="2000" dirty="0"/>
              <a:t>It controls the cell cycle by marking </a:t>
            </a:r>
            <a:r>
              <a:rPr lang="en-US" sz="2000" b="1" dirty="0"/>
              <a:t>mitotic cyclin </a:t>
            </a:r>
            <a:r>
              <a:rPr lang="en-US" sz="2000" dirty="0"/>
              <a:t>and related proteins for degradation. </a:t>
            </a:r>
          </a:p>
          <a:p>
            <a:pPr marL="342900" indent="-342900">
              <a:buAutoNum type="arabicPeriod"/>
            </a:pPr>
            <a:r>
              <a:rPr lang="en-US" sz="2000" dirty="0"/>
              <a:t>The catalytic site composed </a:t>
            </a:r>
            <a:r>
              <a:rPr lang="en-US" sz="2000" b="1" dirty="0"/>
              <a:t>of APC2 </a:t>
            </a:r>
            <a:r>
              <a:rPr lang="en-US" sz="2000" b="1" dirty="0" err="1"/>
              <a:t>cullin</a:t>
            </a:r>
            <a:r>
              <a:rPr lang="en-US" sz="2000" b="1" dirty="0"/>
              <a:t> domain and APC2 RING domain </a:t>
            </a:r>
          </a:p>
          <a:p>
            <a:pPr marL="342900" indent="-342900">
              <a:buFontTx/>
              <a:buAutoNum type="arabicPeriod"/>
            </a:pPr>
            <a:r>
              <a:rPr lang="en-US" sz="2000" b="1" dirty="0"/>
              <a:t>APC11</a:t>
            </a:r>
            <a:r>
              <a:rPr lang="en-US" sz="2000" dirty="0"/>
              <a:t> provides the primary recruitment surface for the E2 enzymes </a:t>
            </a:r>
            <a:endParaRPr lang="en-US" sz="2000" b="1" dirty="0"/>
          </a:p>
          <a:p>
            <a:pPr marL="342900" indent="-342900">
              <a:buAutoNum type="arabicPeriod"/>
            </a:pPr>
            <a:r>
              <a:rPr lang="en-US" sz="2000" dirty="0"/>
              <a:t>For the E2 to bind and start work, a coactivator (</a:t>
            </a:r>
            <a:r>
              <a:rPr lang="en-US" sz="2000" b="1" dirty="0"/>
              <a:t>CDC20 or CDH1</a:t>
            </a:r>
            <a:r>
              <a:rPr lang="en-US" sz="2000" dirty="0"/>
              <a:t>) must first bind to the APC/C</a:t>
            </a:r>
          </a:p>
          <a:p>
            <a:pPr marL="342900" indent="-342900">
              <a:buAutoNum type="arabicPeriod"/>
            </a:pPr>
            <a:r>
              <a:rPr lang="en-US" sz="2000" b="1" dirty="0"/>
              <a:t>EMI1</a:t>
            </a:r>
            <a:r>
              <a:rPr lang="en-US" sz="2000" dirty="0"/>
              <a:t>  block the </a:t>
            </a:r>
            <a:r>
              <a:rPr lang="en-US" sz="2000" b="1" dirty="0"/>
              <a:t>E2</a:t>
            </a:r>
            <a:r>
              <a:rPr lang="en-US" sz="2000" dirty="0"/>
              <a:t> binding site on </a:t>
            </a:r>
            <a:r>
              <a:rPr lang="en-US" sz="2000" b="1" dirty="0"/>
              <a:t>APC2 </a:t>
            </a:r>
          </a:p>
          <a:p>
            <a:pPr marL="342900" indent="-342900">
              <a:buAutoNum type="arabicPeriod"/>
            </a:pPr>
            <a:endParaRPr lang="en-US" sz="1800" dirty="0"/>
          </a:p>
          <a:p>
            <a:r>
              <a:rPr lang="en-US" sz="1800" dirty="0"/>
              <a:t> </a:t>
            </a:r>
          </a:p>
        </p:txBody>
      </p:sp>
      <p:pic>
        <p:nvPicPr>
          <p:cNvPr id="5" name="Picture 4">
            <a:extLst>
              <a:ext uri="{FF2B5EF4-FFF2-40B4-BE49-F238E27FC236}">
                <a16:creationId xmlns:a16="http://schemas.microsoft.com/office/drawing/2014/main" id="{9339B424-2652-6BA8-58BB-7108095C52D7}"/>
              </a:ext>
            </a:extLst>
          </p:cNvPr>
          <p:cNvPicPr>
            <a:picLocks noChangeAspect="1"/>
          </p:cNvPicPr>
          <p:nvPr/>
        </p:nvPicPr>
        <p:blipFill>
          <a:blip r:embed="rId3"/>
          <a:stretch>
            <a:fillRect/>
          </a:stretch>
        </p:blipFill>
        <p:spPr>
          <a:xfrm>
            <a:off x="6813151" y="2310921"/>
            <a:ext cx="3529454" cy="3898546"/>
          </a:xfrm>
          <a:prstGeom prst="rect">
            <a:avLst/>
          </a:prstGeom>
        </p:spPr>
      </p:pic>
    </p:spTree>
    <p:extLst>
      <p:ext uri="{BB962C8B-B14F-4D97-AF65-F5344CB8AC3E}">
        <p14:creationId xmlns:p14="http://schemas.microsoft.com/office/powerpoint/2010/main" val="1221592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B2E3D-E3AC-0A79-2ACD-BA6CC124B9C8}"/>
              </a:ext>
            </a:extLst>
          </p:cNvPr>
          <p:cNvSpPr>
            <a:spLocks noGrp="1"/>
          </p:cNvSpPr>
          <p:nvPr>
            <p:ph type="title"/>
          </p:nvPr>
        </p:nvSpPr>
        <p:spPr/>
        <p:txBody>
          <a:bodyPr/>
          <a:lstStyle/>
          <a:p>
            <a:r>
              <a:rPr lang="en-US" dirty="0"/>
              <a:t>Contribution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E208A4-85AA-4F84-926A-7252FAF6B058}"/>
                  </a:ext>
                </a:extLst>
              </p:cNvPr>
              <p:cNvSpPr>
                <a:spLocks noGrp="1"/>
              </p:cNvSpPr>
              <p:nvPr>
                <p:ph sz="quarter" idx="10"/>
              </p:nvPr>
            </p:nvSpPr>
            <p:spPr/>
            <p:txBody>
              <a:bodyPr/>
              <a:lstStyle/>
              <a:p>
                <a:pPr marL="457200" indent="-457200">
                  <a:buAutoNum type="arabicPeriod"/>
                </a:pPr>
                <a:r>
                  <a:rPr lang="en-US" dirty="0"/>
                  <a:t>Improved resolution </a:t>
                </a:r>
                <a:r>
                  <a:rPr lang="en-US" b="0" dirty="0"/>
                  <a:t>from 3.2Å to 2.9Å </a:t>
                </a:r>
                <a14:m>
                  <m:oMath xmlns:m="http://schemas.openxmlformats.org/officeDocument/2006/math">
                    <m:sSup>
                      <m:sSupPr>
                        <m:ctrlPr>
                          <a:rPr lang="en-US" b="0" i="1" smtClean="0">
                            <a:latin typeface="Cambria Math" panose="02040503050406030204" pitchFamily="18" charset="0"/>
                          </a:rPr>
                        </m:ctrlPr>
                      </m:sSupPr>
                      <m:e>
                        <m:r>
                          <m:rPr>
                            <m:nor/>
                          </m:rPr>
                          <a:rPr lang="en-US" b="0" dirty="0"/>
                          <m:t>(</m:t>
                        </m:r>
                        <m:r>
                          <m:rPr>
                            <m:nor/>
                          </m:rPr>
                          <a:rPr lang="en-US" b="0" i="1" dirty="0"/>
                          <m:t>APC</m:t>
                        </m:r>
                        <m:r>
                          <m:rPr>
                            <m:nor/>
                          </m:rPr>
                          <a:rPr lang="en-US" b="0" dirty="0"/>
                          <m:t>/</m:t>
                        </m:r>
                        <m:r>
                          <m:rPr>
                            <m:nor/>
                          </m:rPr>
                          <a:rPr lang="en-US" b="0" i="1" dirty="0"/>
                          <m:t>C</m:t>
                        </m:r>
                      </m:e>
                      <m:sup>
                        <m:r>
                          <m:rPr>
                            <m:nor/>
                          </m:rPr>
                          <a:rPr lang="en-US" b="0" i="1" dirty="0"/>
                          <m:t>CDH</m:t>
                        </m:r>
                        <m:r>
                          <m:rPr>
                            <m:nor/>
                          </m:rPr>
                          <a:rPr lang="en-US" b="0" dirty="0"/>
                          <m:t>1:</m:t>
                        </m:r>
                        <m:r>
                          <m:rPr>
                            <m:nor/>
                          </m:rPr>
                          <a:rPr lang="en-US" b="0" i="1" dirty="0"/>
                          <m:t>EMI</m:t>
                        </m:r>
                        <m:r>
                          <m:rPr>
                            <m:nor/>
                          </m:rPr>
                          <a:rPr lang="en-US" b="0" dirty="0"/>
                          <m:t>1</m:t>
                        </m:r>
                      </m:sup>
                    </m:sSup>
                  </m:oMath>
                </a14:m>
                <a:r>
                  <a:rPr lang="en-US" b="0" dirty="0"/>
                  <a:t> and apo APC/C)</a:t>
                </a:r>
              </a:p>
              <a:p>
                <a:pPr marL="457200" indent="-457200">
                  <a:buAutoNum type="arabicPeriod"/>
                </a:pPr>
                <a:r>
                  <a:rPr lang="en-US" b="0" dirty="0"/>
                  <a:t>Sheids light </a:t>
                </a:r>
                <a:r>
                  <a:rPr lang="en-US" dirty="0"/>
                  <a:t>to APC/C regulation </a:t>
                </a:r>
                <a:r>
                  <a:rPr lang="en-US" b="0" dirty="0"/>
                  <a:t>in mitosis</a:t>
                </a:r>
              </a:p>
              <a:p>
                <a:pPr marL="457200" indent="-457200">
                  <a:buAutoNum type="arabicPeriod"/>
                </a:pPr>
                <a:r>
                  <a:rPr lang="en-US" b="0" dirty="0"/>
                  <a:t>Rationale for </a:t>
                </a:r>
                <a:r>
                  <a:rPr lang="en-US" dirty="0"/>
                  <a:t>phosphorylation switch </a:t>
                </a:r>
                <a14:m>
                  <m:oMath xmlns:m="http://schemas.openxmlformats.org/officeDocument/2006/math">
                    <m:sSup>
                      <m:sSupPr>
                        <m:ctrlPr>
                          <a:rPr lang="en-US" b="0" i="1">
                            <a:latin typeface="Cambria Math" panose="02040503050406030204" pitchFamily="18" charset="0"/>
                          </a:rPr>
                        </m:ctrlPr>
                      </m:sSupPr>
                      <m:e>
                        <m:r>
                          <m:rPr>
                            <m:nor/>
                          </m:rPr>
                          <a:rPr lang="en-US" b="0" dirty="0"/>
                          <m:t>(</m:t>
                        </m:r>
                        <m:r>
                          <m:rPr>
                            <m:nor/>
                          </m:rPr>
                          <a:rPr lang="en-US" b="0" i="1" dirty="0"/>
                          <m:t>APC</m:t>
                        </m:r>
                        <m:r>
                          <m:rPr>
                            <m:nor/>
                          </m:rPr>
                          <a:rPr lang="en-US" b="0" dirty="0"/>
                          <m:t>/</m:t>
                        </m:r>
                        <m:r>
                          <m:rPr>
                            <m:nor/>
                          </m:rPr>
                          <a:rPr lang="en-US" b="0" i="1" dirty="0"/>
                          <m:t>C</m:t>
                        </m:r>
                      </m:e>
                      <m:sup>
                        <m:r>
                          <m:rPr>
                            <m:nor/>
                          </m:rPr>
                          <a:rPr lang="en-US" b="0" i="1" dirty="0"/>
                          <m:t>CDH</m:t>
                        </m:r>
                        <m:r>
                          <m:rPr>
                            <m:nor/>
                          </m:rPr>
                          <a:rPr lang="en-US" b="0" dirty="0"/>
                          <m:t>1</m:t>
                        </m:r>
                      </m:sup>
                    </m:sSup>
                  </m:oMath>
                </a14:m>
                <a:r>
                  <a:rPr lang="en-US" b="0" dirty="0"/>
                  <a:t> &lt;= </a:t>
                </a:r>
                <a14:m>
                  <m:oMath xmlns:m="http://schemas.openxmlformats.org/officeDocument/2006/math">
                    <m:sSup>
                      <m:sSupPr>
                        <m:ctrlPr>
                          <a:rPr lang="en-US" b="0" i="1">
                            <a:latin typeface="Cambria Math" panose="02040503050406030204" pitchFamily="18" charset="0"/>
                          </a:rPr>
                        </m:ctrlPr>
                      </m:sSupPr>
                      <m:e>
                        <m:r>
                          <m:rPr>
                            <m:nor/>
                          </m:rPr>
                          <a:rPr lang="en-US" b="0" dirty="0"/>
                          <m:t>(</m:t>
                        </m:r>
                        <m:r>
                          <m:rPr>
                            <m:nor/>
                          </m:rPr>
                          <a:rPr lang="en-US" b="0" i="1" dirty="0"/>
                          <m:t>APC</m:t>
                        </m:r>
                        <m:r>
                          <m:rPr>
                            <m:nor/>
                          </m:rPr>
                          <a:rPr lang="en-US" b="0" dirty="0"/>
                          <m:t>/</m:t>
                        </m:r>
                        <m:r>
                          <m:rPr>
                            <m:nor/>
                          </m:rPr>
                          <a:rPr lang="en-US" b="0" i="1" dirty="0"/>
                          <m:t>C</m:t>
                        </m:r>
                      </m:e>
                      <m:sup>
                        <m:r>
                          <m:rPr>
                            <m:nor/>
                          </m:rPr>
                          <a:rPr lang="en-US" b="0" i="1" dirty="0"/>
                          <m:t>C</m:t>
                        </m:r>
                        <m:r>
                          <m:rPr>
                            <m:nor/>
                          </m:rPr>
                          <a:rPr lang="en-US" b="0" i="1" dirty="0" smtClean="0"/>
                          <m:t>DC</m:t>
                        </m:r>
                        <m:r>
                          <m:rPr>
                            <m:nor/>
                          </m:rPr>
                          <a:rPr lang="en-US" b="0" i="1" dirty="0" smtClean="0"/>
                          <m:t>20</m:t>
                        </m:r>
                      </m:sup>
                    </m:sSup>
                  </m:oMath>
                </a14:m>
                <a:r>
                  <a:rPr lang="en-US" b="0" dirty="0"/>
                  <a:t> )</a:t>
                </a:r>
              </a:p>
              <a:p>
                <a:pPr marL="457200" indent="-457200">
                  <a:buAutoNum type="arabicPeriod"/>
                </a:pPr>
                <a:r>
                  <a:rPr lang="en-US" b="0" dirty="0"/>
                  <a:t>Identification of </a:t>
                </a:r>
                <a:r>
                  <a:rPr lang="en-US" dirty="0"/>
                  <a:t>Zinc binding </a:t>
                </a:r>
                <a:r>
                  <a:rPr lang="en-US" b="0" dirty="0"/>
                  <a:t>module APC2</a:t>
                </a:r>
              </a:p>
              <a:p>
                <a:pPr marL="457200" indent="-457200">
                  <a:buAutoNum type="arabicPeriod"/>
                </a:pPr>
                <a:r>
                  <a:rPr lang="en-US" b="0" dirty="0"/>
                  <a:t>Characterization of </a:t>
                </a:r>
                <a:r>
                  <a:rPr lang="en-US" dirty="0"/>
                  <a:t>intrinsically disordered region </a:t>
                </a:r>
                <a:r>
                  <a:rPr lang="en-US" b="0" dirty="0"/>
                  <a:t>in APC/C</a:t>
                </a:r>
              </a:p>
              <a:p>
                <a:pPr marL="457200" indent="-457200">
                  <a:buAutoNum type="arabicPeriod"/>
                </a:pPr>
                <a:r>
                  <a:rPr lang="en-US" b="0" dirty="0"/>
                  <a:t>Better definition of </a:t>
                </a:r>
                <a:r>
                  <a:rPr lang="en-US" dirty="0"/>
                  <a:t>loop structures</a:t>
                </a:r>
              </a:p>
              <a:p>
                <a:pPr marL="457200" indent="-457200">
                  <a:buAutoNum type="arabicPeriod"/>
                </a:pPr>
                <a:r>
                  <a:rPr lang="en-US" b="0" dirty="0"/>
                  <a:t>How</a:t>
                </a:r>
                <a:r>
                  <a:rPr lang="en-US" dirty="0"/>
                  <a:t> N-terminal </a:t>
                </a:r>
                <a:r>
                  <a:rPr lang="el-GR" b="0" i="1" dirty="0"/>
                  <a:t>α</a:t>
                </a:r>
                <a:r>
                  <a:rPr lang="el-GR" dirty="0"/>
                  <a:t>-</a:t>
                </a:r>
                <a:r>
                  <a:rPr lang="en-US" dirty="0"/>
                  <a:t>helix of CDH1 binds to APC1</a:t>
                </a:r>
              </a:p>
              <a:p>
                <a:pPr marL="457200" indent="-457200">
                  <a:buAutoNum type="arabicPeriod"/>
                </a:pPr>
                <a:endParaRPr lang="en-US" b="0" dirty="0"/>
              </a:p>
              <a:p>
                <a:pPr marL="457200" indent="-457200">
                  <a:buAutoNum type="arabicPeriod"/>
                </a:pPr>
                <a:endParaRPr lang="en-US" dirty="0"/>
              </a:p>
              <a:p>
                <a:pPr marL="457200" indent="-457200">
                  <a:buAutoNum type="arabicPeriod"/>
                </a:pPr>
                <a:endParaRPr lang="en-US" dirty="0"/>
              </a:p>
              <a:p>
                <a:endParaRPr lang="en-US" dirty="0"/>
              </a:p>
            </p:txBody>
          </p:sp>
        </mc:Choice>
        <mc:Fallback xmlns="">
          <p:sp>
            <p:nvSpPr>
              <p:cNvPr id="3" name="Content Placeholder 2">
                <a:extLst>
                  <a:ext uri="{FF2B5EF4-FFF2-40B4-BE49-F238E27FC236}">
                    <a16:creationId xmlns:a16="http://schemas.microsoft.com/office/drawing/2014/main" id="{F4E208A4-85AA-4F84-926A-7252FAF6B058}"/>
                  </a:ext>
                </a:extLst>
              </p:cNvPr>
              <p:cNvSpPr>
                <a:spLocks noGrp="1" noRot="1" noChangeAspect="1" noMove="1" noResize="1" noEditPoints="1" noAdjustHandles="1" noChangeArrowheads="1" noChangeShapeType="1" noTextEdit="1"/>
              </p:cNvSpPr>
              <p:nvPr>
                <p:ph sz="quarter" idx="10"/>
              </p:nvPr>
            </p:nvSpPr>
            <p:spPr>
              <a:blipFill>
                <a:blip r:embed="rId3"/>
                <a:stretch>
                  <a:fillRect l="-1671" t="-1262"/>
                </a:stretch>
              </a:blipFill>
            </p:spPr>
            <p:txBody>
              <a:bodyPr/>
              <a:lstStyle/>
              <a:p>
                <a:r>
                  <a:rPr lang="en-US">
                    <a:noFill/>
                  </a:rPr>
                  <a:t> </a:t>
                </a:r>
              </a:p>
            </p:txBody>
          </p:sp>
        </mc:Fallback>
      </mc:AlternateContent>
    </p:spTree>
    <p:extLst>
      <p:ext uri="{BB962C8B-B14F-4D97-AF65-F5344CB8AC3E}">
        <p14:creationId xmlns:p14="http://schemas.microsoft.com/office/powerpoint/2010/main" val="3072924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A9E3A-4848-BAD4-8D63-9093B31AB357}"/>
              </a:ext>
            </a:extLst>
          </p:cNvPr>
          <p:cNvSpPr>
            <a:spLocks noGrp="1"/>
          </p:cNvSpPr>
          <p:nvPr>
            <p:ph type="title"/>
          </p:nvPr>
        </p:nvSpPr>
        <p:spPr/>
        <p:txBody>
          <a:bodyPr/>
          <a:lstStyle/>
          <a:p>
            <a:r>
              <a:rPr lang="en-US" dirty="0"/>
              <a:t>What they used </a:t>
            </a:r>
          </a:p>
        </p:txBody>
      </p:sp>
      <p:sp>
        <p:nvSpPr>
          <p:cNvPr id="3" name="Content Placeholder 2">
            <a:extLst>
              <a:ext uri="{FF2B5EF4-FFF2-40B4-BE49-F238E27FC236}">
                <a16:creationId xmlns:a16="http://schemas.microsoft.com/office/drawing/2014/main" id="{39FEEECC-89C4-1A60-1A8D-503755271424}"/>
              </a:ext>
            </a:extLst>
          </p:cNvPr>
          <p:cNvSpPr>
            <a:spLocks noGrp="1"/>
          </p:cNvSpPr>
          <p:nvPr>
            <p:ph sz="quarter" idx="10"/>
          </p:nvPr>
        </p:nvSpPr>
        <p:spPr/>
        <p:txBody>
          <a:bodyPr/>
          <a:lstStyle/>
          <a:p>
            <a:pPr marL="457200" indent="-457200">
              <a:buAutoNum type="arabicPeriod"/>
            </a:pPr>
            <a:r>
              <a:rPr lang="en-US" dirty="0"/>
              <a:t>Improved </a:t>
            </a:r>
            <a:r>
              <a:rPr lang="en-US" dirty="0" err="1"/>
              <a:t>Cryo</a:t>
            </a:r>
            <a:r>
              <a:rPr lang="en-US" dirty="0"/>
              <a:t> EM hardware</a:t>
            </a:r>
          </a:p>
          <a:p>
            <a:r>
              <a:rPr lang="en-US" dirty="0"/>
              <a:t>       </a:t>
            </a:r>
            <a:r>
              <a:rPr lang="en-US" b="0" dirty="0"/>
              <a:t>Polara EM + Falcon 2 detector =&gt; Titan EM + Falcon 3 detector</a:t>
            </a:r>
          </a:p>
          <a:p>
            <a:r>
              <a:rPr lang="en-US" b="0" dirty="0"/>
              <a:t>2.    </a:t>
            </a:r>
            <a:r>
              <a:rPr lang="en-US" dirty="0"/>
              <a:t>Better software and methods(covered later) with </a:t>
            </a:r>
            <a:r>
              <a:rPr lang="en-US" b="0" dirty="0"/>
              <a:t>: </a:t>
            </a:r>
          </a:p>
          <a:p>
            <a:r>
              <a:rPr lang="en-US" b="0" dirty="0"/>
              <a:t>a.  Currently existing APC/C model</a:t>
            </a:r>
          </a:p>
          <a:p>
            <a:r>
              <a:rPr lang="en-US" b="0" dirty="0"/>
              <a:t>b.  Alpha fold prediction</a:t>
            </a:r>
          </a:p>
          <a:p>
            <a:endParaRPr lang="en-US" dirty="0"/>
          </a:p>
          <a:p>
            <a:pPr marL="457200" indent="-457200">
              <a:buAutoNum type="arabicPeriod"/>
            </a:pPr>
            <a:endParaRPr lang="en-US" dirty="0"/>
          </a:p>
          <a:p>
            <a:pPr marL="457200" indent="-457200">
              <a:buAutoNum type="arabicPeriod"/>
            </a:pPr>
            <a:endParaRPr lang="en-US" dirty="0"/>
          </a:p>
        </p:txBody>
      </p:sp>
      <p:pic>
        <p:nvPicPr>
          <p:cNvPr id="9" name="Picture 8">
            <a:extLst>
              <a:ext uri="{FF2B5EF4-FFF2-40B4-BE49-F238E27FC236}">
                <a16:creationId xmlns:a16="http://schemas.microsoft.com/office/drawing/2014/main" id="{F471F1AA-19C7-8C2C-C981-8977841015F8}"/>
              </a:ext>
            </a:extLst>
          </p:cNvPr>
          <p:cNvPicPr>
            <a:picLocks noChangeAspect="1"/>
          </p:cNvPicPr>
          <p:nvPr/>
        </p:nvPicPr>
        <p:blipFill>
          <a:blip r:embed="rId2"/>
          <a:stretch>
            <a:fillRect/>
          </a:stretch>
        </p:blipFill>
        <p:spPr>
          <a:xfrm>
            <a:off x="9315495" y="919697"/>
            <a:ext cx="2001793" cy="4453990"/>
          </a:xfrm>
          <a:prstGeom prst="rect">
            <a:avLst/>
          </a:prstGeom>
        </p:spPr>
      </p:pic>
      <p:sp>
        <p:nvSpPr>
          <p:cNvPr id="4" name="TextBox 3">
            <a:extLst>
              <a:ext uri="{FF2B5EF4-FFF2-40B4-BE49-F238E27FC236}">
                <a16:creationId xmlns:a16="http://schemas.microsoft.com/office/drawing/2014/main" id="{4802BC5E-F25C-D699-79FF-FA50253EABDC}"/>
              </a:ext>
            </a:extLst>
          </p:cNvPr>
          <p:cNvSpPr txBox="1"/>
          <p:nvPr/>
        </p:nvSpPr>
        <p:spPr>
          <a:xfrm>
            <a:off x="9897762" y="5498757"/>
            <a:ext cx="1557637" cy="341632"/>
          </a:xfrm>
          <a:prstGeom prst="rect">
            <a:avLst/>
          </a:prstGeom>
          <a:noFill/>
        </p:spPr>
        <p:txBody>
          <a:bodyPr wrap="square" rtlCol="0">
            <a:spAutoFit/>
          </a:bodyPr>
          <a:lstStyle/>
          <a:p>
            <a:r>
              <a:rPr lang="en-US" dirty="0"/>
              <a:t>Titan Kiros EM</a:t>
            </a:r>
          </a:p>
        </p:txBody>
      </p:sp>
    </p:spTree>
    <p:extLst>
      <p:ext uri="{BB962C8B-B14F-4D97-AF65-F5344CB8AC3E}">
        <p14:creationId xmlns:p14="http://schemas.microsoft.com/office/powerpoint/2010/main" val="283778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EB607-C4ED-D7EC-78E4-E8F2032F4E65}"/>
              </a:ext>
            </a:extLst>
          </p:cNvPr>
          <p:cNvSpPr>
            <a:spLocks noGrp="1"/>
          </p:cNvSpPr>
          <p:nvPr>
            <p:ph type="title"/>
          </p:nvPr>
        </p:nvSpPr>
        <p:spPr/>
        <p:txBody>
          <a:bodyPr/>
          <a:lstStyle/>
          <a:p>
            <a:pPr algn="ctr"/>
            <a:r>
              <a:rPr lang="en-US" dirty="0"/>
              <a:t>Some background: </a:t>
            </a:r>
            <a:r>
              <a:rPr lang="en-US" dirty="0" err="1"/>
              <a:t>Cryo</a:t>
            </a:r>
            <a:r>
              <a:rPr lang="en-US" dirty="0"/>
              <a:t> EM density</a:t>
            </a:r>
          </a:p>
        </p:txBody>
      </p:sp>
      <p:sp>
        <p:nvSpPr>
          <p:cNvPr id="3" name="Content Placeholder 2">
            <a:extLst>
              <a:ext uri="{FF2B5EF4-FFF2-40B4-BE49-F238E27FC236}">
                <a16:creationId xmlns:a16="http://schemas.microsoft.com/office/drawing/2014/main" id="{EB65F3FE-6898-824D-81F6-7BA6734509FA}"/>
              </a:ext>
            </a:extLst>
          </p:cNvPr>
          <p:cNvSpPr>
            <a:spLocks noGrp="1"/>
          </p:cNvSpPr>
          <p:nvPr>
            <p:ph sz="quarter" idx="10"/>
          </p:nvPr>
        </p:nvSpPr>
        <p:spPr/>
        <p:txBody>
          <a:bodyPr/>
          <a:lstStyle/>
          <a:p>
            <a:pPr marL="457200" indent="-457200">
              <a:buAutoNum type="arabicPeriod"/>
            </a:pPr>
            <a:r>
              <a:rPr lang="en-US" b="0" dirty="0"/>
              <a:t>Experimental </a:t>
            </a:r>
            <a:r>
              <a:rPr lang="en-US" dirty="0"/>
              <a:t>3D volume or "map" </a:t>
            </a:r>
            <a:r>
              <a:rPr lang="en-US" b="0" dirty="0"/>
              <a:t>generated from thousands of 2D electron microscopy images of </a:t>
            </a:r>
            <a:r>
              <a:rPr lang="en-US" dirty="0"/>
              <a:t>vitrified (frozen) </a:t>
            </a:r>
            <a:r>
              <a:rPr lang="en-US" b="0" dirty="0"/>
              <a:t>samples</a:t>
            </a:r>
          </a:p>
          <a:p>
            <a:pPr marL="457200" indent="-457200">
              <a:buAutoNum type="arabicPeriod"/>
            </a:pPr>
            <a:r>
              <a:rPr lang="en-US" b="0" dirty="0"/>
              <a:t>This </a:t>
            </a:r>
            <a:r>
              <a:rPr lang="en-US" dirty="0"/>
              <a:t>density</a:t>
            </a:r>
            <a:r>
              <a:rPr lang="en-US" b="0" dirty="0"/>
              <a:t> represents the actual physical space occupied by the </a:t>
            </a:r>
            <a:r>
              <a:rPr lang="en-US" dirty="0"/>
              <a:t>atoms</a:t>
            </a:r>
            <a:r>
              <a:rPr lang="en-US" b="0" dirty="0"/>
              <a:t> of the </a:t>
            </a:r>
            <a:r>
              <a:rPr lang="en-US" dirty="0"/>
              <a:t>protein complex </a:t>
            </a:r>
            <a:r>
              <a:rPr lang="en-US" b="0" dirty="0"/>
              <a:t>being studied, such as the APC/C</a:t>
            </a:r>
          </a:p>
          <a:p>
            <a:pPr marL="457200" indent="-457200">
              <a:buAutoNum type="arabicPeriod"/>
            </a:pPr>
            <a:r>
              <a:rPr lang="en-US" b="0" dirty="0"/>
              <a:t>Researchers take the "</a:t>
            </a:r>
            <a:r>
              <a:rPr lang="en-US" dirty="0"/>
              <a:t>blobs</a:t>
            </a:r>
            <a:r>
              <a:rPr lang="en-US" b="0" dirty="0"/>
              <a:t>" of </a:t>
            </a:r>
            <a:r>
              <a:rPr lang="en-US" dirty="0"/>
              <a:t>density</a:t>
            </a:r>
            <a:r>
              <a:rPr lang="en-US" b="0" dirty="0"/>
              <a:t> seen in the map and manually fit protein chains, amino acids, and side chains into them using software like </a:t>
            </a:r>
            <a:r>
              <a:rPr lang="en-US" dirty="0"/>
              <a:t>COOT</a:t>
            </a:r>
          </a:p>
          <a:p>
            <a:pPr marL="457200" indent="-457200">
              <a:buAutoNum type="arabicPeriod"/>
            </a:pPr>
            <a:endParaRPr lang="en-US" dirty="0"/>
          </a:p>
        </p:txBody>
      </p:sp>
    </p:spTree>
    <p:extLst>
      <p:ext uri="{BB962C8B-B14F-4D97-AF65-F5344CB8AC3E}">
        <p14:creationId xmlns:p14="http://schemas.microsoft.com/office/powerpoint/2010/main" val="1559874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E0F75-7CC3-0653-3DB0-0F243F8EF721}"/>
              </a:ext>
            </a:extLst>
          </p:cNvPr>
          <p:cNvSpPr>
            <a:spLocks noGrp="1"/>
          </p:cNvSpPr>
          <p:nvPr>
            <p:ph type="title"/>
          </p:nvPr>
        </p:nvSpPr>
        <p:spPr/>
        <p:txBody>
          <a:bodyPr/>
          <a:lstStyle/>
          <a:p>
            <a:pPr algn="ctr"/>
            <a:r>
              <a:rPr lang="en-US" dirty="0"/>
              <a:t>Cryo-EM mapping </a:t>
            </a:r>
          </a:p>
        </p:txBody>
      </p:sp>
      <p:sp>
        <p:nvSpPr>
          <p:cNvPr id="3" name="Content Placeholder 2">
            <a:extLst>
              <a:ext uri="{FF2B5EF4-FFF2-40B4-BE49-F238E27FC236}">
                <a16:creationId xmlns:a16="http://schemas.microsoft.com/office/drawing/2014/main" id="{90977680-2741-2542-C281-CD305CA730F0}"/>
              </a:ext>
            </a:extLst>
          </p:cNvPr>
          <p:cNvSpPr>
            <a:spLocks noGrp="1"/>
          </p:cNvSpPr>
          <p:nvPr>
            <p:ph sz="quarter" idx="10"/>
          </p:nvPr>
        </p:nvSpPr>
        <p:spPr/>
        <p:txBody>
          <a:bodyPr/>
          <a:lstStyle/>
          <a:p>
            <a:pPr marL="457200" indent="-457200">
              <a:buAutoNum type="arabicPeriod"/>
            </a:pPr>
            <a:r>
              <a:rPr lang="en-US" b="0" dirty="0"/>
              <a:t>Refinement is based on </a:t>
            </a:r>
            <a:r>
              <a:rPr lang="en-US" dirty="0"/>
              <a:t>multi body approach</a:t>
            </a:r>
          </a:p>
          <a:p>
            <a:pPr marL="457200" indent="-457200">
              <a:buAutoNum type="arabicPeriod"/>
            </a:pPr>
            <a:r>
              <a:rPr lang="en-US" b="0" dirty="0"/>
              <a:t>3D classification generated </a:t>
            </a:r>
            <a:r>
              <a:rPr lang="en-US" dirty="0"/>
              <a:t>8 classes </a:t>
            </a:r>
          </a:p>
          <a:p>
            <a:pPr marL="457200" indent="-457200">
              <a:buAutoNum type="arabicPeriod"/>
            </a:pPr>
            <a:r>
              <a:rPr lang="en-US" b="0" dirty="0"/>
              <a:t>The ternary complex map was divided into 3 masks </a:t>
            </a:r>
            <a:r>
              <a:rPr lang="en-US" dirty="0"/>
              <a:t>for particle subtraction </a:t>
            </a:r>
            <a:r>
              <a:rPr lang="en-US" b="0" dirty="0"/>
              <a:t>and </a:t>
            </a:r>
            <a:r>
              <a:rPr lang="en-US" dirty="0"/>
              <a:t>focused 3D refinement</a:t>
            </a:r>
          </a:p>
          <a:p>
            <a:pPr marL="457200" indent="-457200">
              <a:buAutoNum type="arabicPeriod"/>
            </a:pPr>
            <a:r>
              <a:rPr lang="en-US" b="0" dirty="0"/>
              <a:t>This process improved </a:t>
            </a:r>
            <a:r>
              <a:rPr lang="en-US" b="0" dirty="0" err="1"/>
              <a:t>cryoEM</a:t>
            </a:r>
            <a:r>
              <a:rPr lang="en-US" b="0" dirty="0"/>
              <a:t> densities in peripheral and flexible region from previous 3.6Å  </a:t>
            </a:r>
            <a:r>
              <a:rPr lang="en-US" dirty="0"/>
              <a:t>PDB 4U19. </a:t>
            </a:r>
          </a:p>
          <a:p>
            <a:pPr marL="457200" indent="-457200">
              <a:buAutoNum type="arabicPeriod"/>
            </a:pPr>
            <a:r>
              <a:rPr lang="en-US" b="0" dirty="0"/>
              <a:t>Besides improving loops and fitting side chain and residue assignment </a:t>
            </a:r>
          </a:p>
          <a:p>
            <a:pPr marL="457200" indent="-457200">
              <a:buAutoNum type="arabicPeriod"/>
            </a:pPr>
            <a:r>
              <a:rPr lang="en-US" b="0" dirty="0"/>
              <a:t>They </a:t>
            </a:r>
            <a:r>
              <a:rPr lang="en-US" dirty="0"/>
              <a:t>de novo </a:t>
            </a:r>
            <a:r>
              <a:rPr lang="en-US" b="0" dirty="0"/>
              <a:t>made or remade 4 biologically important regions.</a:t>
            </a:r>
          </a:p>
          <a:p>
            <a:endParaRPr lang="en-US" dirty="0"/>
          </a:p>
        </p:txBody>
      </p:sp>
    </p:spTree>
    <p:extLst>
      <p:ext uri="{BB962C8B-B14F-4D97-AF65-F5344CB8AC3E}">
        <p14:creationId xmlns:p14="http://schemas.microsoft.com/office/powerpoint/2010/main" val="1589924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ACA77-2436-9C87-C792-D2C7D3CA0A5D}"/>
              </a:ext>
            </a:extLst>
          </p:cNvPr>
          <p:cNvSpPr>
            <a:spLocks noGrp="1"/>
          </p:cNvSpPr>
          <p:nvPr>
            <p:ph type="title"/>
          </p:nvPr>
        </p:nvSpPr>
        <p:spPr/>
        <p:txBody>
          <a:bodyPr/>
          <a:lstStyle/>
          <a:p>
            <a:r>
              <a:rPr lang="en-US" dirty="0"/>
              <a:t>unambiguous assignment of an </a:t>
            </a:r>
            <a:r>
              <a:rPr lang="en-US" b="0" i="1" dirty="0"/>
              <a:t>α</a:t>
            </a:r>
            <a:r>
              <a:rPr lang="en-US" dirty="0"/>
              <a:t>-helix to the N-terminus of CDH1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3FA4435-42B0-EBA2-DE1B-877EAC3CEBBE}"/>
                  </a:ext>
                </a:extLst>
              </p:cNvPr>
              <p:cNvSpPr>
                <a:spLocks noGrp="1"/>
              </p:cNvSpPr>
              <p:nvPr>
                <p:ph sz="quarter" idx="10"/>
              </p:nvPr>
            </p:nvSpPr>
            <p:spPr>
              <a:xfrm>
                <a:off x="491652" y="921129"/>
                <a:ext cx="5468424" cy="4499447"/>
              </a:xfrm>
            </p:spPr>
            <p:txBody>
              <a:bodyPr/>
              <a:lstStyle/>
              <a:p>
                <a:pPr marL="457200" indent="-457200">
                  <a:buAutoNum type="arabicPeriod"/>
                </a:pPr>
                <a:r>
                  <a:rPr lang="en-US" b="0" dirty="0"/>
                  <a:t>The researchers highlight the unambiguous assignment of</a:t>
                </a:r>
                <a:r>
                  <a:rPr lang="en-US" dirty="0"/>
                  <a:t> an α-helix to the N-terminus of CDH1 </a:t>
                </a:r>
                <a:r>
                  <a:rPr lang="en-US" b="0" dirty="0"/>
                  <a:t>as a major finding enabled by their high-resolution 2.9 Å cryo-EM maps. </a:t>
                </a:r>
              </a:p>
              <a:p>
                <a:pPr marL="457200" indent="-457200">
                  <a:buAutoNum type="arabicPeriod"/>
                </a:pPr>
                <a:r>
                  <a:rPr lang="en-US" b="0" dirty="0"/>
                  <a:t>This discovery corrects previous structural models (such as PDB 4UI9) where this specific density was misidentified as </a:t>
                </a:r>
                <a:r>
                  <a:rPr lang="en-US" b="0" dirty="0" err="1"/>
                  <a:t>parta</a:t>
                </a:r>
                <a:r>
                  <a:rPr lang="en-US" b="0" dirty="0"/>
                  <a:t> ply Ala helix of </a:t>
                </a:r>
                <a:r>
                  <a:rPr lang="en-US" dirty="0"/>
                  <a:t>the APC1 subunit WD40 domain</a:t>
                </a:r>
              </a:p>
              <a:p>
                <a:pPr marL="457200" indent="-457200">
                  <a:buAutoNum type="arabicPeriod"/>
                </a:pPr>
                <a:r>
                  <a:rPr lang="en-US" b="0" dirty="0"/>
                  <a:t>By physically </a:t>
                </a:r>
                <a:r>
                  <a:rPr lang="en-US" dirty="0"/>
                  <a:t>displacing the auto-inhibitory </a:t>
                </a:r>
                <a14:m>
                  <m:oMath xmlns:m="http://schemas.openxmlformats.org/officeDocument/2006/math">
                    <m:sSup>
                      <m:sSupPr>
                        <m:ctrlPr>
                          <a:rPr lang="en-US" b="0" i="1">
                            <a:latin typeface="Cambria Math" panose="02040503050406030204" pitchFamily="18" charset="0"/>
                          </a:rPr>
                        </m:ctrlPr>
                      </m:sSupPr>
                      <m:e>
                        <m:r>
                          <m:rPr>
                            <m:nor/>
                          </m:rPr>
                          <a:rPr lang="en-US" b="0" dirty="0"/>
                          <m:t>(</m:t>
                        </m:r>
                        <m:r>
                          <m:rPr>
                            <m:nor/>
                          </m:rPr>
                          <a:rPr lang="en-US" b="0" i="1" dirty="0"/>
                          <m:t>APC</m:t>
                        </m:r>
                        <m:r>
                          <a:rPr lang="en-US" b="0" i="1" dirty="0" smtClean="0">
                            <a:latin typeface="Cambria Math" panose="02040503050406030204" pitchFamily="18" charset="0"/>
                          </a:rPr>
                          <m:t>1</m:t>
                        </m:r>
                      </m:e>
                      <m:sup>
                        <m:r>
                          <m:rPr>
                            <m:nor/>
                          </m:rPr>
                          <a:rPr lang="en-US" b="0" i="1" dirty="0" smtClean="0">
                            <a:latin typeface="Cambria Math" panose="02040503050406030204" pitchFamily="18" charset="0"/>
                          </a:rPr>
                          <m:t>AI</m:t>
                        </m:r>
                      </m:sup>
                    </m:sSup>
                    <m:r>
                      <a:rPr lang="en-US" b="0" i="1" dirty="0">
                        <a:latin typeface="Cambria Math" panose="02040503050406030204" pitchFamily="18" charset="0"/>
                      </a:rPr>
                      <m:t> </m:t>
                    </m:r>
                    <m:r>
                      <a:rPr lang="en-US" b="0" i="1" dirty="0" smtClean="0">
                        <a:latin typeface="Cambria Math" panose="02040503050406030204" pitchFamily="18" charset="0"/>
                      </a:rPr>
                      <m:t>)</m:t>
                    </m:r>
                  </m:oMath>
                </a14:m>
                <a:r>
                  <a:rPr lang="en-US" dirty="0"/>
                  <a:t>segment</a:t>
                </a:r>
                <a:r>
                  <a:rPr lang="en-US" b="0" dirty="0"/>
                  <a:t>, this helix acts as a molecular switch that stabilizes the APC/C in its active state</a:t>
                </a:r>
              </a:p>
            </p:txBody>
          </p:sp>
        </mc:Choice>
        <mc:Fallback>
          <p:sp>
            <p:nvSpPr>
              <p:cNvPr id="3" name="Content Placeholder 2">
                <a:extLst>
                  <a:ext uri="{FF2B5EF4-FFF2-40B4-BE49-F238E27FC236}">
                    <a16:creationId xmlns:a16="http://schemas.microsoft.com/office/drawing/2014/main" id="{D3FA4435-42B0-EBA2-DE1B-877EAC3CEBBE}"/>
                  </a:ext>
                </a:extLst>
              </p:cNvPr>
              <p:cNvSpPr>
                <a:spLocks noGrp="1" noRot="1" noChangeAspect="1" noMove="1" noResize="1" noEditPoints="1" noAdjustHandles="1" noChangeArrowheads="1" noChangeShapeType="1" noTextEdit="1"/>
              </p:cNvSpPr>
              <p:nvPr>
                <p:ph sz="quarter" idx="10"/>
              </p:nvPr>
            </p:nvSpPr>
            <p:spPr>
              <a:xfrm>
                <a:off x="491652" y="921129"/>
                <a:ext cx="5468424" cy="4499447"/>
              </a:xfrm>
              <a:blipFill>
                <a:blip r:embed="rId3"/>
                <a:stretch>
                  <a:fillRect l="-3233" t="-2846" r="-3010" b="-6369"/>
                </a:stretch>
              </a:blipFill>
            </p:spPr>
            <p:txBody>
              <a:bodyPr/>
              <a:lstStyle/>
              <a:p>
                <a:r>
                  <a:rPr lang="en-US">
                    <a:noFill/>
                  </a:rPr>
                  <a:t> </a:t>
                </a:r>
              </a:p>
            </p:txBody>
          </p:sp>
        </mc:Fallback>
      </mc:AlternateContent>
      <p:pic>
        <p:nvPicPr>
          <p:cNvPr id="9" name="Content Placeholder 8">
            <a:extLst>
              <a:ext uri="{FF2B5EF4-FFF2-40B4-BE49-F238E27FC236}">
                <a16:creationId xmlns:a16="http://schemas.microsoft.com/office/drawing/2014/main" id="{7C2E8055-5C54-7AE0-6B9E-7B2CA57F189C}"/>
              </a:ext>
            </a:extLst>
          </p:cNvPr>
          <p:cNvPicPr>
            <a:picLocks noChangeAspect="1"/>
          </p:cNvPicPr>
          <p:nvPr/>
        </p:nvPicPr>
        <p:blipFill>
          <a:blip r:embed="rId4"/>
          <a:stretch>
            <a:fillRect/>
          </a:stretch>
        </p:blipFill>
        <p:spPr>
          <a:xfrm>
            <a:off x="5947056" y="921129"/>
            <a:ext cx="5891403" cy="4588154"/>
          </a:xfrm>
          <a:prstGeom prst="rect">
            <a:avLst/>
          </a:prstGeom>
          <a:ln>
            <a:noFill/>
          </a:ln>
        </p:spPr>
      </p:pic>
    </p:spTree>
    <p:extLst>
      <p:ext uri="{BB962C8B-B14F-4D97-AF65-F5344CB8AC3E}">
        <p14:creationId xmlns:p14="http://schemas.microsoft.com/office/powerpoint/2010/main" val="185755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2065C-FDEB-8454-6987-DAD352D1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043CD-DA74-426B-2ED1-AACE111BDF49}"/>
              </a:ext>
            </a:extLst>
          </p:cNvPr>
          <p:cNvSpPr>
            <a:spLocks noGrp="1"/>
          </p:cNvSpPr>
          <p:nvPr>
            <p:ph type="title"/>
          </p:nvPr>
        </p:nvSpPr>
        <p:spPr/>
        <p:txBody>
          <a:bodyPr/>
          <a:lstStyle/>
          <a:p>
            <a:r>
              <a:rPr lang="en-US" dirty="0"/>
              <a:t>unambiguous assignment of an </a:t>
            </a:r>
            <a:r>
              <a:rPr lang="en-US" b="0" i="1" dirty="0"/>
              <a:t>α</a:t>
            </a:r>
            <a:r>
              <a:rPr lang="en-US" dirty="0"/>
              <a:t>-helix to the N-terminus of CDH1</a:t>
            </a:r>
          </a:p>
        </p:txBody>
      </p:sp>
      <p:pic>
        <p:nvPicPr>
          <p:cNvPr id="11" name="Picture 10">
            <a:extLst>
              <a:ext uri="{FF2B5EF4-FFF2-40B4-BE49-F238E27FC236}">
                <a16:creationId xmlns:a16="http://schemas.microsoft.com/office/drawing/2014/main" id="{3C4A3842-6242-DC5B-1FD7-CAEBD962697A}"/>
              </a:ext>
            </a:extLst>
          </p:cNvPr>
          <p:cNvPicPr>
            <a:picLocks noChangeAspect="1"/>
          </p:cNvPicPr>
          <p:nvPr/>
        </p:nvPicPr>
        <p:blipFill>
          <a:blip r:embed="rId3"/>
          <a:stretch>
            <a:fillRect/>
          </a:stretch>
        </p:blipFill>
        <p:spPr>
          <a:xfrm>
            <a:off x="7952166" y="1538041"/>
            <a:ext cx="3878664" cy="3445333"/>
          </a:xfrm>
          <a:prstGeom prst="rect">
            <a:avLst/>
          </a:prstGeom>
        </p:spPr>
      </p:pic>
      <p:pic>
        <p:nvPicPr>
          <p:cNvPr id="15" name="Picture 14">
            <a:extLst>
              <a:ext uri="{FF2B5EF4-FFF2-40B4-BE49-F238E27FC236}">
                <a16:creationId xmlns:a16="http://schemas.microsoft.com/office/drawing/2014/main" id="{F34279F3-1EA6-CA6B-1F2A-D3BBED8C7CF2}"/>
              </a:ext>
            </a:extLst>
          </p:cNvPr>
          <p:cNvPicPr>
            <a:picLocks noChangeAspect="1"/>
          </p:cNvPicPr>
          <p:nvPr/>
        </p:nvPicPr>
        <p:blipFill>
          <a:blip r:embed="rId4"/>
          <a:stretch>
            <a:fillRect/>
          </a:stretch>
        </p:blipFill>
        <p:spPr>
          <a:xfrm>
            <a:off x="605904" y="1538041"/>
            <a:ext cx="3922228" cy="3445332"/>
          </a:xfrm>
          <a:prstGeom prst="rect">
            <a:avLst/>
          </a:prstGeom>
        </p:spPr>
      </p:pic>
      <p:pic>
        <p:nvPicPr>
          <p:cNvPr id="4" name="Picture 3">
            <a:extLst>
              <a:ext uri="{FF2B5EF4-FFF2-40B4-BE49-F238E27FC236}">
                <a16:creationId xmlns:a16="http://schemas.microsoft.com/office/drawing/2014/main" id="{D20ED824-14CC-62F9-667A-16A077180337}"/>
              </a:ext>
            </a:extLst>
          </p:cNvPr>
          <p:cNvPicPr>
            <a:picLocks noChangeAspect="1"/>
          </p:cNvPicPr>
          <p:nvPr/>
        </p:nvPicPr>
        <p:blipFill>
          <a:blip r:embed="rId5"/>
          <a:stretch>
            <a:fillRect/>
          </a:stretch>
        </p:blipFill>
        <p:spPr>
          <a:xfrm>
            <a:off x="4603226" y="1538041"/>
            <a:ext cx="3273845" cy="3445333"/>
          </a:xfrm>
          <a:prstGeom prst="rect">
            <a:avLst/>
          </a:prstGeom>
        </p:spPr>
      </p:pic>
    </p:spTree>
    <p:extLst>
      <p:ext uri="{BB962C8B-B14F-4D97-AF65-F5344CB8AC3E}">
        <p14:creationId xmlns:p14="http://schemas.microsoft.com/office/powerpoint/2010/main" val="3196068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20045F18-3B60-1B34-261D-428C9A1A36B5}"/>
                  </a:ext>
                </a:extLst>
              </p:cNvPr>
              <p:cNvSpPr>
                <a:spLocks noGrp="1"/>
              </p:cNvSpPr>
              <p:nvPr>
                <p:ph type="title"/>
              </p:nvPr>
            </p:nvSpPr>
            <p:spPr/>
            <p:txBody>
              <a:bodyPr/>
              <a:lstStyle/>
              <a:p>
                <a:pPr algn="ctr"/>
                <a:r>
                  <a:rPr lang="en-US" dirty="0"/>
                  <a:t>Discovery of the Metazoan Zinc-Binding Module (</a:t>
                </a:r>
                <a14:m>
                  <m:oMath xmlns:m="http://schemas.openxmlformats.org/officeDocument/2006/math">
                    <m:sSup>
                      <m:sSupPr>
                        <m:ctrlPr>
                          <a:rPr lang="en-US" b="0" i="1">
                            <a:latin typeface="Cambria Math" panose="02040503050406030204" pitchFamily="18" charset="0"/>
                          </a:rPr>
                        </m:ctrlPr>
                      </m:sSupPr>
                      <m:e>
                        <m:r>
                          <m:rPr>
                            <m:nor/>
                          </m:rPr>
                          <a:rPr lang="en-US" b="0" dirty="0"/>
                          <m:t>(</m:t>
                        </m:r>
                        <m:r>
                          <m:rPr>
                            <m:nor/>
                          </m:rPr>
                          <a:rPr lang="en-US" b="0" i="1" dirty="0"/>
                          <m:t>APC</m:t>
                        </m:r>
                        <m:r>
                          <m:rPr>
                            <m:nor/>
                          </m:rPr>
                          <a:rPr lang="en-US" b="0" i="0" dirty="0" smtClean="0"/>
                          <m:t>2</m:t>
                        </m:r>
                      </m:e>
                      <m:sup>
                        <m:r>
                          <a:rPr lang="en-US" b="0" i="1" dirty="0" smtClean="0">
                            <a:latin typeface="Cambria Math" panose="02040503050406030204" pitchFamily="18" charset="0"/>
                          </a:rPr>
                          <m:t>𝑍𝐵𝑀</m:t>
                        </m:r>
                      </m:sup>
                    </m:sSup>
                  </m:oMath>
                </a14:m>
                <a:r>
                  <a:rPr lang="en-US" dirty="0"/>
                  <a:t>)</a:t>
                </a:r>
              </a:p>
            </p:txBody>
          </p:sp>
        </mc:Choice>
        <mc:Fallback>
          <p:sp>
            <p:nvSpPr>
              <p:cNvPr id="2" name="Title 1">
                <a:extLst>
                  <a:ext uri="{FF2B5EF4-FFF2-40B4-BE49-F238E27FC236}">
                    <a16:creationId xmlns:a16="http://schemas.microsoft.com/office/drawing/2014/main" id="{20045F18-3B60-1B34-261D-428C9A1A36B5}"/>
                  </a:ext>
                </a:extLst>
              </p:cNvPr>
              <p:cNvSpPr>
                <a:spLocks noGrp="1" noRot="1" noChangeAspect="1" noMove="1" noResize="1" noEditPoints="1" noAdjustHandles="1" noChangeArrowheads="1" noChangeShapeType="1" noTextEdit="1"/>
              </p:cNvSpPr>
              <p:nvPr>
                <p:ph type="title"/>
              </p:nvPr>
            </p:nvSpPr>
            <p:spPr>
              <a:blipFill>
                <a:blip r:embed="rId3"/>
                <a:stretch>
                  <a:fillRect t="-14286"/>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7003BC04-6C92-32C2-27D3-F10FB56ECD3F}"/>
              </a:ext>
            </a:extLst>
          </p:cNvPr>
          <p:cNvSpPr>
            <a:spLocks noGrp="1"/>
          </p:cNvSpPr>
          <p:nvPr>
            <p:ph sz="quarter" idx="10"/>
          </p:nvPr>
        </p:nvSpPr>
        <p:spPr>
          <a:xfrm>
            <a:off x="874711" y="790833"/>
            <a:ext cx="10580688" cy="5038468"/>
          </a:xfrm>
        </p:spPr>
        <p:txBody>
          <a:bodyPr/>
          <a:lstStyle/>
          <a:p>
            <a:r>
              <a:rPr lang="en-US" dirty="0"/>
              <a:t>• The Module: </a:t>
            </a:r>
            <a:r>
              <a:rPr lang="en-US" b="0" dirty="0"/>
              <a:t>Researchers identified a </a:t>
            </a:r>
            <a:r>
              <a:rPr lang="en-US" dirty="0"/>
              <a:t>previously unknown highly conserved zinc-binding module </a:t>
            </a:r>
            <a:r>
              <a:rPr lang="en-US" b="0" dirty="0"/>
              <a:t>located within the second </a:t>
            </a:r>
            <a:r>
              <a:rPr lang="en-US" dirty="0" err="1"/>
              <a:t>cullin</a:t>
            </a:r>
            <a:r>
              <a:rPr lang="en-US" dirty="0"/>
              <a:t> repeat (CR2) of the APC2 subunit.</a:t>
            </a:r>
          </a:p>
          <a:p>
            <a:r>
              <a:rPr lang="en-US" dirty="0"/>
              <a:t>• Structure: </a:t>
            </a:r>
            <a:r>
              <a:rPr lang="en-US" b="0" dirty="0"/>
              <a:t>It consists of a 45-residue insert coordinated by a single zinc ion held by four highly conserved cysteine residues (Cys221, Cys224, Cys231, and Cys233)</a:t>
            </a:r>
          </a:p>
          <a:p>
            <a:r>
              <a:rPr lang="en-US" dirty="0"/>
              <a:t>Experimental Validation (PIXE): </a:t>
            </a:r>
            <a:r>
              <a:rPr lang="en-US" b="0" dirty="0"/>
              <a:t>The presence of zinc was confirmed using proton-induced X-ray emission (PIXE) spectroscopy, which detected </a:t>
            </a:r>
            <a:r>
              <a:rPr lang="en-US" dirty="0"/>
              <a:t>approximately two zinc ions </a:t>
            </a:r>
            <a:r>
              <a:rPr lang="en-US" b="0" dirty="0"/>
              <a:t>per complex.</a:t>
            </a:r>
          </a:p>
          <a:p>
            <a:endParaRPr lang="en-US" b="0" dirty="0"/>
          </a:p>
        </p:txBody>
      </p:sp>
      <p:pic>
        <p:nvPicPr>
          <p:cNvPr id="6" name="Picture 5">
            <a:extLst>
              <a:ext uri="{FF2B5EF4-FFF2-40B4-BE49-F238E27FC236}">
                <a16:creationId xmlns:a16="http://schemas.microsoft.com/office/drawing/2014/main" id="{6E45FADE-4A8B-742C-054C-E49325E9E1BB}"/>
              </a:ext>
            </a:extLst>
          </p:cNvPr>
          <p:cNvPicPr>
            <a:picLocks noChangeAspect="1"/>
          </p:cNvPicPr>
          <p:nvPr/>
        </p:nvPicPr>
        <p:blipFill>
          <a:blip r:embed="rId4"/>
          <a:stretch>
            <a:fillRect/>
          </a:stretch>
        </p:blipFill>
        <p:spPr>
          <a:xfrm>
            <a:off x="235518" y="3284008"/>
            <a:ext cx="4342580" cy="2878925"/>
          </a:xfrm>
          <a:prstGeom prst="rect">
            <a:avLst/>
          </a:prstGeom>
        </p:spPr>
      </p:pic>
      <p:pic>
        <p:nvPicPr>
          <p:cNvPr id="8" name="Picture 7">
            <a:extLst>
              <a:ext uri="{FF2B5EF4-FFF2-40B4-BE49-F238E27FC236}">
                <a16:creationId xmlns:a16="http://schemas.microsoft.com/office/drawing/2014/main" id="{819A748D-D336-9FC9-E2DD-D8A54E113FF1}"/>
              </a:ext>
            </a:extLst>
          </p:cNvPr>
          <p:cNvPicPr>
            <a:picLocks noChangeAspect="1"/>
          </p:cNvPicPr>
          <p:nvPr/>
        </p:nvPicPr>
        <p:blipFill>
          <a:blip r:embed="rId5"/>
          <a:stretch>
            <a:fillRect/>
          </a:stretch>
        </p:blipFill>
        <p:spPr>
          <a:xfrm>
            <a:off x="4401195" y="3284008"/>
            <a:ext cx="3768811" cy="3028630"/>
          </a:xfrm>
          <a:prstGeom prst="rect">
            <a:avLst/>
          </a:prstGeom>
        </p:spPr>
      </p:pic>
      <p:pic>
        <p:nvPicPr>
          <p:cNvPr id="10" name="Picture 9">
            <a:extLst>
              <a:ext uri="{FF2B5EF4-FFF2-40B4-BE49-F238E27FC236}">
                <a16:creationId xmlns:a16="http://schemas.microsoft.com/office/drawing/2014/main" id="{B01D8F54-2832-3DD8-2F7F-47975446FC6B}"/>
              </a:ext>
            </a:extLst>
          </p:cNvPr>
          <p:cNvPicPr>
            <a:picLocks noChangeAspect="1"/>
          </p:cNvPicPr>
          <p:nvPr/>
        </p:nvPicPr>
        <p:blipFill>
          <a:blip r:embed="rId6"/>
          <a:stretch>
            <a:fillRect/>
          </a:stretch>
        </p:blipFill>
        <p:spPr>
          <a:xfrm>
            <a:off x="7993103" y="3697126"/>
            <a:ext cx="4198897" cy="2202393"/>
          </a:xfrm>
          <a:prstGeom prst="rect">
            <a:avLst/>
          </a:prstGeom>
        </p:spPr>
      </p:pic>
    </p:spTree>
    <p:extLst>
      <p:ext uri="{BB962C8B-B14F-4D97-AF65-F5344CB8AC3E}">
        <p14:creationId xmlns:p14="http://schemas.microsoft.com/office/powerpoint/2010/main" val="1020795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9B22B-D313-276F-3998-89F8D280FDAE}"/>
              </a:ext>
            </a:extLst>
          </p:cNvPr>
          <p:cNvSpPr>
            <a:spLocks noGrp="1"/>
          </p:cNvSpPr>
          <p:nvPr>
            <p:ph type="title"/>
          </p:nvPr>
        </p:nvSpPr>
        <p:spPr/>
        <p:txBody>
          <a:bodyPr/>
          <a:lstStyle/>
          <a:p>
            <a:r>
              <a:rPr lang="en-US" dirty="0"/>
              <a:t>Extension of APC6 C terminus and intrinsically disordered region </a:t>
            </a:r>
          </a:p>
        </p:txBody>
      </p:sp>
      <p:pic>
        <p:nvPicPr>
          <p:cNvPr id="5" name="Content Placeholder 4">
            <a:extLst>
              <a:ext uri="{FF2B5EF4-FFF2-40B4-BE49-F238E27FC236}">
                <a16:creationId xmlns:a16="http://schemas.microsoft.com/office/drawing/2014/main" id="{3752F65D-C947-C4E1-C0E4-C909B1A8136C}"/>
              </a:ext>
            </a:extLst>
          </p:cNvPr>
          <p:cNvPicPr>
            <a:picLocks noGrp="1" noChangeAspect="1"/>
          </p:cNvPicPr>
          <p:nvPr>
            <p:ph sz="quarter" idx="10"/>
          </p:nvPr>
        </p:nvPicPr>
        <p:blipFill>
          <a:blip r:embed="rId2"/>
          <a:stretch>
            <a:fillRect/>
          </a:stretch>
        </p:blipFill>
        <p:spPr>
          <a:xfrm>
            <a:off x="265835" y="1213147"/>
            <a:ext cx="4853944" cy="4344987"/>
          </a:xfrm>
          <a:prstGeom prst="rect">
            <a:avLst/>
          </a:prstGeom>
          <a:ln>
            <a:noFill/>
          </a:ln>
        </p:spPr>
      </p:pic>
      <p:pic>
        <p:nvPicPr>
          <p:cNvPr id="7" name="Picture 6">
            <a:extLst>
              <a:ext uri="{FF2B5EF4-FFF2-40B4-BE49-F238E27FC236}">
                <a16:creationId xmlns:a16="http://schemas.microsoft.com/office/drawing/2014/main" id="{2446B8AA-8B3A-217D-9C92-B55DF06DD964}"/>
              </a:ext>
            </a:extLst>
          </p:cNvPr>
          <p:cNvPicPr>
            <a:picLocks noChangeAspect="1"/>
          </p:cNvPicPr>
          <p:nvPr/>
        </p:nvPicPr>
        <p:blipFill>
          <a:blip r:embed="rId3"/>
          <a:stretch>
            <a:fillRect/>
          </a:stretch>
        </p:blipFill>
        <p:spPr>
          <a:xfrm>
            <a:off x="5662443" y="1299865"/>
            <a:ext cx="6106377" cy="4258269"/>
          </a:xfrm>
          <a:prstGeom prst="rect">
            <a:avLst/>
          </a:prstGeom>
        </p:spPr>
      </p:pic>
    </p:spTree>
    <p:extLst>
      <p:ext uri="{BB962C8B-B14F-4D97-AF65-F5344CB8AC3E}">
        <p14:creationId xmlns:p14="http://schemas.microsoft.com/office/powerpoint/2010/main" val="4194479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33430-0D3D-E100-2787-98890A0F6D47}"/>
              </a:ext>
            </a:extLst>
          </p:cNvPr>
          <p:cNvSpPr>
            <a:spLocks noGrp="1"/>
          </p:cNvSpPr>
          <p:nvPr>
            <p:ph type="title"/>
          </p:nvPr>
        </p:nvSpPr>
        <p:spPr/>
        <p:txBody>
          <a:bodyPr/>
          <a:lstStyle/>
          <a:p>
            <a:r>
              <a:rPr lang="en-US" dirty="0"/>
              <a:t>primary inhibitory mechanisms used by EMI1</a:t>
            </a:r>
          </a:p>
        </p:txBody>
      </p:sp>
      <p:pic>
        <p:nvPicPr>
          <p:cNvPr id="9" name="Content Placeholder 8">
            <a:extLst>
              <a:ext uri="{FF2B5EF4-FFF2-40B4-BE49-F238E27FC236}">
                <a16:creationId xmlns:a16="http://schemas.microsoft.com/office/drawing/2014/main" id="{BE1CB58E-423E-C94E-19E4-A65A86522078}"/>
              </a:ext>
            </a:extLst>
          </p:cNvPr>
          <p:cNvPicPr>
            <a:picLocks noGrp="1" noChangeAspect="1"/>
          </p:cNvPicPr>
          <p:nvPr>
            <p:ph sz="quarter" idx="10"/>
          </p:nvPr>
        </p:nvPicPr>
        <p:blipFill>
          <a:blip r:embed="rId3"/>
          <a:stretch>
            <a:fillRect/>
          </a:stretch>
        </p:blipFill>
        <p:spPr>
          <a:xfrm>
            <a:off x="874712" y="1256506"/>
            <a:ext cx="5672431" cy="4344987"/>
          </a:xfrm>
          <a:prstGeom prst="rect">
            <a:avLst/>
          </a:prstGeom>
          <a:ln>
            <a:noFill/>
          </a:ln>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6EAFCD2-1A5A-6B82-C8AE-7F3ACF71877B}"/>
                  </a:ext>
                </a:extLst>
              </p:cNvPr>
              <p:cNvSpPr txBox="1"/>
              <p:nvPr/>
            </p:nvSpPr>
            <p:spPr>
              <a:xfrm>
                <a:off x="6215449" y="1256506"/>
                <a:ext cx="5449330" cy="1102994"/>
              </a:xfrm>
              <a:prstGeom prst="rect">
                <a:avLst/>
              </a:prstGeom>
              <a:noFill/>
            </p:spPr>
            <p:txBody>
              <a:bodyPr wrap="square" rtlCol="0">
                <a:spAutoFit/>
              </a:bodyPr>
              <a:lstStyle/>
              <a:p>
                <a:r>
                  <a:rPr lang="en-US" b="1" dirty="0"/>
                  <a:t>1. KEN box Blockade,</a:t>
                </a:r>
                <a:r>
                  <a:rPr lang="en-US" dirty="0"/>
                  <a:t> </a:t>
                </a:r>
                <a:r>
                  <a:rPr lang="en-US" b="1" dirty="0"/>
                  <a:t>: </a:t>
                </a:r>
                <a14:m>
                  <m:oMath xmlns:m="http://schemas.openxmlformats.org/officeDocument/2006/math">
                    <m:sSup>
                      <m:sSupPr>
                        <m:ctrlPr>
                          <a:rPr lang="en-US" b="1" i="1">
                            <a:latin typeface="Cambria Math" panose="02040503050406030204" pitchFamily="18" charset="0"/>
                          </a:rPr>
                        </m:ctrlPr>
                      </m:sSupPr>
                      <m:e>
                        <m:r>
                          <m:rPr>
                            <m:nor/>
                          </m:rPr>
                          <a:rPr lang="en-US" b="1" dirty="0"/>
                          <m:t>(</m:t>
                        </m:r>
                        <m:r>
                          <m:rPr>
                            <m:nor/>
                          </m:rPr>
                          <a:rPr lang="en-US" b="1" i="1" dirty="0" smtClean="0"/>
                          <m:t>CD</m:t>
                        </m:r>
                        <m:r>
                          <a:rPr lang="en-US" b="1" i="1" dirty="0" smtClean="0">
                            <a:latin typeface="Cambria Math" panose="02040503050406030204" pitchFamily="18" charset="0"/>
                          </a:rPr>
                          <m:t>𝑯</m:t>
                        </m:r>
                        <m:r>
                          <a:rPr lang="en-US" b="1" i="1" dirty="0" smtClean="0">
                            <a:latin typeface="Cambria Math" panose="02040503050406030204" pitchFamily="18" charset="0"/>
                          </a:rPr>
                          <m:t>𝟏</m:t>
                        </m:r>
                      </m:e>
                      <m:sup>
                        <m:r>
                          <a:rPr lang="en-US" b="1" i="1" dirty="0" smtClean="0">
                            <a:latin typeface="Cambria Math" panose="02040503050406030204" pitchFamily="18" charset="0"/>
                          </a:rPr>
                          <m:t>𝑲𝑬𝑵</m:t>
                        </m:r>
                      </m:sup>
                    </m:sSup>
                    <m:r>
                      <a:rPr lang="en-US" b="1" i="1" dirty="0">
                        <a:latin typeface="Cambria Math" panose="02040503050406030204" pitchFamily="18" charset="0"/>
                      </a:rPr>
                      <m:t>),</m:t>
                    </m:r>
                  </m:oMath>
                </a14:m>
                <a:r>
                  <a:rPr lang="en-US" b="1" dirty="0"/>
                  <a:t> </a:t>
                </a:r>
              </a:p>
              <a:p>
                <a:r>
                  <a:rPr lang="en-US" b="1" dirty="0"/>
                  <a:t>2. D box Blockade,(co-receptor site on the APC/C),</a:t>
                </a:r>
              </a:p>
              <a:p>
                <a:r>
                  <a:rPr lang="en-US" b="1" dirty="0"/>
                  <a:t>3 Inhibiting Ubiquitin Initiation : </a:t>
                </a:r>
                <a14:m>
                  <m:oMath xmlns:m="http://schemas.openxmlformats.org/officeDocument/2006/math">
                    <m:sSup>
                      <m:sSupPr>
                        <m:ctrlPr>
                          <a:rPr lang="en-US" b="1" i="1">
                            <a:latin typeface="Cambria Math" panose="02040503050406030204" pitchFamily="18" charset="0"/>
                          </a:rPr>
                        </m:ctrlPr>
                      </m:sSupPr>
                      <m:e>
                        <m:r>
                          <m:rPr>
                            <m:nor/>
                          </m:rPr>
                          <a:rPr lang="en-US" b="1" dirty="0"/>
                          <m:t>(</m:t>
                        </m:r>
                        <m:r>
                          <m:rPr>
                            <m:nor/>
                          </m:rPr>
                          <a:rPr lang="en-US" b="1" i="1" dirty="0" smtClean="0"/>
                          <m:t>EMI</m:t>
                        </m:r>
                        <m:r>
                          <m:rPr>
                            <m:nor/>
                          </m:rPr>
                          <a:rPr lang="en-US" b="1" i="1" dirty="0" smtClean="0"/>
                          <m:t>1</m:t>
                        </m:r>
                      </m:e>
                      <m:sup>
                        <m:r>
                          <a:rPr lang="en-US" b="1" i="1" dirty="0" smtClean="0">
                            <a:latin typeface="Cambria Math" panose="02040503050406030204" pitchFamily="18" charset="0"/>
                          </a:rPr>
                          <m:t>𝒁𝑩𝑹</m:t>
                        </m:r>
                      </m:sup>
                    </m:sSup>
                    <m:r>
                      <a:rPr lang="en-US" b="1" i="1" dirty="0" smtClean="0">
                        <a:latin typeface="Cambria Math" panose="02040503050406030204" pitchFamily="18" charset="0"/>
                      </a:rPr>
                      <m:t>),</m:t>
                    </m:r>
                  </m:oMath>
                </a14:m>
                <a:r>
                  <a:rPr lang="en-US" b="1" dirty="0"/>
                  <a:t> </a:t>
                </a:r>
              </a:p>
              <a:p>
                <a:r>
                  <a:rPr lang="en-US" b="1" dirty="0"/>
                  <a:t>4. Blocking Chain Elongation : (</a:t>
                </a:r>
                <a14:m>
                  <m:oMath xmlns:m="http://schemas.openxmlformats.org/officeDocument/2006/math">
                    <m:sSup>
                      <m:sSupPr>
                        <m:ctrlPr>
                          <a:rPr lang="en-US" b="1" i="1">
                            <a:latin typeface="Cambria Math" panose="02040503050406030204" pitchFamily="18" charset="0"/>
                          </a:rPr>
                        </m:ctrlPr>
                      </m:sSupPr>
                      <m:e>
                        <m:r>
                          <m:rPr>
                            <m:nor/>
                          </m:rPr>
                          <a:rPr lang="en-US" b="1" dirty="0"/>
                          <m:t>(</m:t>
                        </m:r>
                        <m:r>
                          <m:rPr>
                            <m:nor/>
                          </m:rPr>
                          <a:rPr lang="en-US" b="1" i="1" dirty="0" smtClean="0"/>
                          <m:t>EMI</m:t>
                        </m:r>
                        <m:r>
                          <m:rPr>
                            <m:nor/>
                          </m:rPr>
                          <a:rPr lang="en-US" b="1" i="1" dirty="0" smtClean="0"/>
                          <m:t>1</m:t>
                        </m:r>
                      </m:e>
                      <m:sup>
                        <m:r>
                          <a:rPr lang="en-US" b="1" i="1" dirty="0" smtClean="0">
                            <a:latin typeface="Cambria Math" panose="02040503050406030204" pitchFamily="18" charset="0"/>
                          </a:rPr>
                          <m:t>𝑳𝑹𝑹𝑳</m:t>
                        </m:r>
                      </m:sup>
                    </m:sSup>
                  </m:oMath>
                </a14:m>
                <a:r>
                  <a:rPr lang="en-US" b="1" dirty="0"/>
                  <a:t> )</a:t>
                </a:r>
              </a:p>
            </p:txBody>
          </p:sp>
        </mc:Choice>
        <mc:Fallback>
          <p:sp>
            <p:nvSpPr>
              <p:cNvPr id="10" name="TextBox 9">
                <a:extLst>
                  <a:ext uri="{FF2B5EF4-FFF2-40B4-BE49-F238E27FC236}">
                    <a16:creationId xmlns:a16="http://schemas.microsoft.com/office/drawing/2014/main" id="{26EAFCD2-1A5A-6B82-C8AE-7F3ACF71877B}"/>
                  </a:ext>
                </a:extLst>
              </p:cNvPr>
              <p:cNvSpPr txBox="1">
                <a:spLocks noRot="1" noChangeAspect="1" noMove="1" noResize="1" noEditPoints="1" noAdjustHandles="1" noChangeArrowheads="1" noChangeShapeType="1" noTextEdit="1"/>
              </p:cNvSpPr>
              <p:nvPr/>
            </p:nvSpPr>
            <p:spPr>
              <a:xfrm>
                <a:off x="6215449" y="1256506"/>
                <a:ext cx="5449330" cy="1102994"/>
              </a:xfrm>
              <a:prstGeom prst="rect">
                <a:avLst/>
              </a:prstGeom>
              <a:blipFill>
                <a:blip r:embed="rId4"/>
                <a:stretch>
                  <a:fillRect l="-671" t="-1105" b="-7182"/>
                </a:stretch>
              </a:blipFill>
            </p:spPr>
            <p:txBody>
              <a:bodyPr/>
              <a:lstStyle/>
              <a:p>
                <a:r>
                  <a:rPr lang="en-US">
                    <a:noFill/>
                  </a:rPr>
                  <a:t> </a:t>
                </a:r>
              </a:p>
            </p:txBody>
          </p:sp>
        </mc:Fallback>
      </mc:AlternateContent>
    </p:spTree>
    <p:extLst>
      <p:ext uri="{BB962C8B-B14F-4D97-AF65-F5344CB8AC3E}">
        <p14:creationId xmlns:p14="http://schemas.microsoft.com/office/powerpoint/2010/main" val="3044902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99006-7E9F-CB72-D568-BFE70EA4DC68}"/>
              </a:ext>
            </a:extLst>
          </p:cNvPr>
          <p:cNvSpPr>
            <a:spLocks noGrp="1"/>
          </p:cNvSpPr>
          <p:nvPr>
            <p:ph type="title"/>
          </p:nvPr>
        </p:nvSpPr>
        <p:spPr/>
        <p:txBody>
          <a:bodyPr/>
          <a:lstStyle/>
          <a:p>
            <a:r>
              <a:rPr lang="en-US" dirty="0"/>
              <a:t>Discovery of a Conformational "Switch“: </a:t>
            </a:r>
          </a:p>
        </p:txBody>
      </p:sp>
      <p:pic>
        <p:nvPicPr>
          <p:cNvPr id="5" name="Content Placeholder 4">
            <a:extLst>
              <a:ext uri="{FF2B5EF4-FFF2-40B4-BE49-F238E27FC236}">
                <a16:creationId xmlns:a16="http://schemas.microsoft.com/office/drawing/2014/main" id="{DAE588A8-974B-83AE-5248-8DC68DE740E9}"/>
              </a:ext>
            </a:extLst>
          </p:cNvPr>
          <p:cNvPicPr>
            <a:picLocks noGrp="1" noChangeAspect="1"/>
          </p:cNvPicPr>
          <p:nvPr>
            <p:ph sz="quarter" idx="10"/>
          </p:nvPr>
        </p:nvPicPr>
        <p:blipFill>
          <a:blip r:embed="rId2"/>
          <a:stretch>
            <a:fillRect/>
          </a:stretch>
        </p:blipFill>
        <p:spPr>
          <a:xfrm>
            <a:off x="736601" y="1030288"/>
            <a:ext cx="4280242" cy="4501443"/>
          </a:xfrm>
          <a:prstGeom prst="rect">
            <a:avLst/>
          </a:prstGeom>
          <a:ln>
            <a:noFill/>
          </a:ln>
        </p:spPr>
      </p:pic>
      <p:sp>
        <p:nvSpPr>
          <p:cNvPr id="7" name="TextBox 6">
            <a:extLst>
              <a:ext uri="{FF2B5EF4-FFF2-40B4-BE49-F238E27FC236}">
                <a16:creationId xmlns:a16="http://schemas.microsoft.com/office/drawing/2014/main" id="{BDA3F655-9065-5568-71A0-541F47DF3757}"/>
              </a:ext>
            </a:extLst>
          </p:cNvPr>
          <p:cNvSpPr txBox="1"/>
          <p:nvPr/>
        </p:nvSpPr>
        <p:spPr>
          <a:xfrm>
            <a:off x="5016843" y="1030288"/>
            <a:ext cx="6438556" cy="2554545"/>
          </a:xfrm>
          <a:prstGeom prst="rect">
            <a:avLst/>
          </a:prstGeom>
          <a:noFill/>
        </p:spPr>
        <p:txBody>
          <a:bodyPr wrap="square" rtlCol="0">
            <a:spAutoFit/>
          </a:bodyPr>
          <a:lstStyle/>
          <a:p>
            <a:r>
              <a:rPr lang="en-US" sz="2000" dirty="0"/>
              <a:t>.1.This apo state physically blocks the </a:t>
            </a:r>
            <a:r>
              <a:rPr lang="en-US" sz="2000" b="1" dirty="0"/>
              <a:t>E2 enzyme (UBCH10) </a:t>
            </a:r>
            <a:r>
              <a:rPr lang="en-US" sz="2000" dirty="0"/>
              <a:t>from binding to its site, effectively keeping the complex inactive.</a:t>
            </a:r>
          </a:p>
          <a:p>
            <a:endParaRPr lang="en-US" sz="2000" dirty="0"/>
          </a:p>
          <a:p>
            <a:endParaRPr lang="en-US" sz="2000" dirty="0"/>
          </a:p>
          <a:p>
            <a:r>
              <a:rPr lang="en-US" sz="2000" dirty="0"/>
              <a:t>    2. </a:t>
            </a:r>
            <a:r>
              <a:rPr lang="en-US" sz="2000" b="1" dirty="0"/>
              <a:t>CDH1 binding triggers </a:t>
            </a:r>
            <a:r>
              <a:rPr lang="en-US" sz="2000" dirty="0"/>
              <a:t>the module to move into an "open" position, enabling catalytic activity.</a:t>
            </a:r>
          </a:p>
          <a:p>
            <a:endParaRPr lang="en-US" sz="2000" dirty="0"/>
          </a:p>
        </p:txBody>
      </p:sp>
    </p:spTree>
    <p:extLst>
      <p:ext uri="{BB962C8B-B14F-4D97-AF65-F5344CB8AC3E}">
        <p14:creationId xmlns:p14="http://schemas.microsoft.com/office/powerpoint/2010/main" val="2868432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C58F-1FA9-B9AD-E3FB-E8D7955A596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1E5F74D-51F9-5AF1-53DF-1F03A2F2C07B}"/>
              </a:ext>
            </a:extLst>
          </p:cNvPr>
          <p:cNvSpPr>
            <a:spLocks noGrp="1"/>
          </p:cNvSpPr>
          <p:nvPr>
            <p:ph type="title"/>
          </p:nvPr>
        </p:nvSpPr>
        <p:spPr/>
        <p:txBody>
          <a:bodyPr/>
          <a:lstStyle/>
          <a:p>
            <a:r>
              <a:rPr lang="en-US" dirty="0"/>
              <a:t>Cloning, Expression, and Purification  and Cryo-EM Data Collection</a:t>
            </a:r>
          </a:p>
        </p:txBody>
      </p:sp>
      <p:sp>
        <p:nvSpPr>
          <p:cNvPr id="3" name="TextBox 2">
            <a:extLst>
              <a:ext uri="{FF2B5EF4-FFF2-40B4-BE49-F238E27FC236}">
                <a16:creationId xmlns:a16="http://schemas.microsoft.com/office/drawing/2014/main" id="{6ABE3031-6A82-9B99-6C56-AB35A48568FA}"/>
              </a:ext>
            </a:extLst>
          </p:cNvPr>
          <p:cNvSpPr txBox="1"/>
          <p:nvPr/>
        </p:nvSpPr>
        <p:spPr>
          <a:xfrm>
            <a:off x="737419" y="875071"/>
            <a:ext cx="10717980" cy="1837426"/>
          </a:xfrm>
          <a:prstGeom prst="rect">
            <a:avLst/>
          </a:prstGeom>
          <a:noFill/>
        </p:spPr>
        <p:txBody>
          <a:bodyPr wrap="square" rtlCol="0">
            <a:spAutoFit/>
          </a:bodyPr>
          <a:lstStyle/>
          <a:p>
            <a:pPr marL="342900" indent="-342900">
              <a:buFontTx/>
              <a:buAutoNum type="arabicPeriod"/>
            </a:pPr>
            <a:r>
              <a:rPr lang="en-US" dirty="0"/>
              <a:t>Cloning, Expression, and Purification recombinant human </a:t>
            </a:r>
            <a:r>
              <a:rPr lang="en-US" b="1" dirty="0"/>
              <a:t>APC/C</a:t>
            </a:r>
            <a:r>
              <a:rPr lang="en-US" dirty="0"/>
              <a:t>, </a:t>
            </a:r>
            <a:r>
              <a:rPr lang="en-US" b="1" dirty="0"/>
              <a:t>EMI1</a:t>
            </a:r>
            <a:r>
              <a:rPr lang="en-US" dirty="0"/>
              <a:t>, </a:t>
            </a:r>
            <a:r>
              <a:rPr lang="en-US" b="1" dirty="0"/>
              <a:t>CDH1</a:t>
            </a:r>
            <a:r>
              <a:rPr lang="en-US" dirty="0"/>
              <a:t>, and </a:t>
            </a:r>
            <a:r>
              <a:rPr lang="en-US" b="1" dirty="0"/>
              <a:t>CDC20</a:t>
            </a:r>
            <a:r>
              <a:rPr lang="en-US" dirty="0"/>
              <a:t> mutants using a modified </a:t>
            </a:r>
            <a:r>
              <a:rPr lang="en-US" b="1" dirty="0" err="1"/>
              <a:t>MultiBac</a:t>
            </a:r>
            <a:r>
              <a:rPr lang="en-US" b="1" dirty="0"/>
              <a:t> system</a:t>
            </a:r>
            <a:endParaRPr lang="en-US" dirty="0"/>
          </a:p>
          <a:p>
            <a:pPr marL="342900" indent="-342900">
              <a:buAutoNum type="arabicPeriod"/>
            </a:pPr>
            <a:r>
              <a:rPr lang="en-US" dirty="0"/>
              <a:t>The purified ternary </a:t>
            </a:r>
            <a:r>
              <a:rPr lang="en-US" i="1" dirty="0"/>
              <a:t>APC</a:t>
            </a:r>
            <a:r>
              <a:rPr lang="en-US" dirty="0"/>
              <a:t>/</a:t>
            </a:r>
            <a:r>
              <a:rPr lang="en-US" i="1" dirty="0"/>
              <a:t>CCDH</a:t>
            </a:r>
            <a:r>
              <a:rPr lang="en-US" dirty="0"/>
              <a:t>1:</a:t>
            </a:r>
            <a:r>
              <a:rPr lang="en-US" i="1" dirty="0"/>
              <a:t>EMI</a:t>
            </a:r>
            <a:r>
              <a:rPr lang="en-US" dirty="0"/>
              <a:t>1 complex was applied to </a:t>
            </a:r>
            <a:r>
              <a:rPr lang="en-US" b="1" dirty="0" err="1"/>
              <a:t>Quantifoil</a:t>
            </a:r>
            <a:r>
              <a:rPr lang="en-US" b="1" dirty="0"/>
              <a:t> R2/2 grids</a:t>
            </a:r>
            <a:r>
              <a:rPr lang="en-US" dirty="0"/>
              <a:t> coated with a thin layer of carbon.</a:t>
            </a:r>
          </a:p>
          <a:p>
            <a:pPr marL="342900" indent="-342900">
              <a:buAutoNum type="arabicPeriod"/>
            </a:pPr>
            <a:r>
              <a:rPr lang="en-US" dirty="0"/>
              <a:t>The grids were vitrified by plunging them into liquid ethane using an </a:t>
            </a:r>
            <a:r>
              <a:rPr lang="en-US" b="1" dirty="0"/>
              <a:t>FEI </a:t>
            </a:r>
            <a:r>
              <a:rPr lang="en-US" b="1" dirty="0" err="1"/>
              <a:t>Vitrobot</a:t>
            </a:r>
            <a:r>
              <a:rPr lang="en-US" b="1" dirty="0"/>
              <a:t>.</a:t>
            </a:r>
          </a:p>
          <a:p>
            <a:pPr marL="342900" indent="-342900">
              <a:buAutoNum type="arabicPeriod"/>
            </a:pPr>
            <a:r>
              <a:rPr lang="en-US" dirty="0"/>
              <a:t>High-resolution data were collected on a </a:t>
            </a:r>
            <a:r>
              <a:rPr lang="en-US" b="1" dirty="0"/>
              <a:t>Titan </a:t>
            </a:r>
            <a:r>
              <a:rPr lang="en-US" b="1" dirty="0" err="1"/>
              <a:t>Krios</a:t>
            </a:r>
            <a:r>
              <a:rPr lang="en-US" b="1" dirty="0"/>
              <a:t> microscope</a:t>
            </a:r>
            <a:r>
              <a:rPr lang="en-US" dirty="0"/>
              <a:t> equipped with </a:t>
            </a:r>
            <a:r>
              <a:rPr lang="en-US" b="1" dirty="0"/>
              <a:t>Falcon 3 direct electron detectors. </a:t>
            </a:r>
            <a:r>
              <a:rPr lang="en-US" dirty="0"/>
              <a:t>Capture over </a:t>
            </a:r>
            <a:r>
              <a:rPr lang="en-US" b="1" dirty="0"/>
              <a:t>8,000 micrographs</a:t>
            </a:r>
          </a:p>
        </p:txBody>
      </p:sp>
      <p:pic>
        <p:nvPicPr>
          <p:cNvPr id="5" name="Picture 4">
            <a:extLst>
              <a:ext uri="{FF2B5EF4-FFF2-40B4-BE49-F238E27FC236}">
                <a16:creationId xmlns:a16="http://schemas.microsoft.com/office/drawing/2014/main" id="{C62B0650-2784-716B-DD9D-9ECE31A59C02}"/>
              </a:ext>
            </a:extLst>
          </p:cNvPr>
          <p:cNvPicPr>
            <a:picLocks noChangeAspect="1"/>
          </p:cNvPicPr>
          <p:nvPr/>
        </p:nvPicPr>
        <p:blipFill>
          <a:blip r:embed="rId3"/>
          <a:stretch>
            <a:fillRect/>
          </a:stretch>
        </p:blipFill>
        <p:spPr>
          <a:xfrm>
            <a:off x="6613103" y="3720145"/>
            <a:ext cx="3074594" cy="2600594"/>
          </a:xfrm>
          <a:prstGeom prst="rect">
            <a:avLst/>
          </a:prstGeom>
        </p:spPr>
      </p:pic>
      <p:pic>
        <p:nvPicPr>
          <p:cNvPr id="7" name="Picture 6">
            <a:extLst>
              <a:ext uri="{FF2B5EF4-FFF2-40B4-BE49-F238E27FC236}">
                <a16:creationId xmlns:a16="http://schemas.microsoft.com/office/drawing/2014/main" id="{7EF82950-BE3D-7FF6-E36A-221A346015D8}"/>
              </a:ext>
            </a:extLst>
          </p:cNvPr>
          <p:cNvPicPr>
            <a:picLocks noChangeAspect="1"/>
          </p:cNvPicPr>
          <p:nvPr/>
        </p:nvPicPr>
        <p:blipFill>
          <a:blip r:embed="rId4"/>
          <a:stretch>
            <a:fillRect/>
          </a:stretch>
        </p:blipFill>
        <p:spPr>
          <a:xfrm>
            <a:off x="3762566" y="2859335"/>
            <a:ext cx="2333434" cy="3461404"/>
          </a:xfrm>
          <a:prstGeom prst="rect">
            <a:avLst/>
          </a:prstGeom>
        </p:spPr>
      </p:pic>
    </p:spTree>
    <p:extLst>
      <p:ext uri="{BB962C8B-B14F-4D97-AF65-F5344CB8AC3E}">
        <p14:creationId xmlns:p14="http://schemas.microsoft.com/office/powerpoint/2010/main" val="2943732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E0B7C-0D6D-315A-D2AC-BC24D79557D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2743A25-A13F-F702-B49C-B670E399A343}"/>
              </a:ext>
            </a:extLst>
          </p:cNvPr>
          <p:cNvSpPr>
            <a:spLocks noGrp="1"/>
          </p:cNvSpPr>
          <p:nvPr>
            <p:ph type="title"/>
          </p:nvPr>
        </p:nvSpPr>
        <p:spPr/>
        <p:txBody>
          <a:bodyPr/>
          <a:lstStyle/>
          <a:p>
            <a:r>
              <a:rPr lang="en-US" dirty="0"/>
              <a:t>Image Processing and 3D Reconstruction</a:t>
            </a:r>
          </a:p>
        </p:txBody>
      </p:sp>
      <p:sp>
        <p:nvSpPr>
          <p:cNvPr id="3" name="TextBox 2">
            <a:extLst>
              <a:ext uri="{FF2B5EF4-FFF2-40B4-BE49-F238E27FC236}">
                <a16:creationId xmlns:a16="http://schemas.microsoft.com/office/drawing/2014/main" id="{AB4A4B39-9691-6D74-6516-54ECFFAC0D7F}"/>
              </a:ext>
            </a:extLst>
          </p:cNvPr>
          <p:cNvSpPr txBox="1"/>
          <p:nvPr/>
        </p:nvSpPr>
        <p:spPr>
          <a:xfrm>
            <a:off x="737419" y="875071"/>
            <a:ext cx="10717980" cy="2336024"/>
          </a:xfrm>
          <a:prstGeom prst="rect">
            <a:avLst/>
          </a:prstGeom>
          <a:noFill/>
        </p:spPr>
        <p:txBody>
          <a:bodyPr wrap="square" rtlCol="0">
            <a:spAutoFit/>
          </a:bodyPr>
          <a:lstStyle/>
          <a:p>
            <a:pPr marL="342900" indent="-342900">
              <a:buAutoNum type="arabicPeriod"/>
            </a:pPr>
            <a:r>
              <a:rPr lang="en-US" dirty="0"/>
              <a:t>The data were processed using </a:t>
            </a:r>
            <a:r>
              <a:rPr lang="en-US" b="1" dirty="0" err="1"/>
              <a:t>cryoSPARC</a:t>
            </a:r>
            <a:r>
              <a:rPr lang="en-US" b="1" dirty="0"/>
              <a:t> and RELION </a:t>
            </a:r>
            <a:r>
              <a:rPr lang="en-US" dirty="0"/>
              <a:t>software. The workflow included:</a:t>
            </a:r>
          </a:p>
          <a:p>
            <a:pPr marL="754380" lvl="1" indent="-342900">
              <a:buAutoNum type="alphaLcPeriod"/>
            </a:pPr>
            <a:r>
              <a:rPr lang="en-US" b="1" dirty="0"/>
              <a:t>Pre-processing:</a:t>
            </a:r>
            <a:r>
              <a:rPr lang="en-US" dirty="0"/>
              <a:t> Motion correction via </a:t>
            </a:r>
            <a:r>
              <a:rPr lang="en-US" b="1" dirty="0"/>
              <a:t>MotionCor2 and CTF </a:t>
            </a:r>
            <a:r>
              <a:rPr lang="en-US" dirty="0"/>
              <a:t>estimation</a:t>
            </a:r>
          </a:p>
          <a:p>
            <a:pPr marL="754380" lvl="1" indent="-342900">
              <a:buAutoNum type="alphaLcPeriod"/>
            </a:pPr>
            <a:r>
              <a:rPr lang="en-US" b="1" dirty="0"/>
              <a:t>Particle Picking:</a:t>
            </a:r>
            <a:r>
              <a:rPr lang="en-US" dirty="0"/>
              <a:t> Automated picking was performed using the </a:t>
            </a:r>
            <a:r>
              <a:rPr lang="en-US" b="1" dirty="0"/>
              <a:t>Topaz</a:t>
            </a:r>
            <a:r>
              <a:rPr lang="en-US" dirty="0"/>
              <a:t> neural network</a:t>
            </a:r>
          </a:p>
          <a:p>
            <a:pPr marL="754380" lvl="1" indent="-342900">
              <a:buAutoNum type="alphaLcPeriod"/>
            </a:pPr>
            <a:r>
              <a:rPr lang="en-US" b="1" dirty="0"/>
              <a:t>Refinement:</a:t>
            </a:r>
            <a:r>
              <a:rPr lang="en-US" dirty="0"/>
              <a:t> 2D and 3D classifications were used to sort particles.</a:t>
            </a:r>
          </a:p>
          <a:p>
            <a:pPr marL="754380" lvl="1" indent="-342900">
              <a:buAutoNum type="alphaLcPeriod"/>
            </a:pPr>
            <a:r>
              <a:rPr lang="en-US" dirty="0"/>
              <a:t>Techniques such as </a:t>
            </a:r>
            <a:r>
              <a:rPr lang="en-US" b="1" dirty="0"/>
              <a:t>particle subtraction</a:t>
            </a:r>
            <a:r>
              <a:rPr lang="en-US" dirty="0"/>
              <a:t> and </a:t>
            </a:r>
            <a:r>
              <a:rPr lang="en-US" b="1" dirty="0"/>
              <a:t>focused refinement</a:t>
            </a:r>
            <a:r>
              <a:rPr lang="en-US" dirty="0"/>
              <a:t> were applied to specific flexible regions, like the catalytic module, </a:t>
            </a:r>
          </a:p>
          <a:p>
            <a:pPr lvl="1"/>
            <a:r>
              <a:rPr lang="en-US" dirty="0"/>
              <a:t>Achieving  final resolutions of </a:t>
            </a:r>
            <a:r>
              <a:rPr lang="en-US" b="1" dirty="0"/>
              <a:t>2.9 Å for the ternary complex</a:t>
            </a:r>
            <a:r>
              <a:rPr lang="en-US" dirty="0"/>
              <a:t> and </a:t>
            </a:r>
            <a:r>
              <a:rPr lang="en-US" b="1" dirty="0"/>
              <a:t>3.2 Å for the apo-APC/C</a:t>
            </a:r>
            <a:endParaRPr lang="en-US" dirty="0"/>
          </a:p>
          <a:p>
            <a:pPr marL="754380" lvl="1" indent="-342900">
              <a:buAutoNum type="alphaLcPeriod"/>
            </a:pPr>
            <a:endParaRPr lang="en-US" dirty="0"/>
          </a:p>
          <a:p>
            <a:endParaRPr lang="en-US" dirty="0"/>
          </a:p>
        </p:txBody>
      </p:sp>
    </p:spTree>
    <p:extLst>
      <p:ext uri="{BB962C8B-B14F-4D97-AF65-F5344CB8AC3E}">
        <p14:creationId xmlns:p14="http://schemas.microsoft.com/office/powerpoint/2010/main" val="1300892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EC245-E2A6-ACBC-1050-B46F9BE9A627}"/>
              </a:ext>
            </a:extLst>
          </p:cNvPr>
          <p:cNvSpPr>
            <a:spLocks noGrp="1"/>
          </p:cNvSpPr>
          <p:nvPr>
            <p:ph type="title"/>
          </p:nvPr>
        </p:nvSpPr>
        <p:spPr/>
        <p:txBody>
          <a:bodyPr/>
          <a:lstStyle/>
          <a:p>
            <a:r>
              <a:rPr lang="en-US" dirty="0"/>
              <a:t>Initial Fitting of Existing Models</a:t>
            </a:r>
            <a:br>
              <a:rPr lang="en-US" dirty="0"/>
            </a:br>
            <a:endParaRPr lang="en-US" dirty="0"/>
          </a:p>
        </p:txBody>
      </p:sp>
      <p:sp>
        <p:nvSpPr>
          <p:cNvPr id="3" name="Content Placeholder 2">
            <a:extLst>
              <a:ext uri="{FF2B5EF4-FFF2-40B4-BE49-F238E27FC236}">
                <a16:creationId xmlns:a16="http://schemas.microsoft.com/office/drawing/2014/main" id="{C3B07C67-A1E7-22A7-7736-B75E8131763A}"/>
              </a:ext>
            </a:extLst>
          </p:cNvPr>
          <p:cNvSpPr>
            <a:spLocks noGrp="1"/>
          </p:cNvSpPr>
          <p:nvPr>
            <p:ph sz="quarter" idx="10"/>
          </p:nvPr>
        </p:nvSpPr>
        <p:spPr/>
        <p:txBody>
          <a:bodyPr/>
          <a:lstStyle/>
          <a:p>
            <a:pPr lvl="1"/>
            <a:r>
              <a:rPr lang="en-US" sz="1600" dirty="0"/>
              <a:t>The process began by taking previously determined structures of the APC/C and using them as a starting template: </a:t>
            </a:r>
          </a:p>
          <a:p>
            <a:pPr marL="754380" lvl="1" indent="-342900">
              <a:buAutoNum type="alphaLcPeriod"/>
            </a:pPr>
            <a:r>
              <a:rPr lang="en-US" sz="1600" b="1" dirty="0"/>
              <a:t>Ternary Complex</a:t>
            </a:r>
            <a:r>
              <a:rPr lang="en-US" sz="1600" dirty="0"/>
              <a:t>: compared with  (PDB: 4UI9) and fitted it into the new cryo-EM maps using Chimera.</a:t>
            </a:r>
          </a:p>
          <a:p>
            <a:pPr marL="754380" lvl="1" indent="-342900">
              <a:buAutoNum type="alphaLcPeriod"/>
            </a:pPr>
            <a:r>
              <a:rPr lang="en-US" sz="1600" b="1" dirty="0"/>
              <a:t>Apo-APC/C</a:t>
            </a:r>
            <a:r>
              <a:rPr lang="en-US" sz="1600" dirty="0"/>
              <a:t>:  used PDB: 8PKP as the starting point</a:t>
            </a:r>
          </a:p>
          <a:p>
            <a:pPr lvl="1"/>
            <a:endParaRPr lang="en-US" sz="1600" dirty="0"/>
          </a:p>
          <a:p>
            <a:pPr lvl="1"/>
            <a:r>
              <a:rPr lang="en-US" sz="1600" dirty="0"/>
              <a:t>2. </a:t>
            </a:r>
            <a:r>
              <a:rPr lang="en-US" sz="1600" b="1" dirty="0"/>
              <a:t>Manual Rebuilding and Ab Initio Modeling</a:t>
            </a:r>
          </a:p>
          <a:p>
            <a:pPr lvl="1"/>
            <a:r>
              <a:rPr lang="en-US" sz="1600" dirty="0"/>
              <a:t>Using the software COOT, the team manually rebuilt the protein subunits atom-by-atom to match the new, higher-resolution density.</a:t>
            </a:r>
          </a:p>
          <a:p>
            <a:pPr lvl="1"/>
            <a:endParaRPr lang="en-US" sz="1600" dirty="0"/>
          </a:p>
          <a:p>
            <a:pPr lvl="1"/>
            <a:r>
              <a:rPr lang="en-US" sz="1600" dirty="0"/>
              <a:t>• </a:t>
            </a:r>
            <a:r>
              <a:rPr lang="en-US" sz="1600" b="1" dirty="0"/>
              <a:t>Refinement based on Density</a:t>
            </a:r>
            <a:r>
              <a:rPr lang="en-US" sz="1600" dirty="0"/>
              <a:t>: Regions that were poorly defined in older models were adjusted to fit the current map's superior detail.</a:t>
            </a:r>
          </a:p>
          <a:p>
            <a:pPr lvl="1"/>
            <a:endParaRPr lang="en-US" sz="1600" dirty="0"/>
          </a:p>
          <a:p>
            <a:pPr lvl="1"/>
            <a:r>
              <a:rPr lang="en-US" sz="1600" dirty="0"/>
              <a:t>• </a:t>
            </a:r>
            <a:r>
              <a:rPr lang="en-US" sz="1600" b="1" dirty="0"/>
              <a:t>Ab Initio Building: </a:t>
            </a:r>
            <a:r>
              <a:rPr lang="en-US" sz="1600" dirty="0"/>
              <a:t>For previously unassigned or "invisible" regions of the complex, the researchers built new atomic chains from scratch (ab initio) directly into the density</a:t>
            </a:r>
          </a:p>
          <a:p>
            <a:endParaRPr lang="en-US" dirty="0"/>
          </a:p>
        </p:txBody>
      </p:sp>
    </p:spTree>
    <p:extLst>
      <p:ext uri="{BB962C8B-B14F-4D97-AF65-F5344CB8AC3E}">
        <p14:creationId xmlns:p14="http://schemas.microsoft.com/office/powerpoint/2010/main" val="114304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1B366-212B-4766-2A09-166AD9C411D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F6DCE26-B761-8B9C-ED43-DB8FF462EF22}"/>
              </a:ext>
            </a:extLst>
          </p:cNvPr>
          <p:cNvSpPr>
            <a:spLocks noGrp="1"/>
          </p:cNvSpPr>
          <p:nvPr>
            <p:ph type="title"/>
          </p:nvPr>
        </p:nvSpPr>
        <p:spPr/>
        <p:txBody>
          <a:bodyPr/>
          <a:lstStyle/>
          <a:p>
            <a:pPr algn="ctr"/>
            <a:r>
              <a:rPr lang="en-US" dirty="0"/>
              <a:t>Model Building</a:t>
            </a:r>
          </a:p>
        </p:txBody>
      </p:sp>
      <p:sp>
        <p:nvSpPr>
          <p:cNvPr id="3" name="TextBox 2">
            <a:extLst>
              <a:ext uri="{FF2B5EF4-FFF2-40B4-BE49-F238E27FC236}">
                <a16:creationId xmlns:a16="http://schemas.microsoft.com/office/drawing/2014/main" id="{F710DA28-FC55-6C29-E4C2-D978451E791E}"/>
              </a:ext>
            </a:extLst>
          </p:cNvPr>
          <p:cNvSpPr txBox="1"/>
          <p:nvPr/>
        </p:nvSpPr>
        <p:spPr>
          <a:xfrm>
            <a:off x="737419" y="875071"/>
            <a:ext cx="10717980" cy="1831271"/>
          </a:xfrm>
          <a:prstGeom prst="rect">
            <a:avLst/>
          </a:prstGeom>
          <a:noFill/>
        </p:spPr>
        <p:txBody>
          <a:bodyPr wrap="square" rtlCol="0">
            <a:spAutoFit/>
          </a:bodyPr>
          <a:lstStyle/>
          <a:p>
            <a:pPr marL="754380" lvl="1" indent="-342900">
              <a:buAutoNum type="arabicPeriod"/>
            </a:pPr>
            <a:r>
              <a:rPr lang="en-US" sz="1600" dirty="0"/>
              <a:t>Initial atomic models were based on previous structures and fitted into the new maps using </a:t>
            </a:r>
            <a:r>
              <a:rPr lang="en-US" sz="1600" b="1" dirty="0"/>
              <a:t>Chimera and COOT</a:t>
            </a:r>
          </a:p>
          <a:p>
            <a:pPr marL="754380" lvl="1" indent="-342900">
              <a:buAutoNum type="arabicPeriod"/>
            </a:pPr>
            <a:r>
              <a:rPr lang="en-US" dirty="0"/>
              <a:t>For regions that were previously unassigned or disordered, the researchers integrated </a:t>
            </a:r>
            <a:r>
              <a:rPr lang="en-US" b="1" dirty="0"/>
              <a:t>AlphaFold2 and </a:t>
            </a:r>
            <a:r>
              <a:rPr lang="en-US" b="1" dirty="0" err="1"/>
              <a:t>RosettaFold</a:t>
            </a:r>
            <a:r>
              <a:rPr lang="en-US" dirty="0"/>
              <a:t> predictions</a:t>
            </a:r>
          </a:p>
          <a:p>
            <a:pPr marL="754380" lvl="1" indent="-342900">
              <a:buAutoNum type="arabicPeriod"/>
            </a:pPr>
            <a:r>
              <a:rPr lang="en-US" dirty="0"/>
              <a:t> AI-generated models were then manually refined into the cryo-EM density and validated using </a:t>
            </a:r>
            <a:r>
              <a:rPr lang="en-US" b="1" dirty="0"/>
              <a:t>PHENIX</a:t>
            </a:r>
            <a:r>
              <a:rPr lang="en-US" dirty="0"/>
              <a:t> and </a:t>
            </a:r>
            <a:r>
              <a:rPr lang="en-US" b="1" dirty="0" err="1"/>
              <a:t>MolProbity</a:t>
            </a:r>
            <a:r>
              <a:rPr lang="en-US" dirty="0"/>
              <a:t> to ensure accuracy</a:t>
            </a:r>
            <a:endParaRPr lang="en-US" sz="1600" b="1" dirty="0"/>
          </a:p>
          <a:p>
            <a:endParaRPr lang="en-US" dirty="0"/>
          </a:p>
        </p:txBody>
      </p:sp>
    </p:spTree>
    <p:extLst>
      <p:ext uri="{BB962C8B-B14F-4D97-AF65-F5344CB8AC3E}">
        <p14:creationId xmlns:p14="http://schemas.microsoft.com/office/powerpoint/2010/main" val="2046935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AF820-BF21-BE26-AD1A-69D932808760}"/>
              </a:ext>
            </a:extLst>
          </p:cNvPr>
          <p:cNvSpPr>
            <a:spLocks noGrp="1"/>
          </p:cNvSpPr>
          <p:nvPr>
            <p:ph type="title"/>
          </p:nvPr>
        </p:nvSpPr>
        <p:spPr/>
        <p:txBody>
          <a:bodyPr/>
          <a:lstStyle/>
          <a:p>
            <a:pPr algn="ctr"/>
            <a:r>
              <a:rPr lang="en-US" dirty="0"/>
              <a:t>AlphaFold Prediction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4E448B-F273-4675-EFB2-CBAE8D3A9C09}"/>
                  </a:ext>
                </a:extLst>
              </p:cNvPr>
              <p:cNvSpPr>
                <a:spLocks noGrp="1"/>
              </p:cNvSpPr>
              <p:nvPr>
                <p:ph sz="quarter" idx="10"/>
              </p:nvPr>
            </p:nvSpPr>
            <p:spPr/>
            <p:txBody>
              <a:bodyPr/>
              <a:lstStyle/>
              <a:p>
                <a:pPr marL="457200" indent="-457200">
                  <a:buAutoNum type="arabicPeriod"/>
                </a:pPr>
                <a14:m>
                  <m:oMath xmlns:m="http://schemas.openxmlformats.org/officeDocument/2006/math">
                    <m:sSup>
                      <m:sSupPr>
                        <m:ctrlPr>
                          <a:rPr lang="en-US" smtClean="0">
                            <a:latin typeface="Cambria Math" panose="02040503050406030204" pitchFamily="18" charset="0"/>
                          </a:rPr>
                        </m:ctrlPr>
                      </m:sSupPr>
                      <m:e>
                        <m:r>
                          <m:rPr>
                            <m:nor/>
                          </m:rPr>
                          <a:rPr lang="en-US" dirty="0"/>
                          <m:t>APC</m:t>
                        </m:r>
                        <m:r>
                          <m:rPr>
                            <m:nor/>
                          </m:rPr>
                          <a:rPr lang="en-US" dirty="0" smtClean="0"/>
                          <m:t>1</m:t>
                        </m:r>
                      </m:e>
                      <m:sup>
                        <m:r>
                          <m:rPr>
                            <m:nor/>
                          </m:rPr>
                          <a:rPr lang="en-US" dirty="0">
                            <a:latin typeface="Cambria Math" panose="02040503050406030204" pitchFamily="18" charset="0"/>
                          </a:rPr>
                          <m:t>AI</m:t>
                        </m:r>
                      </m:sup>
                    </m:sSup>
                    <m:r>
                      <a:rPr lang="en-US" b="1" i="0" dirty="0">
                        <a:latin typeface="Cambria Math" panose="02040503050406030204" pitchFamily="18" charset="0"/>
                      </a:rPr>
                      <m:t> </m:t>
                    </m:r>
                  </m:oMath>
                </a14:m>
                <a:r>
                  <a:rPr lang="en-US" dirty="0"/>
                  <a:t>: APC1 residue from 201 to 400</a:t>
                </a:r>
              </a:p>
              <a:p>
                <a:pPr marL="457200" indent="-457200">
                  <a:buAutoNum type="arabicPeriod"/>
                </a:pPr>
                <a:r>
                  <a:rPr lang="en-US" dirty="0"/>
                  <a:t>APC8: full length of APC8</a:t>
                </a:r>
              </a:p>
              <a:p>
                <a:pPr marL="457200" indent="-457200">
                  <a:buAutoNum type="arabicPeriod"/>
                </a:pPr>
                <a14:m>
                  <m:oMath xmlns:m="http://schemas.openxmlformats.org/officeDocument/2006/math">
                    <m:sSup>
                      <m:sSupPr>
                        <m:ctrlPr>
                          <a:rPr lang="en-US" i="1">
                            <a:latin typeface="Cambria Math" panose="02040503050406030204" pitchFamily="18" charset="0"/>
                          </a:rPr>
                        </m:ctrlPr>
                      </m:sSupPr>
                      <m:e>
                        <m:r>
                          <m:rPr>
                            <m:nor/>
                          </m:rPr>
                          <a:rPr lang="en-US" i="1" dirty="0"/>
                          <m:t>CD</m:t>
                        </m:r>
                        <m:r>
                          <a:rPr lang="en-US" i="1" dirty="0">
                            <a:latin typeface="Cambria Math" panose="02040503050406030204" pitchFamily="18" charset="0"/>
                          </a:rPr>
                          <m:t>𝑯</m:t>
                        </m:r>
                        <m:r>
                          <a:rPr lang="en-US" b="1" i="1" dirty="0" smtClean="0">
                            <a:latin typeface="Cambria Math" panose="02040503050406030204" pitchFamily="18" charset="0"/>
                          </a:rPr>
                          <m:t>𝟏</m:t>
                        </m:r>
                      </m:e>
                      <m:sup>
                        <m:r>
                          <a:rPr lang="en-US" b="1" i="1" dirty="0" smtClean="0">
                            <a:latin typeface="Cambria Math" panose="02040503050406030204" pitchFamily="18" charset="0"/>
                          </a:rPr>
                          <m:t>𝑾𝑫</m:t>
                        </m:r>
                        <m:r>
                          <a:rPr lang="en-US" b="1" i="1" dirty="0" smtClean="0">
                            <a:latin typeface="Cambria Math" panose="02040503050406030204" pitchFamily="18" charset="0"/>
                          </a:rPr>
                          <m:t>𝟒𝟎</m:t>
                        </m:r>
                      </m:sup>
                    </m:sSup>
                    <m:r>
                      <a:rPr lang="en-US" b="1" i="1" dirty="0" smtClean="0">
                        <a:latin typeface="Cambria Math" panose="02040503050406030204" pitchFamily="18" charset="0"/>
                      </a:rPr>
                      <m:t> </m:t>
                    </m:r>
                  </m:oMath>
                </a14:m>
                <a:r>
                  <a:rPr lang="en-US" dirty="0"/>
                  <a:t>and </a:t>
                </a:r>
                <a14:m>
                  <m:oMath xmlns:m="http://schemas.openxmlformats.org/officeDocument/2006/math">
                    <m:sSup>
                      <m:sSupPr>
                        <m:ctrlPr>
                          <a:rPr lang="en-US" i="1">
                            <a:latin typeface="Cambria Math" panose="02040503050406030204" pitchFamily="18" charset="0"/>
                          </a:rPr>
                        </m:ctrlPr>
                      </m:sSupPr>
                      <m:e>
                        <m:r>
                          <m:rPr>
                            <m:nor/>
                          </m:rPr>
                          <a:rPr lang="en-US" b="1" i="1" smtClean="0">
                            <a:latin typeface="Cambria Math" panose="02040503050406030204" pitchFamily="18" charset="0"/>
                          </a:rPr>
                          <m:t>EMI</m:t>
                        </m:r>
                        <m:r>
                          <m:rPr>
                            <m:nor/>
                          </m:rPr>
                          <a:rPr lang="en-US" b="1" i="1" smtClean="0">
                            <a:latin typeface="Cambria Math" panose="02040503050406030204" pitchFamily="18" charset="0"/>
                          </a:rPr>
                          <m:t>1</m:t>
                        </m:r>
                      </m:e>
                      <m:sup>
                        <m:r>
                          <a:rPr lang="en-US" i="1" dirty="0">
                            <a:latin typeface="Cambria Math" panose="02040503050406030204" pitchFamily="18" charset="0"/>
                          </a:rPr>
                          <m:t>𝑲𝑬𝑵</m:t>
                        </m:r>
                      </m:sup>
                    </m:sSup>
                  </m:oMath>
                </a14:m>
                <a:r>
                  <a:rPr lang="en-US" dirty="0"/>
                  <a:t>  full length of CDH1 and EMI1 </a:t>
                </a:r>
              </a:p>
              <a:p>
                <a:pPr marL="457200" indent="-457200">
                  <a:buAutoNum type="arabicPeriod"/>
                </a:pPr>
                <a:r>
                  <a:rPr lang="en-US" dirty="0"/>
                  <a:t>Prediction are fitted to density map and refined with COOT</a:t>
                </a:r>
              </a:p>
              <a:p>
                <a:endParaRPr lang="en-US" dirty="0"/>
              </a:p>
              <a:p>
                <a:pPr marL="457200" indent="-457200">
                  <a:buAutoNum type="arabicPeriod"/>
                </a:pPr>
                <a:endParaRPr lang="en-US" dirty="0"/>
              </a:p>
              <a:p>
                <a:pPr marL="457200" indent="-457200">
                  <a:buAutoNum type="arabicPeriod"/>
                </a:pPr>
                <a:endParaRPr lang="en-US" dirty="0"/>
              </a:p>
              <a:p>
                <a:pPr marL="457200" indent="-457200">
                  <a:buAutoNum type="arabicPeriod"/>
                </a:pPr>
                <a:endParaRPr lang="en-US" dirty="0"/>
              </a:p>
            </p:txBody>
          </p:sp>
        </mc:Choice>
        <mc:Fallback>
          <p:sp>
            <p:nvSpPr>
              <p:cNvPr id="3" name="Content Placeholder 2">
                <a:extLst>
                  <a:ext uri="{FF2B5EF4-FFF2-40B4-BE49-F238E27FC236}">
                    <a16:creationId xmlns:a16="http://schemas.microsoft.com/office/drawing/2014/main" id="{934E448B-F273-4675-EFB2-CBAE8D3A9C09}"/>
                  </a:ext>
                </a:extLst>
              </p:cNvPr>
              <p:cNvSpPr>
                <a:spLocks noGrp="1" noRot="1" noChangeAspect="1" noMove="1" noResize="1" noEditPoints="1" noAdjustHandles="1" noChangeArrowheads="1" noChangeShapeType="1" noTextEdit="1"/>
              </p:cNvSpPr>
              <p:nvPr>
                <p:ph sz="quarter" idx="10"/>
              </p:nvPr>
            </p:nvSpPr>
            <p:spPr>
              <a:blipFill>
                <a:blip r:embed="rId2"/>
                <a:stretch>
                  <a:fillRect l="-1671" t="-421"/>
                </a:stretch>
              </a:blipFill>
            </p:spPr>
            <p:txBody>
              <a:bodyPr/>
              <a:lstStyle/>
              <a:p>
                <a:r>
                  <a:rPr lang="en-US">
                    <a:noFill/>
                  </a:rPr>
                  <a:t> </a:t>
                </a:r>
              </a:p>
            </p:txBody>
          </p:sp>
        </mc:Fallback>
      </mc:AlternateContent>
    </p:spTree>
    <p:extLst>
      <p:ext uri="{BB962C8B-B14F-4D97-AF65-F5344CB8AC3E}">
        <p14:creationId xmlns:p14="http://schemas.microsoft.com/office/powerpoint/2010/main" val="3557605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45B46-64BE-A5EA-90A9-56594256C831}"/>
              </a:ext>
            </a:extLst>
          </p:cNvPr>
          <p:cNvSpPr>
            <a:spLocks noGrp="1"/>
          </p:cNvSpPr>
          <p:nvPr>
            <p:ph type="title"/>
          </p:nvPr>
        </p:nvSpPr>
        <p:spPr>
          <a:xfrm>
            <a:off x="874711" y="800100"/>
            <a:ext cx="11186169" cy="684213"/>
          </a:xfrm>
        </p:spPr>
        <p:txBody>
          <a:bodyPr/>
          <a:lstStyle/>
          <a:p>
            <a:pPr algn="ctr"/>
            <a:r>
              <a:rPr lang="en-US" dirty="0"/>
              <a:t>Validation : chemical and Functional Assays</a:t>
            </a:r>
          </a:p>
        </p:txBody>
      </p:sp>
      <p:sp>
        <p:nvSpPr>
          <p:cNvPr id="3" name="Content Placeholder 2">
            <a:extLst>
              <a:ext uri="{FF2B5EF4-FFF2-40B4-BE49-F238E27FC236}">
                <a16:creationId xmlns:a16="http://schemas.microsoft.com/office/drawing/2014/main" id="{1F9FB811-453A-FC9B-E96B-E09065AC46BC}"/>
              </a:ext>
            </a:extLst>
          </p:cNvPr>
          <p:cNvSpPr>
            <a:spLocks noGrp="1"/>
          </p:cNvSpPr>
          <p:nvPr>
            <p:ph sz="quarter" idx="10"/>
          </p:nvPr>
        </p:nvSpPr>
        <p:spPr/>
        <p:txBody>
          <a:bodyPr/>
          <a:lstStyle/>
          <a:p>
            <a:r>
              <a:rPr lang="en-US" dirty="0"/>
              <a:t>1. Phosphorylation</a:t>
            </a:r>
            <a:r>
              <a:rPr lang="en-US" b="0" dirty="0"/>
              <a:t>: </a:t>
            </a:r>
          </a:p>
          <a:p>
            <a:r>
              <a:rPr lang="en-US" dirty="0"/>
              <a:t>2. Ubiquitination</a:t>
            </a:r>
            <a:r>
              <a:rPr lang="en-US" b="0" dirty="0"/>
              <a:t>: </a:t>
            </a:r>
          </a:p>
          <a:p>
            <a:r>
              <a:rPr lang="en-US" dirty="0"/>
              <a:t>3. Proton-Induced X-ray Emission (PIXE)</a:t>
            </a:r>
          </a:p>
          <a:p>
            <a:r>
              <a:rPr lang="en-US" dirty="0"/>
              <a:t>4. SUMOylation</a:t>
            </a:r>
            <a:endParaRPr lang="en-US" b="0" dirty="0"/>
          </a:p>
          <a:p>
            <a:endParaRPr lang="en-US" b="0" dirty="0"/>
          </a:p>
          <a:p>
            <a:endParaRPr lang="en-US" b="0" dirty="0"/>
          </a:p>
        </p:txBody>
      </p:sp>
    </p:spTree>
    <p:extLst>
      <p:ext uri="{BB962C8B-B14F-4D97-AF65-F5344CB8AC3E}">
        <p14:creationId xmlns:p14="http://schemas.microsoft.com/office/powerpoint/2010/main" val="561821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F4EF-1978-BB82-273A-8409AC0646EB}"/>
              </a:ext>
            </a:extLst>
          </p:cNvPr>
          <p:cNvSpPr>
            <a:spLocks noGrp="1"/>
          </p:cNvSpPr>
          <p:nvPr>
            <p:ph type="title"/>
          </p:nvPr>
        </p:nvSpPr>
        <p:spPr/>
        <p:txBody>
          <a:bodyPr/>
          <a:lstStyle/>
          <a:p>
            <a:r>
              <a:rPr lang="en-US" dirty="0"/>
              <a:t>Discussion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1AADA92-D0D6-2BE7-339C-DFEADCEF95AF}"/>
                  </a:ext>
                </a:extLst>
              </p:cNvPr>
              <p:cNvSpPr>
                <a:spLocks noGrp="1"/>
              </p:cNvSpPr>
              <p:nvPr>
                <p:ph sz="quarter" idx="10"/>
              </p:nvPr>
            </p:nvSpPr>
            <p:spPr/>
            <p:txBody>
              <a:bodyPr/>
              <a:lstStyle/>
              <a:p>
                <a:pPr marL="457200" indent="-457200">
                  <a:buAutoNum type="arabicPeriod"/>
                </a:pPr>
                <a:r>
                  <a:rPr lang="en-US" dirty="0"/>
                  <a:t>Resolution Revolution:</a:t>
                </a:r>
                <a:r>
                  <a:rPr lang="en-US" b="0" dirty="0"/>
                  <a:t> Transition from 3.6 Å to </a:t>
                </a:r>
                <a:r>
                  <a:rPr lang="en-US" dirty="0"/>
                  <a:t>2.9 Å </a:t>
                </a:r>
                <a:r>
                  <a:rPr lang="en-US" b="0" dirty="0"/>
                  <a:t>resolution</a:t>
                </a:r>
              </a:p>
              <a:p>
                <a:pPr marL="457200" indent="-457200">
                  <a:buAutoNum type="arabicPeriod"/>
                </a:pPr>
                <a:r>
                  <a:rPr lang="en-US" dirty="0"/>
                  <a:t>New Structural Modules: </a:t>
                </a:r>
                <a14:m>
                  <m:oMath xmlns:m="http://schemas.openxmlformats.org/officeDocument/2006/math">
                    <m:sSup>
                      <m:sSupPr>
                        <m:ctrlPr>
                          <a:rPr lang="en-US" b="0" i="1">
                            <a:latin typeface="Cambria Math" panose="02040503050406030204" pitchFamily="18" charset="0"/>
                          </a:rPr>
                        </m:ctrlPr>
                      </m:sSupPr>
                      <m:e>
                        <m:r>
                          <m:rPr>
                            <m:nor/>
                          </m:rPr>
                          <a:rPr lang="en-US" b="0" i="1" dirty="0"/>
                          <m:t>APC</m:t>
                        </m:r>
                        <m:r>
                          <m:rPr>
                            <m:nor/>
                          </m:rPr>
                          <a:rPr lang="en-US" b="0" dirty="0"/>
                          <m:t>2</m:t>
                        </m:r>
                      </m:e>
                      <m:sup>
                        <m:r>
                          <a:rPr lang="en-US" b="0" i="1" dirty="0">
                            <a:latin typeface="Cambria Math" panose="02040503050406030204" pitchFamily="18" charset="0"/>
                          </a:rPr>
                          <m:t>𝑍𝐵𝑀</m:t>
                        </m:r>
                      </m:sup>
                    </m:sSup>
                  </m:oMath>
                </a14:m>
                <a:r>
                  <a:rPr lang="en-US" dirty="0"/>
                  <a:t>, </a:t>
                </a:r>
                <a14:m>
                  <m:oMath xmlns:m="http://schemas.openxmlformats.org/officeDocument/2006/math">
                    <m:sSup>
                      <m:sSupPr>
                        <m:ctrlPr>
                          <a:rPr lang="en-US" b="0" i="1">
                            <a:latin typeface="Cambria Math" panose="02040503050406030204" pitchFamily="18" charset="0"/>
                          </a:rPr>
                        </m:ctrlPr>
                      </m:sSupPr>
                      <m:e>
                        <m:r>
                          <m:rPr>
                            <m:nor/>
                          </m:rPr>
                          <a:rPr lang="en-US" b="0" i="1" dirty="0"/>
                          <m:t>APC</m:t>
                        </m:r>
                        <m:r>
                          <m:rPr>
                            <m:nor/>
                          </m:rPr>
                          <a:rPr lang="en-US" b="0" i="0" dirty="0" smtClean="0"/>
                          <m:t>6</m:t>
                        </m:r>
                      </m:e>
                      <m:sup>
                        <m:r>
                          <a:rPr lang="en-US" b="0" i="1" dirty="0" smtClean="0">
                            <a:latin typeface="Cambria Math" panose="02040503050406030204" pitchFamily="18" charset="0"/>
                          </a:rPr>
                          <m:t>𝐶𝑇</m:t>
                        </m:r>
                      </m:sup>
                    </m:sSup>
                    <m:r>
                      <a:rPr lang="en-US" b="0" i="1" dirty="0" smtClean="0">
                        <a:latin typeface="Cambria Math" panose="02040503050406030204" pitchFamily="18" charset="0"/>
                      </a:rPr>
                      <m:t>,</m:t>
                    </m:r>
                    <m:sSup>
                      <m:sSupPr>
                        <m:ctrlPr>
                          <a:rPr lang="en-US" b="0" i="1">
                            <a:latin typeface="Cambria Math" panose="02040503050406030204" pitchFamily="18" charset="0"/>
                          </a:rPr>
                        </m:ctrlPr>
                      </m:sSupPr>
                      <m:e>
                        <m:r>
                          <m:rPr>
                            <m:nor/>
                          </m:rPr>
                          <a:rPr lang="en-US" b="0" i="1" smtClean="0">
                            <a:latin typeface="Cambria Math" panose="02040503050406030204" pitchFamily="18" charset="0"/>
                          </a:rPr>
                          <m:t>CDH</m:t>
                        </m:r>
                        <m:r>
                          <m:rPr>
                            <m:nor/>
                          </m:rPr>
                          <a:rPr lang="en-US" b="0" i="1" smtClean="0">
                            <a:latin typeface="Cambria Math" panose="02040503050406030204" pitchFamily="18" charset="0"/>
                          </a:rPr>
                          <m:t>1</m:t>
                        </m:r>
                      </m:e>
                      <m:sup>
                        <m:r>
                          <a:rPr lang="en-US" b="0" i="1" dirty="0" smtClean="0">
                            <a:latin typeface="Cambria Math" panose="02040503050406030204" pitchFamily="18" charset="0"/>
                            <a:ea typeface="Cambria Math" panose="02040503050406030204" pitchFamily="18" charset="0"/>
                          </a:rPr>
                          <m:t>𝛼</m:t>
                        </m:r>
                        <m:r>
                          <a:rPr lang="en-US" b="0" i="1" dirty="0" smtClean="0">
                            <a:latin typeface="Cambria Math" panose="02040503050406030204" pitchFamily="18" charset="0"/>
                            <a:ea typeface="Cambria Math" panose="02040503050406030204" pitchFamily="18" charset="0"/>
                          </a:rPr>
                          <m:t>𝐼</m:t>
                        </m:r>
                      </m:sup>
                    </m:sSup>
                  </m:oMath>
                </a14:m>
                <a:r>
                  <a:rPr lang="en-US" b="0" dirty="0"/>
                  <a:t>helix, </a:t>
                </a:r>
              </a:p>
              <a:p>
                <a:pPr marL="457200" indent="-457200">
                  <a:buAutoNum type="arabicPeriod"/>
                </a:pPr>
                <a:r>
                  <a:rPr lang="en-US" dirty="0"/>
                  <a:t>Mechanistic Insight into Inhibition and activation</a:t>
                </a:r>
              </a:p>
              <a:p>
                <a:pPr marL="457200" indent="-457200">
                  <a:buAutoNum type="arabicPeriod"/>
                </a:pPr>
                <a:r>
                  <a:rPr lang="en-US" dirty="0"/>
                  <a:t>AlphaFold2 Integration</a:t>
                </a:r>
              </a:p>
              <a:p>
                <a:pPr marL="457200" indent="-457200">
                  <a:buAutoNum type="arabicPeriod"/>
                </a:pPr>
                <a:r>
                  <a:rPr lang="en-US" b="0" dirty="0"/>
                  <a:t>Better</a:t>
                </a:r>
                <a:r>
                  <a:rPr lang="en-US" dirty="0"/>
                  <a:t> Hardware (Titan </a:t>
                </a:r>
                <a:r>
                  <a:rPr lang="en-US" dirty="0" err="1"/>
                  <a:t>Krios</a:t>
                </a:r>
                <a:r>
                  <a:rPr lang="en-US" dirty="0"/>
                  <a:t> microscopes, Falcon detectors) </a:t>
                </a:r>
                <a:r>
                  <a:rPr lang="en-US" b="0" dirty="0"/>
                  <a:t>and </a:t>
                </a:r>
              </a:p>
              <a:p>
                <a:pPr marL="457200" indent="-457200">
                  <a:buAutoNum type="arabicPeriod"/>
                </a:pPr>
                <a:r>
                  <a:rPr lang="en-US" b="0" dirty="0"/>
                  <a:t>D</a:t>
                </a:r>
                <a:r>
                  <a:rPr lang="en-US" b="0"/>
                  <a:t>ata </a:t>
                </a:r>
                <a:r>
                  <a:rPr lang="en-US" b="0" dirty="0"/>
                  <a:t>processing </a:t>
                </a:r>
                <a:r>
                  <a:rPr lang="en-US" dirty="0"/>
                  <a:t>software</a:t>
                </a:r>
                <a:r>
                  <a:rPr lang="en-US" b="0" dirty="0"/>
                  <a:t> like </a:t>
                </a:r>
                <a:r>
                  <a:rPr lang="en-US" dirty="0"/>
                  <a:t>RELION</a:t>
                </a:r>
                <a:r>
                  <a:rPr lang="en-US" b="0" dirty="0"/>
                  <a:t> and </a:t>
                </a:r>
                <a:r>
                  <a:rPr lang="en-US" dirty="0" err="1"/>
                  <a:t>cryoSPARC</a:t>
                </a:r>
                <a:endParaRPr lang="en-US" b="0" dirty="0"/>
              </a:p>
            </p:txBody>
          </p:sp>
        </mc:Choice>
        <mc:Fallback>
          <p:sp>
            <p:nvSpPr>
              <p:cNvPr id="3" name="Content Placeholder 2">
                <a:extLst>
                  <a:ext uri="{FF2B5EF4-FFF2-40B4-BE49-F238E27FC236}">
                    <a16:creationId xmlns:a16="http://schemas.microsoft.com/office/drawing/2014/main" id="{E1AADA92-D0D6-2BE7-339C-DFEADCEF95AF}"/>
                  </a:ext>
                </a:extLst>
              </p:cNvPr>
              <p:cNvSpPr>
                <a:spLocks noGrp="1" noRot="1" noChangeAspect="1" noMove="1" noResize="1" noEditPoints="1" noAdjustHandles="1" noChangeArrowheads="1" noChangeShapeType="1" noTextEdit="1"/>
              </p:cNvSpPr>
              <p:nvPr>
                <p:ph sz="quarter" idx="10"/>
              </p:nvPr>
            </p:nvSpPr>
            <p:spPr>
              <a:blipFill>
                <a:blip r:embed="rId2"/>
                <a:stretch>
                  <a:fillRect l="-1671" t="-2805"/>
                </a:stretch>
              </a:blipFill>
            </p:spPr>
            <p:txBody>
              <a:bodyPr/>
              <a:lstStyle/>
              <a:p>
                <a:r>
                  <a:rPr lang="en-US">
                    <a:noFill/>
                  </a:rPr>
                  <a:t> </a:t>
                </a:r>
              </a:p>
            </p:txBody>
          </p:sp>
        </mc:Fallback>
      </mc:AlternateContent>
    </p:spTree>
    <p:extLst>
      <p:ext uri="{BB962C8B-B14F-4D97-AF65-F5344CB8AC3E}">
        <p14:creationId xmlns:p14="http://schemas.microsoft.com/office/powerpoint/2010/main" val="4126895064"/>
      </p:ext>
    </p:extLst>
  </p:cSld>
  <p:clrMapOvr>
    <a:masterClrMapping/>
  </p:clrMapOvr>
</p:sld>
</file>

<file path=ppt/theme/theme1.xml><?xml version="1.0" encoding="utf-8"?>
<a:theme xmlns:a="http://schemas.openxmlformats.org/drawingml/2006/main" name="TUD slide modified for CGV">
  <a:themeElements>
    <a:clrScheme name="TUD_2021-08_grün">
      <a:dk1>
        <a:srgbClr val="000000"/>
      </a:dk1>
      <a:lt1>
        <a:sysClr val="window" lastClr="FFFFFF"/>
      </a:lt1>
      <a:dk2>
        <a:srgbClr val="727277"/>
      </a:dk2>
      <a:lt2>
        <a:srgbClr val="FFFFFF"/>
      </a:lt2>
      <a:accent1>
        <a:srgbClr val="00305D"/>
      </a:accent1>
      <a:accent2>
        <a:srgbClr val="0069B4"/>
      </a:accent2>
      <a:accent3>
        <a:srgbClr val="009FE3"/>
      </a:accent3>
      <a:accent4>
        <a:srgbClr val="008244"/>
      </a:accent4>
      <a:accent5>
        <a:srgbClr val="65B32E"/>
      </a:accent5>
      <a:accent6>
        <a:srgbClr val="94C356"/>
      </a:accent6>
      <a:hlink>
        <a:srgbClr val="0069B4"/>
      </a:hlink>
      <a:folHlink>
        <a:srgbClr val="009FE3"/>
      </a:folHlink>
    </a:clrScheme>
    <a:fontScheme name="TUD_Open Sans">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oteonimcs presentation" id="{DC926FAC-4154-490F-990B-BF05727C109D}" vid="{3D727EF7-2516-4661-BD96-D4F2C6ECFD3F}"/>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1948</TotalTime>
  <Words>3147</Words>
  <Application>Microsoft Office PowerPoint</Application>
  <PresentationFormat>Widescreen</PresentationFormat>
  <Paragraphs>204</Paragraphs>
  <Slides>19</Slides>
  <Notes>11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19</vt:i4>
      </vt:variant>
    </vt:vector>
  </HeadingPairs>
  <TitlesOfParts>
    <vt:vector size="29" baseType="lpstr">
      <vt:lpstr>Open Sans</vt:lpstr>
      <vt:lpstr>Aptos Display</vt:lpstr>
      <vt:lpstr>Cambria Math</vt:lpstr>
      <vt:lpstr>Calibri</vt:lpstr>
      <vt:lpstr>Arial</vt:lpstr>
      <vt:lpstr>Aptos</vt:lpstr>
      <vt:lpstr>Wingdings</vt:lpstr>
      <vt:lpstr>Symbol</vt:lpstr>
      <vt:lpstr>TUD slide modified for CGV</vt:lpstr>
      <vt:lpstr>Custom Design</vt:lpstr>
      <vt:lpstr>Cryo-EM structures of apo- APC/C and APC/C and insight into thier regulation</vt:lpstr>
      <vt:lpstr>Overall structure of APC/C ternary complex and catalytic function</vt:lpstr>
      <vt:lpstr>Contribution</vt:lpstr>
      <vt:lpstr>What they used </vt:lpstr>
      <vt:lpstr>Some background: Cryo EM density</vt:lpstr>
      <vt:lpstr>Cryo-EM mapping </vt:lpstr>
      <vt:lpstr>unambiguous assignment of an α-helix to the N-terminus of CDH1</vt:lpstr>
      <vt:lpstr>unambiguous assignment of an α-helix to the N-terminus of CDH1</vt:lpstr>
      <vt:lpstr>Discovery of the Metazoan Zinc-Binding Module (〖"(APC2" 〗^ZBM)</vt:lpstr>
      <vt:lpstr>Extension of APC6 C terminus and intrinsically disordered region </vt:lpstr>
      <vt:lpstr>primary inhibitory mechanisms used by EMI1</vt:lpstr>
      <vt:lpstr>Discovery of a Conformational "Switch“: </vt:lpstr>
      <vt:lpstr>Cloning, Expression, and Purification  and Cryo-EM Data Collection</vt:lpstr>
      <vt:lpstr>Image Processing and 3D Reconstruction</vt:lpstr>
      <vt:lpstr>Initial Fitting of Existing Models </vt:lpstr>
      <vt:lpstr>Model Building</vt:lpstr>
      <vt:lpstr>AlphaFold Prediction</vt:lpstr>
      <vt:lpstr>Validation : chemical and Functional Assays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in large letters must not be longer than one line</dc:title>
  <dc:subject>Präsentationsvorlage</dc:subject>
  <dc:creator>Ludwig Schmutzler</dc:creator>
  <cp:lastModifiedBy>Hasin Ishrak</cp:lastModifiedBy>
  <cp:revision>76</cp:revision>
  <dcterms:created xsi:type="dcterms:W3CDTF">2022-04-11T11:50:45Z</dcterms:created>
  <dcterms:modified xsi:type="dcterms:W3CDTF">2026-01-08T21:47:57Z</dcterms:modified>
</cp:coreProperties>
</file>