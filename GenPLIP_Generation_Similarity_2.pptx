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0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GenPLIP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737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  <a:latin typeface="Calibri"/>
              </a:rPr>
              <a:t>Generation &amp; Similarity Scoring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8C4DC"/>
                </a:solidFill>
                <a:latin typeface="Calibri"/>
              </a:rPr>
              <a:t>How ChemBERTa fills masked SMILES to propose new drug-like molecules,
and how Tanimoto similarity measures novelty vs. the original ligand.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FCC"/>
                </a:solidFill>
                <a:latin typeface="Calibri"/>
              </a:rPr>
              <a:t>Stages 2 &amp; 3  |  BRD4 Drug Discovery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Stage 2 — Molecule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0292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789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1  Mask Atoms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53312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Interaction-aware (IA) indices from Stage 1 PLIP analysis are applied to the canonical SMILES — each selected atom replaced with &lt;mask&gt;.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0280"/>
            <a:ext cx="50292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2219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2  Feed to ChemBERTa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2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The masked SMILES string is tokenised and passed to ChemBERTa (seyonec/ChemBERTa-zinc-base-v1), a RoBERTa model pre-trained on 77 M ZINC SMILES for masked-language modelling.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383280"/>
            <a:ext cx="50292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3649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  <a:latin typeface="Calibri"/>
              </a:rPr>
              <a:t>3  Sample &amp; 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39312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Up to 500 candidates are drawn per (ligand × mask_count × strategy) cell. Each candidate is validated with RDKit — only chemically parseable SMILES are kept; duplicates are dropped.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914400"/>
            <a:ext cx="3474720" cy="329184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49240" y="914400"/>
            <a:ext cx="3474720" cy="41148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9326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Key 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INCREMENTAL_NUM_SAMPLES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417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500  samples per cell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18196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TOP_K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8196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20  tokens sampled from top-k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22219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TEMPERATURE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221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1.0  (flat softmax)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6243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Mask strategy 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243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IA indices — PLIP order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026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Mask strategy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0266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Random indices — Stage 1.5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Validity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429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RDKit Chem.MolFromSmiles()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GenPLIP  |  Stage 2: Incremental Molecule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How ChemBERTa Fills Masks — Sequential Token Sampling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1051560"/>
            <a:ext cx="960120" cy="7498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115568"/>
            <a:ext cx="960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Masked
SMILES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" y="1280160"/>
            <a:ext cx="155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1298448" y="1051560"/>
            <a:ext cx="960120" cy="7498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1115568"/>
            <a:ext cx="960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Tokenise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280160"/>
            <a:ext cx="155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95728" y="1051560"/>
            <a:ext cx="960120" cy="7498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8" y="1115568"/>
            <a:ext cx="960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Predict pos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1280160"/>
            <a:ext cx="155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1051560"/>
            <a:ext cx="960120" cy="7498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1115568"/>
            <a:ext cx="960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Sample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1280160"/>
            <a:ext cx="155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0288" y="1051560"/>
            <a:ext cx="960120" cy="7498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1115568"/>
            <a:ext cx="960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Predict pos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0408" y="1280160"/>
            <a:ext cx="155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87568" y="1051560"/>
            <a:ext cx="960120" cy="74980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87568" y="1115568"/>
            <a:ext cx="960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… 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1280160"/>
            <a:ext cx="155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1051560"/>
            <a:ext cx="960120" cy="7498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1115568"/>
            <a:ext cx="960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4968" y="1280160"/>
            <a:ext cx="155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8" y="1051560"/>
            <a:ext cx="960120" cy="7498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2128" y="1115568"/>
            <a:ext cx="960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RDKit
validate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057400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2057400"/>
            <a:ext cx="64008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21488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Left-to-Right Fill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2514600"/>
            <a:ext cx="2423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Masks are filled strictly left-to-right. Each filled token updates the input_ids tensor before the next mask position is predicted — so later predictions are conditioned on all earlier choices.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2057400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46120" y="2057400"/>
            <a:ext cx="64008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0712" y="21488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Top-K Nucleus Sampling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0712" y="2514600"/>
            <a:ext cx="2423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At each position, softmax probabilities are computed from raw logits ÷ temperature. Only the top-20 tokens are kept; probabilities are re-normalised, then one token is drawn with torch.multinomial.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057400"/>
            <a:ext cx="265176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2057400"/>
            <a:ext cx="64008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2148840"/>
            <a:ext cx="2423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Deduplication &amp; Saving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82512" y="2514600"/>
            <a:ext cx="24231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All num_samples runs share the same masked input. Unique valid SMILES are collected into a Python set, sorted, and written to pred_dir/&lt;ligand&gt;/ia_mask&lt;N&gt;.txt (IA) or rand_mask&lt;N&gt;.txt (random).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GenPLIP  |  generate_smiles_sequential() — stage2_molecule_generation.py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3 — Similarity Scoring with Tanimoto &amp; Morgan Fingerprints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144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Scoring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64008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SMILES → Morgan FP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82496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Each SMILES is converted to a Morgan fingerprint: radius = 2, 2048 bits. Uses RDKit's GetMorganGenerator — hashes circular atom neighbourhoods out to 2 bonds.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77440"/>
            <a:ext cx="64008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Tanimoto Coefficient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88336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Similarity = |A ∩ B| / |A ∪ B|  (intersection over union of set bits). Returns 0.0 (no overlap) to 1.0 (identical fingerprints). Computed via rdkit.DataStructs.TanimotoSimilarity.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383280"/>
            <a:ext cx="64008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Two Analysis Modes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94176"/>
            <a:ext cx="3840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Pairwise: every pair within the generated pool — measures internal diversity. Vs. Original: each generated molecule vs. the source ligand — measures novelty.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914400"/>
            <a:ext cx="4114800" cy="3520440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914400"/>
            <a:ext cx="411480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932688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Pairwise  vs.  Original — Compared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1417320"/>
            <a:ext cx="1371600" cy="320040"/>
          </a:xfrm>
          <a:prstGeom prst="rect">
            <a:avLst/>
          </a:prstGeom>
          <a:solidFill>
            <a:srgbClr val="D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417320"/>
            <a:ext cx="1371600" cy="320040"/>
          </a:xfrm>
          <a:prstGeom prst="rect">
            <a:avLst/>
          </a:prstGeom>
          <a:solidFill>
            <a:srgbClr val="D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1417320"/>
            <a:ext cx="1371600" cy="320040"/>
          </a:xfrm>
          <a:prstGeom prst="rect">
            <a:avLst/>
          </a:prstGeom>
          <a:solidFill>
            <a:srgbClr val="D0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14538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Aspect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14538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Pairwise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1453896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vs. Original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1737360"/>
            <a:ext cx="4114800" cy="530352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177393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Measures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77393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Diversity within
generated pool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43800" y="177393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Similarity to
source ligand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267712"/>
            <a:ext cx="41148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230428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Needs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30428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≥ 2 molecules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30428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Stage-1 SMILES
in meta.json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2798064"/>
            <a:ext cx="4114800" cy="530352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28346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28346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histogram_pairwise
.png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28346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histogram_vs_
original.png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3328416"/>
            <a:ext cx="41148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336499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Ideal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336499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Low mean = high
diversity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336499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0.3–0.7 = novel
but related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3858768"/>
            <a:ext cx="4114800" cy="530352"/>
          </a:xfrm>
          <a:prstGeom prst="rect">
            <a:avLst/>
          </a:prstGeom>
          <a:solidFill>
            <a:srgbClr val="F8F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00600" y="389534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5A82"/>
                </a:solidFill>
                <a:latin typeface="Calibri"/>
              </a:rPr>
              <a:t>Function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389534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pairwise_tanimoto
(smiles_list)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43800" y="389534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  <a:latin typeface="Calibri"/>
              </a:rPr>
              <a:t>vs_original_
tanimoto(...)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GenPLIP  |  Stage 3: Analysis — stage3_analysis.py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Putting 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CADCFC"/>
                </a:solidFill>
                <a:latin typeface="Calibri"/>
              </a:rPr>
              <a:t>Generation → Similarity → Drug Candidate Shortlist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2651760" cy="420624"/>
          </a:xfrm>
          <a:prstGeom prst="rect">
            <a:avLst/>
          </a:prstGeom>
          <a:solidFill>
            <a:srgbClr val="02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Stage 2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64592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Masked SMILES (PLIP IA or random) + ChemBERTa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30552"/>
            <a:ext cx="2651760" cy="420624"/>
          </a:xfrm>
          <a:prstGeom prst="rect">
            <a:avLst/>
          </a:prstGeom>
          <a:solidFill>
            <a:srgbClr val="02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7627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Stage 2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76272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Unique valid SMILES per (ligand × mask count × strategy)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60904"/>
            <a:ext cx="2651760" cy="420624"/>
          </a:xfrm>
          <a:prstGeom prst="rect">
            <a:avLst/>
          </a:prstGeom>
          <a:solidFill>
            <a:srgbClr val="02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706624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Stage 3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06624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Pool of all generated SMILES + original ligand SMILES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91256"/>
            <a:ext cx="2651760" cy="420624"/>
          </a:xfrm>
          <a:prstGeom prst="rect">
            <a:avLst/>
          </a:prstGeom>
          <a:solidFill>
            <a:srgbClr val="02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36976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Pairwise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36976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Low mean Tanimoto → diverse pool; high → redundant generation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21608"/>
            <a:ext cx="2651760" cy="420624"/>
          </a:xfrm>
          <a:prstGeom prst="rect">
            <a:avLst/>
          </a:prstGeom>
          <a:solidFill>
            <a:srgbClr val="02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67328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vs-Original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767328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0.3–0.7 is the sweet spot: novel but pharmacophore-related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51960"/>
            <a:ext cx="2651760" cy="420624"/>
          </a:xfrm>
          <a:prstGeom prst="rect">
            <a:avLst/>
          </a:prstGeom>
          <a:solidFill>
            <a:srgbClr val="02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97680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IA vs Random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29768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IA masking preserves interaction-site atoms; if IA &gt; Random in unique valid count, the interaction-guided approach adds chemical diversity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0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AFCC"/>
                </a:solidFill>
                <a:latin typeface="Calibri"/>
              </a:rPr>
              <a:t>GenPLIP  |  BRD4 Drug Discovery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